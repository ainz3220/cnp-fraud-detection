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0066" autoAdjust="0"/>
  </p:normalViewPr>
  <p:slideViewPr>
    <p:cSldViewPr snapToGrid="0">
      <p:cViewPr varScale="1">
        <p:scale>
          <a:sx n="97" d="100"/>
          <a:sy n="97" d="100"/>
        </p:scale>
        <p:origin x="269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LR</c:v>
          </c:tx>
          <c:spPr>
            <a:solidFill>
              <a:srgbClr val="A9B5C5"/>
            </a:solidFill>
          </c:spPr>
          <c:invertIfNegative val="1"/>
          <c:dLbls>
            <c:spPr>
              <a:noFill/>
              <a:ln>
                <a:noFill/>
              </a:ln>
            </c:spPr>
            <c:txPr>
              <a:bodyPr anchorCtr="1"/>
              <a:lstStyle/>
              <a:p>
                <a:pPr>
                  <a:defRPr sz="825" b="1">
                    <a:solidFill>
                      <a:srgbClr val="111827"/>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Precision</c:v>
              </c:pt>
              <c:pt idx="1">
                <c:v>Recall</c:v>
              </c:pt>
              <c:pt idx="2">
                <c:v>F1</c:v>
              </c:pt>
              <c:pt idx="3">
                <c:v>PR-AUC</c:v>
              </c:pt>
            </c:strLit>
          </c:cat>
          <c:val>
            <c:numLit>
              <c:formatCode>0%</c:formatCode>
              <c:ptCount val="4"/>
              <c:pt idx="0">
                <c:v>0.47810000000000002</c:v>
              </c:pt>
              <c:pt idx="1">
                <c:v>0.90280000000000005</c:v>
              </c:pt>
              <c:pt idx="2">
                <c:v>0.62519999999999998</c:v>
              </c:pt>
              <c:pt idx="3">
                <c:v>0.3836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1D-4684-9F63-05116D1F2563}"/>
            </c:ext>
          </c:extLst>
        </c:ser>
        <c:ser>
          <c:idx val="1"/>
          <c:order val="1"/>
          <c:tx>
            <c:v>RF</c:v>
          </c:tx>
          <c:spPr>
            <a:solidFill>
              <a:srgbClr val="6DCBF4"/>
            </a:solidFill>
          </c:spPr>
          <c:invertIfNegative val="1"/>
          <c:dLbls>
            <c:spPr>
              <a:noFill/>
              <a:ln>
                <a:noFill/>
              </a:ln>
            </c:spPr>
            <c:txPr>
              <a:bodyPr anchorCtr="1"/>
              <a:lstStyle/>
              <a:p>
                <a:pPr>
                  <a:defRPr sz="825" b="1">
                    <a:solidFill>
                      <a:srgbClr val="111827"/>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Precision</c:v>
              </c:pt>
              <c:pt idx="1">
                <c:v>Recall</c:v>
              </c:pt>
              <c:pt idx="2">
                <c:v>F1</c:v>
              </c:pt>
              <c:pt idx="3">
                <c:v>PR-AUC</c:v>
              </c:pt>
            </c:strLit>
          </c:cat>
          <c:val>
            <c:numLit>
              <c:formatCode>0%</c:formatCode>
              <c:ptCount val="4"/>
              <c:pt idx="0">
                <c:v>0.90310000000000001</c:v>
              </c:pt>
              <c:pt idx="1">
                <c:v>0.92290000000000005</c:v>
              </c:pt>
              <c:pt idx="2">
                <c:v>0.91290000000000004</c:v>
              </c:pt>
              <c:pt idx="3">
                <c:v>0.96230000000000004</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91D-4684-9F63-05116D1F2563}"/>
            </c:ext>
          </c:extLst>
        </c:ser>
        <c:ser>
          <c:idx val="2"/>
          <c:order val="2"/>
          <c:tx>
            <c:v>XGB</c:v>
          </c:tx>
          <c:spPr>
            <a:solidFill>
              <a:srgbClr val="3D8DFF"/>
            </a:solidFill>
          </c:spPr>
          <c:invertIfNegative val="1"/>
          <c:dLbls>
            <c:spPr>
              <a:noFill/>
              <a:ln>
                <a:noFill/>
              </a:ln>
            </c:spPr>
            <c:txPr>
              <a:bodyPr anchorCtr="1"/>
              <a:lstStyle/>
              <a:p>
                <a:pPr>
                  <a:defRPr sz="825" b="1">
                    <a:solidFill>
                      <a:srgbClr val="111827"/>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Precision</c:v>
              </c:pt>
              <c:pt idx="1">
                <c:v>Recall</c:v>
              </c:pt>
              <c:pt idx="2">
                <c:v>F1</c:v>
              </c:pt>
              <c:pt idx="3">
                <c:v>PR-AUC</c:v>
              </c:pt>
            </c:strLit>
          </c:cat>
          <c:val>
            <c:numLit>
              <c:formatCode>0%</c:formatCode>
              <c:ptCount val="4"/>
              <c:pt idx="0">
                <c:v>0.92630000000000001</c:v>
              </c:pt>
              <c:pt idx="1">
                <c:v>0.92290000000000005</c:v>
              </c:pt>
              <c:pt idx="2">
                <c:v>0.92459999999999998</c:v>
              </c:pt>
              <c:pt idx="3">
                <c:v>0.97599999999999998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791D-4684-9F63-05116D1F2563}"/>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AAB5C1"/>
            </a:solidFill>
            <a:prstDash val="solid"/>
          </a:ln>
        </c:spPr>
        <c:txPr>
          <a:bodyPr anchorCtr="1"/>
          <a:lstStyle/>
          <a:p>
            <a:pPr>
              <a:defRPr sz="1050">
                <a:solidFill>
                  <a:srgbClr val="111827"/>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6DDE5"/>
              </a:solidFill>
              <a:prstDash val="solid"/>
            </a:ln>
          </c:spPr>
        </c:majorGridlines>
        <c:numFmt formatCode="0%" sourceLinked="1"/>
        <c:majorTickMark val="none"/>
        <c:minorTickMark val="none"/>
        <c:tickLblPos val="nextTo"/>
        <c:spPr>
          <a:ln w="0">
            <a:solidFill>
              <a:srgbClr val="FFFFFF"/>
            </a:solidFill>
            <a:prstDash val="solid"/>
          </a:ln>
        </c:spPr>
        <c:txPr>
          <a:bodyPr anchorCtr="1"/>
          <a:lstStyle/>
          <a:p>
            <a:pPr>
              <a:defRPr sz="975">
                <a:solidFill>
                  <a:srgbClr val="536172"/>
                </a:solidFill>
                <a:latin typeface="Arial"/>
                <a:ea typeface="Arial"/>
                <a:cs typeface="Arial"/>
              </a:defRPr>
            </a:pPr>
            <a:endParaRPr lang="en-US"/>
          </a:p>
        </c:txPr>
        <c:crossAx val="48650112"/>
        <c:crosses val="autoZero"/>
        <c:crossBetween val="between"/>
        <c:majorUnit val="0.2"/>
      </c:valAx>
      <c:spPr>
        <a:noFill/>
        <a:ln w="0">
          <a:solidFill>
            <a:srgbClr val="FFFFFF"/>
          </a:solidFill>
          <a:prstDash val="solid"/>
        </a:ln>
      </c:spPr>
    </c:plotArea>
    <c:legend>
      <c:legendPos val="b"/>
      <c:overlay val="0"/>
      <c:txPr>
        <a:bodyPr anchorCtr="1"/>
        <a:lstStyle/>
        <a:p>
          <a:pPr>
            <a:defRPr sz="1125">
              <a:solidFill>
                <a:srgbClr val="536172"/>
              </a:solidFill>
            </a:defRPr>
          </a:pPr>
          <a:endParaRPr lang="en-US"/>
        </a:p>
      </c:txPr>
    </c:legend>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Open with the problem and the promise of the project: detect online card fraud, but keep the reasoning visible to an analyst. This presentation focuses on the method, the evidence, and what the Mauritius tests do and do not establish.</a:t>
            </a:r>
          </a:p>
          <a:p>
            <a:r>
              <a:rPr dirty="0"/>
              <a:t>[Bullet points]</a:t>
            </a:r>
          </a:p>
          <a:p>
            <a:r>
              <a:rPr dirty="0"/>
              <a:t>- Project goal: interpretable CNP fraud detection</a:t>
            </a:r>
          </a:p>
          <a:p>
            <a:r>
              <a:rPr dirty="0"/>
              <a:t>- Mauritius-</a:t>
            </a:r>
            <a:r>
              <a:rPr dirty="0" err="1"/>
              <a:t>contextualised</a:t>
            </a:r>
            <a:r>
              <a:rPr dirty="0"/>
              <a:t> evaluation</a:t>
            </a:r>
          </a:p>
          <a:p>
            <a:r>
              <a:rPr dirty="0"/>
              <a:t>- End-to-end path from data to analyst UI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key framing is the imbalance. In this filtered dataset, fraud is only 1.21 percent of transactions, or roughly one fraud case for every 81 legitimate transactions. That is why I use precision, recall, F1 and PR-AUC as the main evidence rather than accuracy alone. The project also addresses interpretability and contextual validity.</a:t>
            </a:r>
          </a:p>
          <a:p>
            <a:r>
              <a:rPr dirty="0"/>
              <a:t>[Bullet points]</a:t>
            </a:r>
          </a:p>
          <a:p>
            <a:r>
              <a:rPr dirty="0"/>
              <a:t>- Fraud is only 1.21% of 294,854 transactions</a:t>
            </a:r>
          </a:p>
          <a:p>
            <a:r>
              <a:rPr dirty="0"/>
              <a:t>- Accuracy can hide minority-class failures</a:t>
            </a:r>
          </a:p>
          <a:p>
            <a:r>
              <a:rPr dirty="0"/>
              <a:t>- Precision, recall, F1 and PR-AUC are </a:t>
            </a:r>
            <a:r>
              <a:rPr dirty="0" err="1"/>
              <a:t>prioritised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data was filtered before feature engineering to keep the task specifically about card-not-present transactions. The seven features deliberately describe </a:t>
            </a:r>
            <a:r>
              <a:rPr dirty="0" err="1"/>
              <a:t>behaviour</a:t>
            </a:r>
            <a:r>
              <a:rPr dirty="0"/>
              <a:t>: transaction amount, time of day, age, distance from home, category-relative amount z-score, category and gender. The chronological split is intended to mimic training on historical transactions and predicting future ones.</a:t>
            </a:r>
          </a:p>
          <a:p>
            <a:r>
              <a:rPr dirty="0"/>
              <a:t>[Bullet points]</a:t>
            </a:r>
          </a:p>
          <a:p>
            <a:r>
              <a:rPr dirty="0"/>
              <a:t>- Filtered data: 294,854 CNP transactions and 3,576 fraud cases</a:t>
            </a:r>
          </a:p>
          <a:p>
            <a:r>
              <a:rPr dirty="0"/>
              <a:t>- Named </a:t>
            </a:r>
            <a:r>
              <a:rPr dirty="0" err="1"/>
              <a:t>behavioural</a:t>
            </a:r>
            <a:r>
              <a:rPr dirty="0"/>
              <a:t> features keep the signal explainable</a:t>
            </a:r>
          </a:p>
          <a:p>
            <a:r>
              <a:rPr dirty="0"/>
              <a:t>- Chronological 60/20/20 split mirrors future prediction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model comparison is intentionally compact: logistic regression provides an interpretable baseline, random forest captures non-linear rules, and </a:t>
            </a:r>
            <a:r>
              <a:rPr dirty="0" err="1"/>
              <a:t>XGBoost</a:t>
            </a:r>
            <a:r>
              <a:rPr dirty="0"/>
              <a:t> provides a stronger boosted detector. The final pipeline uses native class weighting rather than synthetic oversampling after SMOTE caused poor </a:t>
            </a:r>
            <a:r>
              <a:rPr dirty="0" err="1"/>
              <a:t>generalisation</a:t>
            </a:r>
            <a:r>
              <a:rPr dirty="0"/>
              <a:t> on new examples. Thresholds and the three-tier verdict are applied after model scoring.</a:t>
            </a:r>
          </a:p>
          <a:p>
            <a:r>
              <a:rPr dirty="0"/>
              <a:t>[Bullet points]</a:t>
            </a:r>
          </a:p>
          <a:p>
            <a:r>
              <a:rPr dirty="0"/>
              <a:t>- Logistic regression is the interpretable baseline</a:t>
            </a:r>
          </a:p>
          <a:p>
            <a:r>
              <a:rPr dirty="0"/>
              <a:t>- Random Forest captures non-linear rules</a:t>
            </a:r>
          </a:p>
          <a:p>
            <a:r>
              <a:rPr dirty="0"/>
              <a:t>- </a:t>
            </a:r>
            <a:r>
              <a:rPr dirty="0" err="1"/>
              <a:t>XGBoost</a:t>
            </a:r>
            <a:r>
              <a:rPr dirty="0"/>
              <a:t> provides a stronger boosted detector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important result is not the small difference in accuracy. </a:t>
            </a:r>
            <a:r>
              <a:rPr dirty="0" err="1"/>
              <a:t>XGBoost</a:t>
            </a:r>
            <a:r>
              <a:rPr dirty="0"/>
              <a:t> reaches 92.63 percent precision, 92.29 percent recall, 92.46 percent F1 and 97.60 percent PR-AUC. Random Forest is close, with identical recall and slightly lower precision. Logistic regression still detects most fraud, but at a much higher false-positive cost. PR-AUC is the most meaningful summary here because it focuses on the minority class.</a:t>
            </a:r>
          </a:p>
          <a:p>
            <a:r>
              <a:rPr dirty="0"/>
              <a:t>[Bullet points]</a:t>
            </a:r>
          </a:p>
          <a:p>
            <a:r>
              <a:rPr dirty="0"/>
              <a:t>- </a:t>
            </a:r>
            <a:r>
              <a:rPr dirty="0" err="1"/>
              <a:t>XGBoost</a:t>
            </a:r>
            <a:r>
              <a:rPr dirty="0"/>
              <a:t> is strongest standalone: 92.63% precision</a:t>
            </a:r>
          </a:p>
          <a:p>
            <a:r>
              <a:rPr dirty="0"/>
              <a:t>- </a:t>
            </a:r>
            <a:r>
              <a:rPr dirty="0" err="1"/>
              <a:t>XGBoost</a:t>
            </a:r>
            <a:r>
              <a:rPr dirty="0"/>
              <a:t> reaches 92.29% recall and 97.60% PR-AUC</a:t>
            </a:r>
          </a:p>
          <a:p>
            <a:r>
              <a:rPr dirty="0"/>
              <a:t>- Random Forest is close with 91.29% F1 and 96.23% PR-AUC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reliability story of the system. SHAP shows which features push a transaction toward fraud or legitimacy, and the natural-language explanation makes that understandable to a non-technical analyst. In the extreme E3 benchmark, logistic regression produced a 100 percent fraud probability while the two tree models did not. The escalation rule therefore takes the most severe model verdict. This improves sensitivity, but it creates a precision cost: many blocked transactions still require human review.</a:t>
            </a:r>
          </a:p>
          <a:p>
            <a:r>
              <a:rPr dirty="0"/>
              <a:t>[Bullet points]</a:t>
            </a:r>
          </a:p>
          <a:p>
            <a:r>
              <a:rPr dirty="0"/>
              <a:t>- SHAP identifies fraud and legitimacy drivers</a:t>
            </a:r>
          </a:p>
          <a:p>
            <a:r>
              <a:rPr dirty="0"/>
              <a:t>- Natural-language explanations make the score reviewable</a:t>
            </a:r>
          </a:p>
          <a:p>
            <a:r>
              <a:rPr dirty="0"/>
              <a:t>- The most-severe verdict rule protects against a missed signal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model is packaged as a usable workflow rather than left as an offline experiment. Analysts can submit single or batch predictions, see the ensemble verdict and SHAP explanation, inspect history and confirmed labels can be added as a future retraining loop. The three MUR benchmarks are deliberately illustrative. E1 and E3 behave as intended; E2 exposes a shift after CNP filtering, and the SHAP layer helps diagnose it.</a:t>
            </a:r>
          </a:p>
          <a:p>
            <a:r>
              <a:rPr dirty="0"/>
              <a:t>[Bullet points]</a:t>
            </a:r>
          </a:p>
          <a:p>
            <a:r>
              <a:rPr dirty="0"/>
              <a:t>- Analysts can run single, batch and historical predictions</a:t>
            </a:r>
          </a:p>
          <a:p>
            <a:r>
              <a:rPr dirty="0"/>
              <a:t>- </a:t>
            </a:r>
            <a:r>
              <a:rPr dirty="0" err="1"/>
              <a:t>FastAPI</a:t>
            </a:r>
            <a:r>
              <a:rPr dirty="0"/>
              <a:t> connects the React UI to models and SQLite history</a:t>
            </a:r>
          </a:p>
          <a:p>
            <a:r>
              <a:rPr dirty="0"/>
              <a:t>- E1 and E3 matched intent; E2 changed after CNP filtering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Close with the balanced claim. The project contributes an interpretable feature pipeline, model comparison, SHAP explanations, an escalation rule and a working analyst-facing application. It does not yet establish statistical </a:t>
            </a:r>
            <a:r>
              <a:rPr dirty="0" err="1"/>
              <a:t>generalisation</a:t>
            </a:r>
            <a:r>
              <a:rPr dirty="0"/>
              <a:t> to Mauritius because the local test set contains only three manually constructed transactions. The clearest next steps are real local data, transaction velocity features and threshold calibration on a held-out partition. Then invite questions.</a:t>
            </a:r>
          </a:p>
          <a:p>
            <a:r>
              <a:rPr dirty="0"/>
              <a:t>[Bullet points]</a:t>
            </a:r>
          </a:p>
          <a:p>
            <a:r>
              <a:rPr dirty="0"/>
              <a:t>- Contributions: interpretable features, SHAP, escalation and a deployed app</a:t>
            </a:r>
          </a:p>
          <a:p>
            <a:r>
              <a:rPr dirty="0"/>
              <a:t>- Main limitation: US-simulated data and three hand-made MUR benchmarks</a:t>
            </a:r>
          </a:p>
          <a:p>
            <a:r>
              <a:rPr dirty="0"/>
              <a:t>- Next: local data, velocity features and held-out threshold calibration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this slide to connect the research method to the prototype. A transaction is not just scored: it is transformed into named </a:t>
            </a:r>
            <a:r>
              <a:rPr dirty="0" err="1"/>
              <a:t>behavioural</a:t>
            </a:r>
            <a:r>
              <a:rPr dirty="0"/>
              <a:t> features, scored by three models, explained, and then routed into a human-readable verdict.</a:t>
            </a:r>
          </a:p>
          <a:p>
            <a:r>
              <a:rPr dirty="0"/>
              <a:t>[Bullet points]</a:t>
            </a:r>
          </a:p>
          <a:p>
            <a:r>
              <a:rPr dirty="0"/>
              <a:t>- Capture raw transaction attributes and context</a:t>
            </a:r>
          </a:p>
          <a:p>
            <a:r>
              <a:rPr dirty="0"/>
              <a:t>- Engineer four derived </a:t>
            </a:r>
            <a:r>
              <a:rPr dirty="0" err="1"/>
              <a:t>behavioural</a:t>
            </a:r>
            <a:r>
              <a:rPr dirty="0"/>
              <a:t> features</a:t>
            </a:r>
          </a:p>
          <a:p>
            <a:r>
              <a:rPr dirty="0"/>
              <a:t>- Score with LR, RF and XGB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concise conclusion. The model question is answered positively, the interpretability question is answered through SHAP and escalation, and the Mauritius question remains preliminary. Finish by stating exactly what the project demonstrates and what future data is required.</a:t>
            </a:r>
          </a:p>
          <a:p>
            <a:r>
              <a:rPr dirty="0"/>
              <a:t>[Bullet points]</a:t>
            </a:r>
          </a:p>
          <a:p>
            <a:r>
              <a:rPr dirty="0"/>
              <a:t>- RQ1: supervised learning detects fraud despite severe imbalance</a:t>
            </a:r>
          </a:p>
          <a:p>
            <a:r>
              <a:rPr dirty="0"/>
              <a:t>- RQ2: SHAP and escalation make decisions more reviewable</a:t>
            </a:r>
          </a:p>
          <a:p>
            <a:r>
              <a:rPr dirty="0"/>
              <a:t>- RQ3: Mauritius </a:t>
            </a:r>
            <a:r>
              <a:rPr dirty="0" err="1"/>
              <a:t>generalisation</a:t>
            </a:r>
            <a:r>
              <a:rPr dirty="0"/>
              <a:t> is promising but preliminary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[Bullet points]</a:t>
            </a:r>
          </a:p>
          <a:p>
            <a:r>
              <a:rPr dirty="0"/>
              <a:t>- Thank the audience</a:t>
            </a:r>
          </a:p>
          <a:p>
            <a:r>
              <a:rPr dirty="0"/>
              <a:t>- Invite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ule">
            <a:extLst>
              <a:ext uri="{FF2B5EF4-FFF2-40B4-BE49-F238E27FC236}">
                <a16:creationId xmlns:a16="http://schemas.microsoft.com/office/drawing/2014/main" id="{3AE31D9C-27B7-420E-8562-091DD0AF8E64}"/>
              </a:ext>
            </a:extLst>
          </p:cNvPr>
          <p:cNvSpPr>
            <a:spLocks noGrp="1"/>
          </p:cNvSpPr>
          <p:nvPr/>
        </p:nvSpPr>
        <p:spPr>
          <a:xfrm>
            <a:off x="533400" y="266700"/>
            <a:ext cx="11125200" cy="19050"/>
          </a:xfrm>
          <a:prstGeom prst="rect">
            <a:avLst/>
          </a:prstGeom>
          <a:solidFill>
            <a:srgbClr val="3D8DFF"/>
          </a:solidFill>
          <a:ln w="0">
            <a:noFill/>
            <a:prstDash val="solid"/>
          </a:ln>
        </p:spPr>
      </p:sp>
      <p:sp>
        <p:nvSpPr>
          <p:cNvPr id="2" name="institution">
            <a:extLst>
              <a:ext uri="{FF2B5EF4-FFF2-40B4-BE49-F238E27FC236}">
                <a16:creationId xmlns:a16="http://schemas.microsoft.com/office/drawing/2014/main" id="{0879AD86-A1B3-480A-B53C-3547A07D3DB7}"/>
              </a:ext>
            </a:extLst>
          </p:cNvPr>
          <p:cNvSpPr>
            <a:spLocks noGrp="1"/>
          </p:cNvSpPr>
          <p:nvPr/>
        </p:nvSpPr>
        <p:spPr>
          <a:xfrm>
            <a:off x="533400" y="438150"/>
            <a:ext cx="4953000" cy="228600"/>
          </a:xfrm>
          <a:prstGeom prst="rect">
            <a:avLst/>
          </a:prstGeom>
          <a:noFill/>
          <a:ln w="0">
            <a:noFill/>
            <a:prstDash val="solid"/>
          </a:ln>
        </p:spPr>
        <p:txBody>
          <a:bodyPr wrap="square" lIns="0" tIns="0" rIns="0" bIns="0" anchor="t">
            <a:noAutofit/>
          </a:bodyPr>
          <a:lstStyle/>
          <a:p>
            <a:pPr algn="l">
              <a:buNone/>
              <a:defRPr sz="975" b="1" i="0">
                <a:solidFill>
                  <a:srgbClr val="8190A0"/>
                </a:solidFill>
                <a:latin typeface="Arial"/>
                <a:ea typeface="Arial"/>
                <a:cs typeface="Arial"/>
              </a:defRPr>
            </a:pPr>
            <a:r>
              <a:rPr sz="975" b="1" i="0">
                <a:solidFill>
                  <a:srgbClr val="8190A0"/>
                </a:solidFill>
                <a:latin typeface="Arial"/>
                <a:ea typeface="Arial"/>
                <a:cs typeface="Arial"/>
              </a:rPr>
              <a:t>UNIVERSITY OF TECHNOLOGY, MAURITIUS</a:t>
            </a:r>
          </a:p>
        </p:txBody>
      </p:sp>
      <p:sp>
        <p:nvSpPr>
          <p:cNvPr id="3" name="cover-title">
            <a:extLst>
              <a:ext uri="{FF2B5EF4-FFF2-40B4-BE49-F238E27FC236}">
                <a16:creationId xmlns:a16="http://schemas.microsoft.com/office/drawing/2014/main" id="{EF430AFC-2AD1-4A20-9C0F-DCCBB043319E}"/>
              </a:ext>
            </a:extLst>
          </p:cNvPr>
          <p:cNvSpPr>
            <a:spLocks noGrp="1"/>
          </p:cNvSpPr>
          <p:nvPr/>
        </p:nvSpPr>
        <p:spPr>
          <a:xfrm>
            <a:off x="533400" y="1828800"/>
            <a:ext cx="5334000" cy="1238250"/>
          </a:xfrm>
          <a:prstGeom prst="rect">
            <a:avLst/>
          </a:prstGeom>
          <a:noFill/>
          <a:ln w="0">
            <a:noFill/>
            <a:prstDash val="solid"/>
          </a:ln>
        </p:spPr>
        <p:txBody>
          <a:bodyPr wrap="square" lIns="0" tIns="0" rIns="0" bIns="0" anchor="t">
            <a:noAutofit/>
          </a:bodyPr>
          <a:lstStyle/>
          <a:p>
            <a:pPr algn="l">
              <a:buNone/>
              <a:defRPr sz="3900" b="1" i="0">
                <a:solidFill>
                  <a:srgbClr val="111827"/>
                </a:solidFill>
                <a:latin typeface="Arial"/>
                <a:ea typeface="Arial"/>
                <a:cs typeface="Arial"/>
              </a:defRPr>
            </a:pPr>
            <a:r>
              <a:rPr sz="3900" b="1" i="0">
                <a:solidFill>
                  <a:srgbClr val="111827"/>
                </a:solidFill>
                <a:latin typeface="Arial"/>
                <a:ea typeface="Arial"/>
                <a:cs typeface="Arial"/>
              </a:rPr>
              <a:t>Interpretable ML for</a:t>
            </a:r>
          </a:p>
          <a:p>
            <a:pPr algn="l">
              <a:buNone/>
              <a:defRPr sz="3900" b="1" i="0">
                <a:solidFill>
                  <a:srgbClr val="111827"/>
                </a:solidFill>
                <a:latin typeface="Arial"/>
                <a:ea typeface="Arial"/>
                <a:cs typeface="Arial"/>
              </a:defRPr>
            </a:pPr>
            <a:r>
              <a:rPr sz="3900" b="1" i="0">
                <a:solidFill>
                  <a:srgbClr val="111827"/>
                </a:solidFill>
                <a:latin typeface="Arial"/>
                <a:ea typeface="Arial"/>
                <a:cs typeface="Arial"/>
              </a:rPr>
              <a:t>CNP fraud detection</a:t>
            </a:r>
          </a:p>
        </p:txBody>
      </p:sp>
      <p:sp>
        <p:nvSpPr>
          <p:cNvPr id="4" name="cover-subtitle">
            <a:extLst>
              <a:ext uri="{FF2B5EF4-FFF2-40B4-BE49-F238E27FC236}">
                <a16:creationId xmlns:a16="http://schemas.microsoft.com/office/drawing/2014/main" id="{647C5749-D73D-44B7-A515-144CA3A4BA7F}"/>
              </a:ext>
            </a:extLst>
          </p:cNvPr>
          <p:cNvSpPr>
            <a:spLocks noGrp="1"/>
          </p:cNvSpPr>
          <p:nvPr/>
        </p:nvSpPr>
        <p:spPr>
          <a:xfrm>
            <a:off x="533400" y="3486150"/>
            <a:ext cx="5334000" cy="628650"/>
          </a:xfrm>
          <a:prstGeom prst="rect">
            <a:avLst/>
          </a:prstGeom>
          <a:noFill/>
          <a:ln w="0">
            <a:noFill/>
            <a:prstDash val="solid"/>
          </a:ln>
        </p:spPr>
        <p:txBody>
          <a:bodyPr wrap="square" lIns="0" tIns="0" rIns="0" bIns="0" anchor="t">
            <a:noAutofit/>
          </a:bodyPr>
          <a:lstStyle/>
          <a:p>
            <a:pPr algn="l">
              <a:buNone/>
              <a:defRPr sz="1650" b="0" i="0">
                <a:solidFill>
                  <a:srgbClr val="536172"/>
                </a:solidFill>
                <a:latin typeface="Arial"/>
                <a:ea typeface="Arial"/>
                <a:cs typeface="Arial"/>
              </a:defRPr>
            </a:pPr>
            <a:r>
              <a:rPr sz="1650" b="0" i="0" dirty="0">
                <a:solidFill>
                  <a:srgbClr val="536172"/>
                </a:solidFill>
                <a:latin typeface="Arial"/>
                <a:ea typeface="Arial"/>
                <a:cs typeface="Arial"/>
              </a:rPr>
              <a:t>Card-Not-Present e-commerce fraud</a:t>
            </a:r>
          </a:p>
        </p:txBody>
      </p:sp>
      <p:sp>
        <p:nvSpPr>
          <p:cNvPr id="5" name="cover-presenter">
            <a:extLst>
              <a:ext uri="{FF2B5EF4-FFF2-40B4-BE49-F238E27FC236}">
                <a16:creationId xmlns:a16="http://schemas.microsoft.com/office/drawing/2014/main" id="{25B3137E-B46F-470E-876D-22CB18E6FC40}"/>
              </a:ext>
            </a:extLst>
          </p:cNvPr>
          <p:cNvSpPr>
            <a:spLocks noGrp="1"/>
          </p:cNvSpPr>
          <p:nvPr/>
        </p:nvSpPr>
        <p:spPr>
          <a:xfrm>
            <a:off x="533400" y="5010150"/>
            <a:ext cx="5143500" cy="914400"/>
          </a:xfrm>
          <a:prstGeom prst="rect">
            <a:avLst/>
          </a:prstGeom>
          <a:noFill/>
          <a:ln w="0">
            <a:noFill/>
            <a:prstDash val="solid"/>
          </a:ln>
        </p:spPr>
        <p:txBody>
          <a:bodyPr wrap="square" lIns="0" tIns="0" rIns="0" bIns="0" anchor="t">
            <a:noAutofit/>
          </a:bodyPr>
          <a:lstStyle/>
          <a:p>
            <a:pPr algn="l">
              <a:buNone/>
              <a:defRPr sz="1275" b="0" i="0">
                <a:solidFill>
                  <a:srgbClr val="111827"/>
                </a:solidFill>
                <a:latin typeface="Arial"/>
                <a:ea typeface="Arial"/>
                <a:cs typeface="Arial"/>
              </a:defRPr>
            </a:pPr>
            <a:r>
              <a:rPr sz="1275" b="0" i="0">
                <a:solidFill>
                  <a:srgbClr val="111827"/>
                </a:solidFill>
                <a:latin typeface="Arial"/>
                <a:ea typeface="Arial"/>
                <a:cs typeface="Arial"/>
              </a:rPr>
              <a:t>ALLY HOSSEN Muhammad Ismael</a:t>
            </a:r>
          </a:p>
          <a:p>
            <a:pPr algn="l">
              <a:buNone/>
              <a:defRPr sz="1275" b="0" i="0">
                <a:solidFill>
                  <a:srgbClr val="111827"/>
                </a:solidFill>
                <a:latin typeface="Arial"/>
                <a:ea typeface="Arial"/>
                <a:cs typeface="Arial"/>
              </a:defRPr>
            </a:pPr>
            <a:r>
              <a:rPr sz="1275" b="0" i="0">
                <a:solidFill>
                  <a:srgbClr val="111827"/>
                </a:solidFill>
                <a:latin typeface="Arial"/>
                <a:ea typeface="Arial"/>
                <a:cs typeface="Arial"/>
              </a:rPr>
              <a:t>MSc Artificial Intelligence with Machine Learning</a:t>
            </a:r>
          </a:p>
          <a:p>
            <a:pPr algn="l">
              <a:buNone/>
              <a:defRPr sz="1275" b="0" i="0">
                <a:solidFill>
                  <a:srgbClr val="111827"/>
                </a:solidFill>
                <a:latin typeface="Arial"/>
                <a:ea typeface="Arial"/>
                <a:cs typeface="Arial"/>
              </a:defRPr>
            </a:pPr>
            <a:r>
              <a:rPr sz="1275" b="0" i="0">
                <a:solidFill>
                  <a:srgbClr val="111827"/>
                </a:solidFill>
                <a:latin typeface="Arial"/>
                <a:ea typeface="Arial"/>
                <a:cs typeface="Arial"/>
              </a:rPr>
              <a:t>Supervisor: Dr. Panchoo Shireen</a:t>
            </a:r>
          </a:p>
        </p:txBody>
      </p:sp>
      <p:sp>
        <p:nvSpPr>
          <p:cNvPr id="6" name="deployed-system-architecture-backing">
            <a:extLst>
              <a:ext uri="{FF2B5EF4-FFF2-40B4-BE49-F238E27FC236}">
                <a16:creationId xmlns:a16="http://schemas.microsoft.com/office/drawing/2014/main" id="{632400D0-18F8-4454-9392-54F98269A5B2}"/>
              </a:ext>
            </a:extLst>
          </p:cNvPr>
          <p:cNvSpPr>
            <a:spLocks noGrp="1"/>
          </p:cNvSpPr>
          <p:nvPr/>
        </p:nvSpPr>
        <p:spPr>
          <a:xfrm>
            <a:off x="6496050" y="800100"/>
            <a:ext cx="4972050" cy="4591050"/>
          </a:xfrm>
          <a:prstGeom prst="roundRect">
            <a:avLst>
              <a:gd name="adj" fmla="val 2490"/>
            </a:avLst>
          </a:prstGeom>
          <a:solidFill>
            <a:srgbClr val="EAF5FB"/>
          </a:solidFill>
          <a:ln w="9525">
            <a:solidFill>
              <a:srgbClr val="AAB5C1"/>
            </a:solidFill>
            <a:prstDash val="solid"/>
          </a:ln>
        </p:spPr>
      </p:sp>
      <p:pic>
        <p:nvPicPr>
          <p:cNvPr id="41" name="Picture 16"/>
          <p:cNvPicPr>
            <a:picLocks noChangeAspect="1"/>
          </p:cNvPicPr>
          <p:nvPr/>
        </p:nvPicPr>
        <p:blipFill>
          <a:blip r:embed="rId3"/>
          <a:stretch/>
        </p:blipFill>
        <p:spPr>
          <a:xfrm>
            <a:off x="6553200" y="1330896"/>
            <a:ext cx="4857750" cy="3529459"/>
          </a:xfrm>
          <a:prstGeom prst="roundRect">
            <a:avLst>
              <a:gd name="adj" fmla="val 1702"/>
            </a:avLst>
          </a:prstGeom>
        </p:spPr>
      </p:pic>
      <p:sp>
        <p:nvSpPr>
          <p:cNvPr id="8" name="date">
            <a:extLst>
              <a:ext uri="{FF2B5EF4-FFF2-40B4-BE49-F238E27FC236}">
                <a16:creationId xmlns:a16="http://schemas.microsoft.com/office/drawing/2014/main" id="{AA748008-66F8-42C0-8A00-A9B900A1801B}"/>
              </a:ext>
            </a:extLst>
          </p:cNvPr>
          <p:cNvSpPr>
            <a:spLocks noGrp="1"/>
          </p:cNvSpPr>
          <p:nvPr/>
        </p:nvSpPr>
        <p:spPr>
          <a:xfrm>
            <a:off x="533400" y="6286500"/>
            <a:ext cx="1905000" cy="228600"/>
          </a:xfrm>
          <a:prstGeom prst="rect">
            <a:avLst/>
          </a:prstGeom>
          <a:noFill/>
          <a:ln w="0">
            <a:noFill/>
            <a:prstDash val="solid"/>
          </a:ln>
        </p:spPr>
        <p:txBody>
          <a:bodyPr wrap="square" lIns="0" tIns="0" rIns="0" bIns="0" anchor="t">
            <a:noAutofit/>
          </a:bodyPr>
          <a:lstStyle/>
          <a:p>
            <a:pPr algn="l">
              <a:buNone/>
              <a:defRPr sz="1050" b="0" i="0">
                <a:solidFill>
                  <a:srgbClr val="8190A0"/>
                </a:solidFill>
                <a:latin typeface="Arial"/>
                <a:ea typeface="Arial"/>
                <a:cs typeface="Arial"/>
              </a:defRPr>
            </a:pPr>
            <a:r>
              <a:rPr sz="1050" b="0" i="0">
                <a:solidFill>
                  <a:srgbClr val="8190A0"/>
                </a:solidFill>
                <a:latin typeface="Arial"/>
                <a:ea typeface="Arial"/>
                <a:cs typeface="Arial"/>
              </a:rPr>
              <a:t>July 2026</a:t>
            </a:r>
          </a:p>
        </p:txBody>
      </p:sp>
      <p:sp>
        <p:nvSpPr>
          <p:cNvPr id="11" name="polish-cover-rail">
            <a:extLst>
              <a:ext uri="{FF2B5EF4-FFF2-40B4-BE49-F238E27FC236}">
                <a16:creationId xmlns:a16="http://schemas.microsoft.com/office/drawing/2014/main" id="{3C10AFED-F653-49DD-A452-2E57C878AE60}"/>
              </a:ext>
            </a:extLst>
          </p:cNvPr>
          <p:cNvSpPr>
            <a:spLocks noGrp="1"/>
          </p:cNvSpPr>
          <p:nvPr/>
        </p:nvSpPr>
        <p:spPr>
          <a:xfrm>
            <a:off x="323850" y="2133600"/>
            <a:ext cx="57150" cy="1352550"/>
          </a:xfrm>
          <a:prstGeom prst="roundRect">
            <a:avLst>
              <a:gd name="adj" fmla="val 50000"/>
            </a:avLst>
          </a:prstGeom>
          <a:solidFill>
            <a:srgbClr val="3D8DFF"/>
          </a:solidFill>
          <a:ln w="0">
            <a:noFill/>
            <a:prstDash val="solid"/>
          </a:ln>
        </p:spPr>
      </p:sp>
      <p:sp>
        <p:nvSpPr>
          <p:cNvPr id="12" name="polish-cover-label">
            <a:extLst>
              <a:ext uri="{FF2B5EF4-FFF2-40B4-BE49-F238E27FC236}">
                <a16:creationId xmlns:a16="http://schemas.microsoft.com/office/drawing/2014/main" id="{E466AB78-246E-4B61-96E7-3DB31CB022E9}"/>
              </a:ext>
            </a:extLst>
          </p:cNvPr>
          <p:cNvSpPr>
            <a:spLocks noGrp="1"/>
          </p:cNvSpPr>
          <p:nvPr/>
        </p:nvSpPr>
        <p:spPr>
          <a:xfrm>
            <a:off x="9715500" y="419100"/>
            <a:ext cx="1943100" cy="266700"/>
          </a:xfrm>
          <a:prstGeom prst="roundRect">
            <a:avLst>
              <a:gd name="adj" fmla="val 28571"/>
            </a:avLst>
          </a:prstGeom>
          <a:solidFill>
            <a:srgbClr val="EAF5FB"/>
          </a:solidFill>
          <a:ln w="9525">
            <a:solidFill>
              <a:srgbClr val="D6DDE5"/>
            </a:solidFill>
            <a:prstDash val="solid"/>
          </a:ln>
        </p:spPr>
      </p:sp>
      <p:sp>
        <p:nvSpPr>
          <p:cNvPr id="13" name="polish-cover-label-text">
            <a:extLst>
              <a:ext uri="{FF2B5EF4-FFF2-40B4-BE49-F238E27FC236}">
                <a16:creationId xmlns:a16="http://schemas.microsoft.com/office/drawing/2014/main" id="{C402F150-9C22-415B-891A-620A231D09A3}"/>
              </a:ext>
            </a:extLst>
          </p:cNvPr>
          <p:cNvSpPr>
            <a:spLocks noGrp="1"/>
          </p:cNvSpPr>
          <p:nvPr/>
        </p:nvSpPr>
        <p:spPr>
          <a:xfrm>
            <a:off x="9829800" y="476250"/>
            <a:ext cx="1714500" cy="152400"/>
          </a:xfrm>
          <a:prstGeom prst="rect">
            <a:avLst/>
          </a:prstGeom>
          <a:noFill/>
          <a:ln w="0">
            <a:noFill/>
            <a:prstDash val="solid"/>
          </a:ln>
        </p:spPr>
        <p:txBody>
          <a:bodyPr wrap="square" lIns="0" tIns="0" rIns="0" bIns="0" anchor="t">
            <a:noAutofit/>
          </a:bodyPr>
          <a:lstStyle/>
          <a:p>
            <a:pPr algn="ctr">
              <a:buNone/>
              <a:defRPr sz="825" b="1" i="0">
                <a:solidFill>
                  <a:srgbClr val="3D8DFF"/>
                </a:solidFill>
                <a:latin typeface="Arial"/>
                <a:ea typeface="Arial"/>
                <a:cs typeface="Arial"/>
              </a:defRPr>
            </a:pPr>
            <a:r>
              <a:rPr sz="825" b="1" i="0">
                <a:solidFill>
                  <a:srgbClr val="3D8DFF"/>
                </a:solidFill>
                <a:latin typeface="Arial"/>
                <a:ea typeface="Arial"/>
                <a:cs typeface="Arial"/>
              </a:rPr>
              <a:t>DISSERTATION PRESENTATION</a:t>
            </a:r>
          </a:p>
        </p:txBody>
      </p:sp>
      <p:sp>
        <p:nvSpPr>
          <p:cNvPr id="14" name="polish-theme-dot-1">
            <a:extLst>
              <a:ext uri="{FF2B5EF4-FFF2-40B4-BE49-F238E27FC236}">
                <a16:creationId xmlns:a16="http://schemas.microsoft.com/office/drawing/2014/main" id="{529CF981-C175-4B0D-B82A-40606A3A99EB}"/>
              </a:ext>
            </a:extLst>
          </p:cNvPr>
          <p:cNvSpPr>
            <a:spLocks noGrp="1"/>
          </p:cNvSpPr>
          <p:nvPr/>
        </p:nvSpPr>
        <p:spPr>
          <a:xfrm>
            <a:off x="533400" y="4057650"/>
            <a:ext cx="85725" cy="85725"/>
          </a:xfrm>
          <a:prstGeom prst="ellipse">
            <a:avLst/>
          </a:prstGeom>
          <a:solidFill>
            <a:srgbClr val="3D8DFF"/>
          </a:solidFill>
          <a:ln w="0">
            <a:noFill/>
            <a:prstDash val="solid"/>
          </a:ln>
        </p:spPr>
      </p:sp>
      <p:sp>
        <p:nvSpPr>
          <p:cNvPr id="15" name="polish-theme-label-1">
            <a:extLst>
              <a:ext uri="{FF2B5EF4-FFF2-40B4-BE49-F238E27FC236}">
                <a16:creationId xmlns:a16="http://schemas.microsoft.com/office/drawing/2014/main" id="{359BAFF2-4BD3-4789-9398-1587C3C5973B}"/>
              </a:ext>
            </a:extLst>
          </p:cNvPr>
          <p:cNvSpPr>
            <a:spLocks noGrp="1"/>
          </p:cNvSpPr>
          <p:nvPr/>
        </p:nvSpPr>
        <p:spPr>
          <a:xfrm>
            <a:off x="704850" y="4010025"/>
            <a:ext cx="952500" cy="209550"/>
          </a:xfrm>
          <a:prstGeom prst="rect">
            <a:avLst/>
          </a:prstGeom>
          <a:noFill/>
          <a:ln w="0">
            <a:noFill/>
            <a:prstDash val="solid"/>
          </a:ln>
        </p:spPr>
        <p:txBody>
          <a:bodyPr wrap="square" lIns="0" tIns="0" rIns="0" bIns="0" anchor="t">
            <a:noAutofit/>
          </a:bodyPr>
          <a:lstStyle/>
          <a:p>
            <a:pPr algn="l">
              <a:buNone/>
              <a:defRPr sz="975" b="1" i="0">
                <a:solidFill>
                  <a:srgbClr val="3D8DFF"/>
                </a:solidFill>
                <a:latin typeface="Arial"/>
                <a:ea typeface="Arial"/>
                <a:cs typeface="Arial"/>
              </a:defRPr>
            </a:pPr>
            <a:r>
              <a:rPr sz="975" b="1" i="0" dirty="0">
                <a:solidFill>
                  <a:srgbClr val="3D8DFF"/>
                </a:solidFill>
                <a:latin typeface="Arial"/>
                <a:ea typeface="Arial"/>
                <a:cs typeface="Arial"/>
              </a:rPr>
              <a:t>DETECT</a:t>
            </a:r>
          </a:p>
        </p:txBody>
      </p:sp>
      <p:sp>
        <p:nvSpPr>
          <p:cNvPr id="16" name="polish-theme-dot-2">
            <a:extLst>
              <a:ext uri="{FF2B5EF4-FFF2-40B4-BE49-F238E27FC236}">
                <a16:creationId xmlns:a16="http://schemas.microsoft.com/office/drawing/2014/main" id="{AA552078-E678-4443-90CD-136ECBE34D18}"/>
              </a:ext>
            </a:extLst>
          </p:cNvPr>
          <p:cNvSpPr>
            <a:spLocks noGrp="1"/>
          </p:cNvSpPr>
          <p:nvPr/>
        </p:nvSpPr>
        <p:spPr>
          <a:xfrm>
            <a:off x="1866900" y="4057650"/>
            <a:ext cx="85725" cy="85725"/>
          </a:xfrm>
          <a:prstGeom prst="ellipse">
            <a:avLst/>
          </a:prstGeom>
          <a:solidFill>
            <a:srgbClr val="5D58E9"/>
          </a:solidFill>
          <a:ln w="0">
            <a:noFill/>
            <a:prstDash val="solid"/>
          </a:ln>
        </p:spPr>
      </p:sp>
      <p:sp>
        <p:nvSpPr>
          <p:cNvPr id="17" name="polish-theme-label-2">
            <a:extLst>
              <a:ext uri="{FF2B5EF4-FFF2-40B4-BE49-F238E27FC236}">
                <a16:creationId xmlns:a16="http://schemas.microsoft.com/office/drawing/2014/main" id="{C60EC6CE-A58C-4B80-82EE-567922CDBB22}"/>
              </a:ext>
            </a:extLst>
          </p:cNvPr>
          <p:cNvSpPr>
            <a:spLocks noGrp="1"/>
          </p:cNvSpPr>
          <p:nvPr/>
        </p:nvSpPr>
        <p:spPr>
          <a:xfrm>
            <a:off x="2038350" y="4010025"/>
            <a:ext cx="952500" cy="209550"/>
          </a:xfrm>
          <a:prstGeom prst="rect">
            <a:avLst/>
          </a:prstGeom>
          <a:noFill/>
          <a:ln w="0">
            <a:noFill/>
            <a:prstDash val="solid"/>
          </a:ln>
        </p:spPr>
        <p:txBody>
          <a:bodyPr wrap="square" lIns="0" tIns="0" rIns="0" bIns="0" anchor="t">
            <a:noAutofit/>
          </a:bodyPr>
          <a:lstStyle/>
          <a:p>
            <a:pPr algn="l">
              <a:buNone/>
              <a:defRPr sz="975" b="1" i="0">
                <a:solidFill>
                  <a:srgbClr val="5D58E9"/>
                </a:solidFill>
                <a:latin typeface="Arial"/>
                <a:ea typeface="Arial"/>
                <a:cs typeface="Arial"/>
              </a:defRPr>
            </a:pPr>
            <a:r>
              <a:rPr sz="975" b="1" i="0">
                <a:solidFill>
                  <a:srgbClr val="5D58E9"/>
                </a:solidFill>
                <a:latin typeface="Arial"/>
                <a:ea typeface="Arial"/>
                <a:cs typeface="Arial"/>
              </a:rPr>
              <a:t>EXPLAIN</a:t>
            </a:r>
          </a:p>
        </p:txBody>
      </p:sp>
      <p:sp>
        <p:nvSpPr>
          <p:cNvPr id="18" name="polish-theme-dot-3">
            <a:extLst>
              <a:ext uri="{FF2B5EF4-FFF2-40B4-BE49-F238E27FC236}">
                <a16:creationId xmlns:a16="http://schemas.microsoft.com/office/drawing/2014/main" id="{0B8195E4-E8EB-4924-845B-51FA57D74EB8}"/>
              </a:ext>
            </a:extLst>
          </p:cNvPr>
          <p:cNvSpPr>
            <a:spLocks noGrp="1"/>
          </p:cNvSpPr>
          <p:nvPr/>
        </p:nvSpPr>
        <p:spPr>
          <a:xfrm>
            <a:off x="3390900" y="4057650"/>
            <a:ext cx="85725" cy="85725"/>
          </a:xfrm>
          <a:prstGeom prst="ellipse">
            <a:avLst/>
          </a:prstGeom>
          <a:solidFill>
            <a:srgbClr val="279A73"/>
          </a:solidFill>
          <a:ln w="0">
            <a:noFill/>
            <a:prstDash val="solid"/>
          </a:ln>
        </p:spPr>
      </p:sp>
      <p:sp>
        <p:nvSpPr>
          <p:cNvPr id="19" name="polish-theme-label-3">
            <a:extLst>
              <a:ext uri="{FF2B5EF4-FFF2-40B4-BE49-F238E27FC236}">
                <a16:creationId xmlns:a16="http://schemas.microsoft.com/office/drawing/2014/main" id="{49F4C883-3FC2-4D8B-8F8A-07D59B77FD90}"/>
              </a:ext>
            </a:extLst>
          </p:cNvPr>
          <p:cNvSpPr>
            <a:spLocks noGrp="1"/>
          </p:cNvSpPr>
          <p:nvPr/>
        </p:nvSpPr>
        <p:spPr>
          <a:xfrm>
            <a:off x="3557587" y="4009410"/>
            <a:ext cx="952500" cy="209550"/>
          </a:xfrm>
          <a:prstGeom prst="rect">
            <a:avLst/>
          </a:prstGeom>
          <a:noFill/>
          <a:ln w="0">
            <a:noFill/>
            <a:prstDash val="solid"/>
          </a:ln>
        </p:spPr>
        <p:txBody>
          <a:bodyPr wrap="square" lIns="0" tIns="0" rIns="0" bIns="0" anchor="t">
            <a:noAutofit/>
          </a:bodyPr>
          <a:lstStyle/>
          <a:p>
            <a:pPr algn="l">
              <a:buNone/>
              <a:defRPr sz="975" b="1" i="0">
                <a:solidFill>
                  <a:srgbClr val="279A73"/>
                </a:solidFill>
                <a:latin typeface="Arial"/>
                <a:ea typeface="Arial"/>
                <a:cs typeface="Arial"/>
              </a:defRPr>
            </a:pPr>
            <a:r>
              <a:rPr sz="975" b="1" i="0" dirty="0">
                <a:solidFill>
                  <a:srgbClr val="279A73"/>
                </a:solidFill>
                <a:latin typeface="Arial"/>
                <a:ea typeface="Arial"/>
                <a:cs typeface="Arial"/>
              </a:rPr>
              <a:t>DEPLOY</a:t>
            </a:r>
          </a:p>
        </p:txBody>
      </p:sp>
      <p:sp>
        <p:nvSpPr>
          <p:cNvPr id="20" name="polish-progress-1-1">
            <a:extLst>
              <a:ext uri="{FF2B5EF4-FFF2-40B4-BE49-F238E27FC236}">
                <a16:creationId xmlns:a16="http://schemas.microsoft.com/office/drawing/2014/main" id="{9A4E13C0-C8E7-429D-80A1-C04DA05C84FD}"/>
              </a:ext>
            </a:extLst>
          </p:cNvPr>
          <p:cNvSpPr>
            <a:spLocks noGrp="1"/>
          </p:cNvSpPr>
          <p:nvPr/>
        </p:nvSpPr>
        <p:spPr>
          <a:xfrm>
            <a:off x="5076825" y="6572250"/>
            <a:ext cx="152400" cy="28575"/>
          </a:xfrm>
          <a:prstGeom prst="roundRect">
            <a:avLst>
              <a:gd name="adj" fmla="val 50000"/>
            </a:avLst>
          </a:prstGeom>
          <a:solidFill>
            <a:srgbClr val="3D8DFF"/>
          </a:solidFill>
          <a:ln w="0">
            <a:noFill/>
            <a:prstDash val="solid"/>
          </a:ln>
        </p:spPr>
      </p:sp>
      <p:sp>
        <p:nvSpPr>
          <p:cNvPr id="21" name="polish-progress-1-2">
            <a:extLst>
              <a:ext uri="{FF2B5EF4-FFF2-40B4-BE49-F238E27FC236}">
                <a16:creationId xmlns:a16="http://schemas.microsoft.com/office/drawing/2014/main" id="{8CE42ABE-9AEF-40DB-981F-AFDE5A27A271}"/>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22" name="polish-progress-1-3">
            <a:extLst>
              <a:ext uri="{FF2B5EF4-FFF2-40B4-BE49-F238E27FC236}">
                <a16:creationId xmlns:a16="http://schemas.microsoft.com/office/drawing/2014/main" id="{26CFBDDC-4FA5-43B2-A192-684A4452D661}"/>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23" name="polish-progress-1-4">
            <a:extLst>
              <a:ext uri="{FF2B5EF4-FFF2-40B4-BE49-F238E27FC236}">
                <a16:creationId xmlns:a16="http://schemas.microsoft.com/office/drawing/2014/main" id="{0455CF23-3558-4433-8D1D-257DD5ED3AB5}"/>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24" name="polish-progress-1-5">
            <a:extLst>
              <a:ext uri="{FF2B5EF4-FFF2-40B4-BE49-F238E27FC236}">
                <a16:creationId xmlns:a16="http://schemas.microsoft.com/office/drawing/2014/main" id="{BC93ACE6-83E6-4D14-9D81-23D8F483C154}"/>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25" name="polish-progress-1-6">
            <a:extLst>
              <a:ext uri="{FF2B5EF4-FFF2-40B4-BE49-F238E27FC236}">
                <a16:creationId xmlns:a16="http://schemas.microsoft.com/office/drawing/2014/main" id="{1A6B8DA9-DCC9-43C4-8FFD-F0BCD3B928A2}"/>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26" name="polish-progress-1-7">
            <a:extLst>
              <a:ext uri="{FF2B5EF4-FFF2-40B4-BE49-F238E27FC236}">
                <a16:creationId xmlns:a16="http://schemas.microsoft.com/office/drawing/2014/main" id="{3ECF4CE2-C5A7-4430-A3AB-158126800450}"/>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27" name="polish-progress-1-8">
            <a:extLst>
              <a:ext uri="{FF2B5EF4-FFF2-40B4-BE49-F238E27FC236}">
                <a16:creationId xmlns:a16="http://schemas.microsoft.com/office/drawing/2014/main" id="{818CCFCC-C045-4024-80F9-6B75E97EFADC}"/>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28" name="polish-progress-1-9">
            <a:extLst>
              <a:ext uri="{FF2B5EF4-FFF2-40B4-BE49-F238E27FC236}">
                <a16:creationId xmlns:a16="http://schemas.microsoft.com/office/drawing/2014/main" id="{08E5F08F-8A30-4304-BFBC-EA3C818C5B21}"/>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29" name="polish-progress-1-10">
            <a:extLst>
              <a:ext uri="{FF2B5EF4-FFF2-40B4-BE49-F238E27FC236}">
                <a16:creationId xmlns:a16="http://schemas.microsoft.com/office/drawing/2014/main" id="{A3212F14-A032-4691-A1B0-AE1D5EB1CEEC}"/>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
        <p:nvSpPr>
          <p:cNvPr id="31" name="visual-cover-navy-rail">
            <a:extLst>
              <a:ext uri="{FF2B5EF4-FFF2-40B4-BE49-F238E27FC236}">
                <a16:creationId xmlns:a16="http://schemas.microsoft.com/office/drawing/2014/main" id="{09A367C7-6204-4F11-951A-07A65F60CBB0}"/>
              </a:ext>
            </a:extLst>
          </p:cNvPr>
          <p:cNvSpPr>
            <a:spLocks noGrp="1"/>
          </p:cNvSpPr>
          <p:nvPr/>
        </p:nvSpPr>
        <p:spPr>
          <a:xfrm>
            <a:off x="0" y="0"/>
            <a:ext cx="133350" cy="6858000"/>
          </a:xfrm>
          <a:prstGeom prst="rect">
            <a:avLst/>
          </a:prstGeom>
          <a:solidFill>
            <a:srgbClr val="111827"/>
          </a:solidFill>
          <a:ln w="0">
            <a:noFill/>
            <a:prstDash val="solid"/>
          </a:ln>
        </p:spPr>
      </p:sp>
    </p:spTree>
    <p:extLst>
      <p:ext uri="{BB962C8B-B14F-4D97-AF65-F5344CB8AC3E}">
        <p14:creationId xmlns:p14="http://schemas.microsoft.com/office/powerpoint/2010/main" val="704464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6" name="rule">
            <a:extLst>
              <a:ext uri="{FF2B5EF4-FFF2-40B4-BE49-F238E27FC236}">
                <a16:creationId xmlns:a16="http://schemas.microsoft.com/office/drawing/2014/main" id="{D1D5DB5D-9BB2-4828-A120-ED07A23FE897}"/>
              </a:ext>
            </a:extLst>
          </p:cNvPr>
          <p:cNvSpPr>
            <a:spLocks noGrp="1"/>
          </p:cNvSpPr>
          <p:nvPr/>
        </p:nvSpPr>
        <p:spPr>
          <a:xfrm>
            <a:off x="533400" y="266700"/>
            <a:ext cx="11125200" cy="19050"/>
          </a:xfrm>
          <a:prstGeom prst="rect">
            <a:avLst/>
          </a:prstGeom>
          <a:solidFill>
            <a:srgbClr val="3D8DFF"/>
          </a:solidFill>
          <a:ln w="0">
            <a:noFill/>
            <a:prstDash val="solid"/>
          </a:ln>
        </p:spPr>
      </p:sp>
      <p:sp>
        <p:nvSpPr>
          <p:cNvPr id="2" name="section-label">
            <a:extLst>
              <a:ext uri="{FF2B5EF4-FFF2-40B4-BE49-F238E27FC236}">
                <a16:creationId xmlns:a16="http://schemas.microsoft.com/office/drawing/2014/main" id="{2CA724A6-682D-46AD-8433-AB327AC38478}"/>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CONTEXT</a:t>
            </a:r>
          </a:p>
        </p:txBody>
      </p:sp>
      <p:sp>
        <p:nvSpPr>
          <p:cNvPr id="3" name="page-number">
            <a:extLst>
              <a:ext uri="{FF2B5EF4-FFF2-40B4-BE49-F238E27FC236}">
                <a16:creationId xmlns:a16="http://schemas.microsoft.com/office/drawing/2014/main" id="{980BCD1A-D818-407F-92FA-A76DFEE50DF4}"/>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02</a:t>
            </a:r>
          </a:p>
        </p:txBody>
      </p:sp>
      <p:sp>
        <p:nvSpPr>
          <p:cNvPr id="4" name="slide-title">
            <a:extLst>
              <a:ext uri="{FF2B5EF4-FFF2-40B4-BE49-F238E27FC236}">
                <a16:creationId xmlns:a16="http://schemas.microsoft.com/office/drawing/2014/main" id="{27E4061A-1248-4794-92E4-0CA0948FDDCF}"/>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CNP fraud is rare, so accuracy alone is not enough</a:t>
            </a:r>
          </a:p>
        </p:txBody>
      </p:sp>
      <p:sp>
        <p:nvSpPr>
          <p:cNvPr id="5" name="slide-subtitle">
            <a:extLst>
              <a:ext uri="{FF2B5EF4-FFF2-40B4-BE49-F238E27FC236}">
                <a16:creationId xmlns:a16="http://schemas.microsoft.com/office/drawing/2014/main" id="{73F8530E-9755-4F74-A051-52E513ECFC1E}"/>
              </a:ext>
            </a:extLst>
          </p:cNvPr>
          <p:cNvSpPr>
            <a:spLocks noGrp="1"/>
          </p:cNvSpPr>
          <p:nvPr/>
        </p:nvSpPr>
        <p:spPr>
          <a:xfrm>
            <a:off x="533400" y="1295400"/>
            <a:ext cx="10668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The project treats fraud detection as a rare-event, analyst-facing decision problem.</a:t>
            </a:r>
          </a:p>
        </p:txBody>
      </p:sp>
      <p:sp>
        <p:nvSpPr>
          <p:cNvPr id="6" name="rule">
            <a:extLst>
              <a:ext uri="{FF2B5EF4-FFF2-40B4-BE49-F238E27FC236}">
                <a16:creationId xmlns:a16="http://schemas.microsoft.com/office/drawing/2014/main" id="{698B945D-3E4F-4C57-B911-04A3CDAEE28A}"/>
              </a:ext>
            </a:extLst>
          </p:cNvPr>
          <p:cNvSpPr>
            <a:spLocks noGrp="1"/>
          </p:cNvSpPr>
          <p:nvPr/>
        </p:nvSpPr>
        <p:spPr>
          <a:xfrm>
            <a:off x="533400" y="1885950"/>
            <a:ext cx="11125200" cy="9525"/>
          </a:xfrm>
          <a:prstGeom prst="rect">
            <a:avLst/>
          </a:prstGeom>
          <a:solidFill>
            <a:srgbClr val="D6DDE5"/>
          </a:solidFill>
          <a:ln w="0">
            <a:noFill/>
            <a:prstDash val="solid"/>
          </a:ln>
        </p:spPr>
      </p:sp>
      <p:sp>
        <p:nvSpPr>
          <p:cNvPr id="7" name="metric-value">
            <a:extLst>
              <a:ext uri="{FF2B5EF4-FFF2-40B4-BE49-F238E27FC236}">
                <a16:creationId xmlns:a16="http://schemas.microsoft.com/office/drawing/2014/main" id="{38AFCCF2-B297-4E3B-8EA8-72FEC1985250}"/>
              </a:ext>
            </a:extLst>
          </p:cNvPr>
          <p:cNvSpPr>
            <a:spLocks noGrp="1"/>
          </p:cNvSpPr>
          <p:nvPr/>
        </p:nvSpPr>
        <p:spPr>
          <a:xfrm>
            <a:off x="685800" y="2209800"/>
            <a:ext cx="2571750" cy="571500"/>
          </a:xfrm>
          <a:prstGeom prst="rect">
            <a:avLst/>
          </a:prstGeom>
          <a:noFill/>
          <a:ln w="0">
            <a:noFill/>
            <a:prstDash val="solid"/>
          </a:ln>
        </p:spPr>
        <p:txBody>
          <a:bodyPr wrap="square" lIns="0" tIns="0" rIns="0" bIns="0" anchor="t">
            <a:noAutofit/>
          </a:bodyPr>
          <a:lstStyle/>
          <a:p>
            <a:pPr algn="l">
              <a:buNone/>
              <a:defRPr sz="3150" b="1" i="0">
                <a:solidFill>
                  <a:srgbClr val="3D8DFF"/>
                </a:solidFill>
                <a:latin typeface="Arial"/>
                <a:ea typeface="Arial"/>
                <a:cs typeface="Arial"/>
              </a:defRPr>
            </a:pPr>
            <a:r>
              <a:rPr sz="3150" b="1" i="0">
                <a:solidFill>
                  <a:srgbClr val="3D8DFF"/>
                </a:solidFill>
                <a:latin typeface="Arial"/>
                <a:ea typeface="Arial"/>
                <a:cs typeface="Arial"/>
              </a:rPr>
              <a:t>1.21%</a:t>
            </a:r>
          </a:p>
        </p:txBody>
      </p:sp>
      <p:sp>
        <p:nvSpPr>
          <p:cNvPr id="8" name="metric-label">
            <a:extLst>
              <a:ext uri="{FF2B5EF4-FFF2-40B4-BE49-F238E27FC236}">
                <a16:creationId xmlns:a16="http://schemas.microsoft.com/office/drawing/2014/main" id="{CA3F7D0E-D423-417B-96D7-E19BE6E56034}"/>
              </a:ext>
            </a:extLst>
          </p:cNvPr>
          <p:cNvSpPr>
            <a:spLocks noGrp="1"/>
          </p:cNvSpPr>
          <p:nvPr/>
        </p:nvSpPr>
        <p:spPr>
          <a:xfrm>
            <a:off x="685800" y="2800350"/>
            <a:ext cx="2571750" cy="419100"/>
          </a:xfrm>
          <a:prstGeom prst="rect">
            <a:avLst/>
          </a:prstGeom>
          <a:noFill/>
          <a:ln w="0">
            <a:noFill/>
            <a:prstDash val="solid"/>
          </a:ln>
        </p:spPr>
        <p:txBody>
          <a:bodyPr wrap="square" lIns="0" tIns="0" rIns="0" bIns="0" anchor="t">
            <a:noAutofit/>
          </a:bodyPr>
          <a:lstStyle/>
          <a:p>
            <a:pPr algn="l">
              <a:buNone/>
              <a:defRPr sz="1200" b="0" i="0">
                <a:solidFill>
                  <a:srgbClr val="536172"/>
                </a:solidFill>
                <a:latin typeface="Arial"/>
                <a:ea typeface="Arial"/>
                <a:cs typeface="Arial"/>
              </a:defRPr>
            </a:pPr>
            <a:r>
              <a:rPr sz="1200" b="0" i="0">
                <a:solidFill>
                  <a:srgbClr val="536172"/>
                </a:solidFill>
                <a:latin typeface="Arial"/>
                <a:ea typeface="Arial"/>
                <a:cs typeface="Arial"/>
              </a:rPr>
              <a:t>fraud prevalence after CNP filtering</a:t>
            </a:r>
          </a:p>
        </p:txBody>
      </p:sp>
      <p:sp>
        <p:nvSpPr>
          <p:cNvPr id="9" name="rule">
            <a:extLst>
              <a:ext uri="{FF2B5EF4-FFF2-40B4-BE49-F238E27FC236}">
                <a16:creationId xmlns:a16="http://schemas.microsoft.com/office/drawing/2014/main" id="{12B5FB90-10C4-42FF-B26D-CD8611327577}"/>
              </a:ext>
            </a:extLst>
          </p:cNvPr>
          <p:cNvSpPr>
            <a:spLocks noGrp="1"/>
          </p:cNvSpPr>
          <p:nvPr/>
        </p:nvSpPr>
        <p:spPr>
          <a:xfrm>
            <a:off x="3714750" y="2209800"/>
            <a:ext cx="9525" cy="990600"/>
          </a:xfrm>
          <a:prstGeom prst="rect">
            <a:avLst/>
          </a:prstGeom>
          <a:solidFill>
            <a:srgbClr val="D6DDE5"/>
          </a:solidFill>
          <a:ln w="0">
            <a:noFill/>
            <a:prstDash val="solid"/>
          </a:ln>
        </p:spPr>
      </p:sp>
      <p:sp>
        <p:nvSpPr>
          <p:cNvPr id="10" name="metric-value">
            <a:extLst>
              <a:ext uri="{FF2B5EF4-FFF2-40B4-BE49-F238E27FC236}">
                <a16:creationId xmlns:a16="http://schemas.microsoft.com/office/drawing/2014/main" id="{1F339EC5-3C00-49B6-9124-4F86AE5DD5D0}"/>
              </a:ext>
            </a:extLst>
          </p:cNvPr>
          <p:cNvSpPr>
            <a:spLocks noGrp="1"/>
          </p:cNvSpPr>
          <p:nvPr/>
        </p:nvSpPr>
        <p:spPr>
          <a:xfrm>
            <a:off x="4095750" y="2209800"/>
            <a:ext cx="2571750" cy="571500"/>
          </a:xfrm>
          <a:prstGeom prst="rect">
            <a:avLst/>
          </a:prstGeom>
          <a:noFill/>
          <a:ln w="0">
            <a:noFill/>
            <a:prstDash val="solid"/>
          </a:ln>
        </p:spPr>
        <p:txBody>
          <a:bodyPr wrap="square" lIns="0" tIns="0" rIns="0" bIns="0" anchor="t">
            <a:noAutofit/>
          </a:bodyPr>
          <a:lstStyle/>
          <a:p>
            <a:pPr algn="l">
              <a:buNone/>
              <a:defRPr sz="3150" b="1" i="0">
                <a:solidFill>
                  <a:srgbClr val="5D58E9"/>
                </a:solidFill>
                <a:latin typeface="Arial"/>
                <a:ea typeface="Arial"/>
                <a:cs typeface="Arial"/>
              </a:defRPr>
            </a:pPr>
            <a:r>
              <a:rPr sz="3150" b="1" i="0">
                <a:solidFill>
                  <a:srgbClr val="5D58E9"/>
                </a:solidFill>
                <a:latin typeface="Arial"/>
                <a:ea typeface="Arial"/>
                <a:cs typeface="Arial"/>
              </a:rPr>
              <a:t>1 : 81</a:t>
            </a:r>
          </a:p>
        </p:txBody>
      </p:sp>
      <p:sp>
        <p:nvSpPr>
          <p:cNvPr id="11" name="metric-label">
            <a:extLst>
              <a:ext uri="{FF2B5EF4-FFF2-40B4-BE49-F238E27FC236}">
                <a16:creationId xmlns:a16="http://schemas.microsoft.com/office/drawing/2014/main" id="{8F217430-46A0-4ECB-9668-7E97D23C55AB}"/>
              </a:ext>
            </a:extLst>
          </p:cNvPr>
          <p:cNvSpPr>
            <a:spLocks noGrp="1"/>
          </p:cNvSpPr>
          <p:nvPr/>
        </p:nvSpPr>
        <p:spPr>
          <a:xfrm>
            <a:off x="4095750" y="2800350"/>
            <a:ext cx="2571750" cy="419100"/>
          </a:xfrm>
          <a:prstGeom prst="rect">
            <a:avLst/>
          </a:prstGeom>
          <a:noFill/>
          <a:ln w="0">
            <a:noFill/>
            <a:prstDash val="solid"/>
          </a:ln>
        </p:spPr>
        <p:txBody>
          <a:bodyPr wrap="square" lIns="0" tIns="0" rIns="0" bIns="0" anchor="t">
            <a:noAutofit/>
          </a:bodyPr>
          <a:lstStyle/>
          <a:p>
            <a:pPr algn="l">
              <a:buNone/>
              <a:defRPr sz="1200" b="0" i="0">
                <a:solidFill>
                  <a:srgbClr val="536172"/>
                </a:solidFill>
                <a:latin typeface="Arial"/>
                <a:ea typeface="Arial"/>
                <a:cs typeface="Arial"/>
              </a:defRPr>
            </a:pPr>
            <a:r>
              <a:rPr sz="1200" b="0" i="0">
                <a:solidFill>
                  <a:srgbClr val="536172"/>
                </a:solidFill>
                <a:latin typeface="Arial"/>
                <a:ea typeface="Arial"/>
                <a:cs typeface="Arial"/>
              </a:rPr>
              <a:t>fraud to legitimate</a:t>
            </a:r>
          </a:p>
        </p:txBody>
      </p:sp>
      <p:sp>
        <p:nvSpPr>
          <p:cNvPr id="12" name="rule">
            <a:extLst>
              <a:ext uri="{FF2B5EF4-FFF2-40B4-BE49-F238E27FC236}">
                <a16:creationId xmlns:a16="http://schemas.microsoft.com/office/drawing/2014/main" id="{2F235D18-5200-4368-A17C-FC1A0A5B472A}"/>
              </a:ext>
            </a:extLst>
          </p:cNvPr>
          <p:cNvSpPr>
            <a:spLocks noGrp="1"/>
          </p:cNvSpPr>
          <p:nvPr/>
        </p:nvSpPr>
        <p:spPr>
          <a:xfrm>
            <a:off x="7124700" y="2209800"/>
            <a:ext cx="9525" cy="990600"/>
          </a:xfrm>
          <a:prstGeom prst="rect">
            <a:avLst/>
          </a:prstGeom>
          <a:solidFill>
            <a:srgbClr val="D6DDE5"/>
          </a:solidFill>
          <a:ln w="0">
            <a:noFill/>
            <a:prstDash val="solid"/>
          </a:ln>
        </p:spPr>
      </p:sp>
      <p:sp>
        <p:nvSpPr>
          <p:cNvPr id="13" name="metric-value">
            <a:extLst>
              <a:ext uri="{FF2B5EF4-FFF2-40B4-BE49-F238E27FC236}">
                <a16:creationId xmlns:a16="http://schemas.microsoft.com/office/drawing/2014/main" id="{8CB22C89-C4B6-4E3D-B68A-83E32BD791C9}"/>
              </a:ext>
            </a:extLst>
          </p:cNvPr>
          <p:cNvSpPr>
            <a:spLocks noGrp="1"/>
          </p:cNvSpPr>
          <p:nvPr/>
        </p:nvSpPr>
        <p:spPr>
          <a:xfrm>
            <a:off x="7505700" y="2209800"/>
            <a:ext cx="2857500" cy="571500"/>
          </a:xfrm>
          <a:prstGeom prst="rect">
            <a:avLst/>
          </a:prstGeom>
          <a:noFill/>
          <a:ln w="0">
            <a:noFill/>
            <a:prstDash val="solid"/>
          </a:ln>
        </p:spPr>
        <p:txBody>
          <a:bodyPr wrap="square" lIns="0" tIns="0" rIns="0" bIns="0" anchor="t">
            <a:noAutofit/>
          </a:bodyPr>
          <a:lstStyle/>
          <a:p>
            <a:pPr algn="l">
              <a:buNone/>
              <a:defRPr sz="3150" b="1" i="0">
                <a:solidFill>
                  <a:srgbClr val="E7864F"/>
                </a:solidFill>
                <a:latin typeface="Arial"/>
                <a:ea typeface="Arial"/>
                <a:cs typeface="Arial"/>
              </a:defRPr>
            </a:pPr>
            <a:r>
              <a:rPr sz="3150" b="1" i="0">
                <a:solidFill>
                  <a:srgbClr val="E7864F"/>
                </a:solidFill>
                <a:latin typeface="Arial"/>
                <a:ea typeface="Arial"/>
                <a:cs typeface="Arial"/>
              </a:rPr>
              <a:t>3,576</a:t>
            </a:r>
          </a:p>
        </p:txBody>
      </p:sp>
      <p:sp>
        <p:nvSpPr>
          <p:cNvPr id="14" name="metric-label">
            <a:extLst>
              <a:ext uri="{FF2B5EF4-FFF2-40B4-BE49-F238E27FC236}">
                <a16:creationId xmlns:a16="http://schemas.microsoft.com/office/drawing/2014/main" id="{5E0F96BF-8D65-41D0-8C10-8754C79F2878}"/>
              </a:ext>
            </a:extLst>
          </p:cNvPr>
          <p:cNvSpPr>
            <a:spLocks noGrp="1"/>
          </p:cNvSpPr>
          <p:nvPr/>
        </p:nvSpPr>
        <p:spPr>
          <a:xfrm>
            <a:off x="7505700" y="2800350"/>
            <a:ext cx="2857500" cy="419100"/>
          </a:xfrm>
          <a:prstGeom prst="rect">
            <a:avLst/>
          </a:prstGeom>
          <a:noFill/>
          <a:ln w="0">
            <a:noFill/>
            <a:prstDash val="solid"/>
          </a:ln>
        </p:spPr>
        <p:txBody>
          <a:bodyPr wrap="square" lIns="0" tIns="0" rIns="0" bIns="0" anchor="t">
            <a:noAutofit/>
          </a:bodyPr>
          <a:lstStyle/>
          <a:p>
            <a:pPr algn="l">
              <a:buNone/>
              <a:defRPr sz="1200" b="0" i="0">
                <a:solidFill>
                  <a:srgbClr val="536172"/>
                </a:solidFill>
                <a:latin typeface="Arial"/>
                <a:ea typeface="Arial"/>
                <a:cs typeface="Arial"/>
              </a:defRPr>
            </a:pPr>
            <a:r>
              <a:rPr sz="1200" b="0" i="0">
                <a:solidFill>
                  <a:srgbClr val="536172"/>
                </a:solidFill>
                <a:latin typeface="Arial"/>
                <a:ea typeface="Arial"/>
                <a:cs typeface="Arial"/>
              </a:rPr>
              <a:t>fraud cases in 294,854 transactions</a:t>
            </a:r>
          </a:p>
        </p:txBody>
      </p:sp>
      <p:sp>
        <p:nvSpPr>
          <p:cNvPr id="15" name="rule">
            <a:extLst>
              <a:ext uri="{FF2B5EF4-FFF2-40B4-BE49-F238E27FC236}">
                <a16:creationId xmlns:a16="http://schemas.microsoft.com/office/drawing/2014/main" id="{B2B40A31-2416-4AF3-B5A3-B9F3A699FC41}"/>
              </a:ext>
            </a:extLst>
          </p:cNvPr>
          <p:cNvSpPr>
            <a:spLocks noGrp="1"/>
          </p:cNvSpPr>
          <p:nvPr/>
        </p:nvSpPr>
        <p:spPr>
          <a:xfrm>
            <a:off x="533400" y="3638550"/>
            <a:ext cx="11125200" cy="9525"/>
          </a:xfrm>
          <a:prstGeom prst="rect">
            <a:avLst/>
          </a:prstGeom>
          <a:solidFill>
            <a:srgbClr val="D6DDE5"/>
          </a:solidFill>
          <a:ln w="0">
            <a:noFill/>
            <a:prstDash val="solid"/>
          </a:ln>
        </p:spPr>
      </p:sp>
      <p:sp>
        <p:nvSpPr>
          <p:cNvPr id="16" name="gap-title">
            <a:extLst>
              <a:ext uri="{FF2B5EF4-FFF2-40B4-BE49-F238E27FC236}">
                <a16:creationId xmlns:a16="http://schemas.microsoft.com/office/drawing/2014/main" id="{62AAE5C4-0411-46BD-A0E4-9594F8CB1580}"/>
              </a:ext>
            </a:extLst>
          </p:cNvPr>
          <p:cNvSpPr>
            <a:spLocks noGrp="1"/>
          </p:cNvSpPr>
          <p:nvPr/>
        </p:nvSpPr>
        <p:spPr>
          <a:xfrm>
            <a:off x="685800" y="3981450"/>
            <a:ext cx="2857500" cy="304800"/>
          </a:xfrm>
          <a:prstGeom prst="rect">
            <a:avLst/>
          </a:prstGeom>
          <a:noFill/>
          <a:ln w="0">
            <a:noFill/>
            <a:prstDash val="solid"/>
          </a:ln>
        </p:spPr>
        <p:txBody>
          <a:bodyPr wrap="square" lIns="0" tIns="0" rIns="0" bIns="0" anchor="t">
            <a:noAutofit/>
          </a:bodyPr>
          <a:lstStyle/>
          <a:p>
            <a:pPr algn="l">
              <a:buNone/>
              <a:defRPr sz="1650" b="1" i="0">
                <a:solidFill>
                  <a:srgbClr val="111827"/>
                </a:solidFill>
                <a:latin typeface="Arial"/>
                <a:ea typeface="Arial"/>
                <a:cs typeface="Arial"/>
              </a:defRPr>
            </a:pPr>
            <a:r>
              <a:rPr sz="1650" b="1" i="0">
                <a:solidFill>
                  <a:srgbClr val="111827"/>
                </a:solidFill>
                <a:latin typeface="Arial"/>
                <a:ea typeface="Arial"/>
                <a:cs typeface="Arial"/>
              </a:rPr>
              <a:t>The research gap</a:t>
            </a:r>
          </a:p>
        </p:txBody>
      </p:sp>
      <p:sp>
        <p:nvSpPr>
          <p:cNvPr id="17" name="Oval 16">
            <a:extLst>
              <a:ext uri="{FF2B5EF4-FFF2-40B4-BE49-F238E27FC236}">
                <a16:creationId xmlns:a16="http://schemas.microsoft.com/office/drawing/2014/main" id="{9A02597F-2033-4A62-998B-B6E3C007E169}"/>
              </a:ext>
            </a:extLst>
          </p:cNvPr>
          <p:cNvSpPr>
            <a:spLocks noGrp="1"/>
          </p:cNvSpPr>
          <p:nvPr/>
        </p:nvSpPr>
        <p:spPr>
          <a:xfrm>
            <a:off x="685800" y="4486275"/>
            <a:ext cx="66675" cy="66675"/>
          </a:xfrm>
          <a:prstGeom prst="ellipse">
            <a:avLst/>
          </a:prstGeom>
          <a:solidFill>
            <a:srgbClr val="3D8DFF"/>
          </a:solidFill>
          <a:ln w="0">
            <a:noFill/>
            <a:prstDash val="solid"/>
          </a:ln>
        </p:spPr>
      </p:sp>
      <p:sp>
        <p:nvSpPr>
          <p:cNvPr id="18" name="Rectangle 17">
            <a:extLst>
              <a:ext uri="{FF2B5EF4-FFF2-40B4-BE49-F238E27FC236}">
                <a16:creationId xmlns:a16="http://schemas.microsoft.com/office/drawing/2014/main" id="{753525D0-89AB-49C8-9CBE-7E0AF5510AD5}"/>
              </a:ext>
            </a:extLst>
          </p:cNvPr>
          <p:cNvSpPr>
            <a:spLocks noGrp="1"/>
          </p:cNvSpPr>
          <p:nvPr/>
        </p:nvSpPr>
        <p:spPr>
          <a:xfrm>
            <a:off x="876300" y="4419600"/>
            <a:ext cx="4762500" cy="4953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Most benchmark datasets hide behaviour behind PCA-anonymised features.</a:t>
            </a:r>
          </a:p>
        </p:txBody>
      </p:sp>
      <p:sp>
        <p:nvSpPr>
          <p:cNvPr id="19" name="Oval 18">
            <a:extLst>
              <a:ext uri="{FF2B5EF4-FFF2-40B4-BE49-F238E27FC236}">
                <a16:creationId xmlns:a16="http://schemas.microsoft.com/office/drawing/2014/main" id="{B0AF6CD7-4961-4779-959A-6C3DE99E2B54}"/>
              </a:ext>
            </a:extLst>
          </p:cNvPr>
          <p:cNvSpPr>
            <a:spLocks noGrp="1"/>
          </p:cNvSpPr>
          <p:nvPr/>
        </p:nvSpPr>
        <p:spPr>
          <a:xfrm>
            <a:off x="685800" y="5038725"/>
            <a:ext cx="66675" cy="66675"/>
          </a:xfrm>
          <a:prstGeom prst="ellipse">
            <a:avLst/>
          </a:prstGeom>
          <a:solidFill>
            <a:srgbClr val="5D58E9"/>
          </a:solidFill>
          <a:ln w="0">
            <a:noFill/>
            <a:prstDash val="solid"/>
          </a:ln>
        </p:spPr>
      </p:sp>
      <p:sp>
        <p:nvSpPr>
          <p:cNvPr id="20" name="Rectangle 19">
            <a:extLst>
              <a:ext uri="{FF2B5EF4-FFF2-40B4-BE49-F238E27FC236}">
                <a16:creationId xmlns:a16="http://schemas.microsoft.com/office/drawing/2014/main" id="{EF0DB047-19FA-4586-9AA1-67A0E61C76DA}"/>
              </a:ext>
            </a:extLst>
          </p:cNvPr>
          <p:cNvSpPr>
            <a:spLocks noGrp="1"/>
          </p:cNvSpPr>
          <p:nvPr/>
        </p:nvSpPr>
        <p:spPr>
          <a:xfrm>
            <a:off x="876300" y="4972050"/>
            <a:ext cx="4762500" cy="4381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A high-accuracy model can still miss the minority class.</a:t>
            </a:r>
          </a:p>
        </p:txBody>
      </p:sp>
      <p:sp>
        <p:nvSpPr>
          <p:cNvPr id="21" name="Oval 20">
            <a:extLst>
              <a:ext uri="{FF2B5EF4-FFF2-40B4-BE49-F238E27FC236}">
                <a16:creationId xmlns:a16="http://schemas.microsoft.com/office/drawing/2014/main" id="{DCE385DA-E347-430C-9100-54BB047D2B6E}"/>
              </a:ext>
            </a:extLst>
          </p:cNvPr>
          <p:cNvSpPr>
            <a:spLocks noGrp="1"/>
          </p:cNvSpPr>
          <p:nvPr/>
        </p:nvSpPr>
        <p:spPr>
          <a:xfrm>
            <a:off x="685800" y="5591175"/>
            <a:ext cx="66675" cy="66675"/>
          </a:xfrm>
          <a:prstGeom prst="ellipse">
            <a:avLst/>
          </a:prstGeom>
          <a:solidFill>
            <a:srgbClr val="E7864F"/>
          </a:solidFill>
          <a:ln w="0">
            <a:noFill/>
            <a:prstDash val="solid"/>
          </a:ln>
        </p:spPr>
      </p:sp>
      <p:sp>
        <p:nvSpPr>
          <p:cNvPr id="22" name="Rectangle 21">
            <a:extLst>
              <a:ext uri="{FF2B5EF4-FFF2-40B4-BE49-F238E27FC236}">
                <a16:creationId xmlns:a16="http://schemas.microsoft.com/office/drawing/2014/main" id="{A4E836F6-B474-4976-A9C4-67DDA4759FAC}"/>
              </a:ext>
            </a:extLst>
          </p:cNvPr>
          <p:cNvSpPr>
            <a:spLocks noGrp="1"/>
          </p:cNvSpPr>
          <p:nvPr/>
        </p:nvSpPr>
        <p:spPr>
          <a:xfrm>
            <a:off x="876300" y="5524500"/>
            <a:ext cx="4762500" cy="4381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US-centric evidence does not automatically generalise to Mauritius.</a:t>
            </a:r>
          </a:p>
        </p:txBody>
      </p:sp>
      <p:sp>
        <p:nvSpPr>
          <p:cNvPr id="23" name="research-aim-panel">
            <a:extLst>
              <a:ext uri="{FF2B5EF4-FFF2-40B4-BE49-F238E27FC236}">
                <a16:creationId xmlns:a16="http://schemas.microsoft.com/office/drawing/2014/main" id="{8EED17EF-F9E4-4607-B38A-1F46CC2E70E1}"/>
              </a:ext>
            </a:extLst>
          </p:cNvPr>
          <p:cNvSpPr>
            <a:spLocks noGrp="1"/>
          </p:cNvSpPr>
          <p:nvPr/>
        </p:nvSpPr>
        <p:spPr>
          <a:xfrm>
            <a:off x="6667500" y="4019550"/>
            <a:ext cx="4991100" cy="1847850"/>
          </a:xfrm>
          <a:prstGeom prst="roundRect">
            <a:avLst>
              <a:gd name="adj" fmla="val 6186"/>
            </a:avLst>
          </a:prstGeom>
          <a:solidFill>
            <a:srgbClr val="EAF5FB"/>
          </a:solidFill>
          <a:ln w="9525">
            <a:solidFill>
              <a:srgbClr val="D6DDE5"/>
            </a:solidFill>
            <a:prstDash val="solid"/>
          </a:ln>
        </p:spPr>
      </p:sp>
      <p:sp>
        <p:nvSpPr>
          <p:cNvPr id="24" name="aim-label">
            <a:extLst>
              <a:ext uri="{FF2B5EF4-FFF2-40B4-BE49-F238E27FC236}">
                <a16:creationId xmlns:a16="http://schemas.microsoft.com/office/drawing/2014/main" id="{BCA925CA-704D-4DC7-9E0F-6DCA78608C1D}"/>
              </a:ext>
            </a:extLst>
          </p:cNvPr>
          <p:cNvSpPr>
            <a:spLocks noGrp="1"/>
          </p:cNvSpPr>
          <p:nvPr/>
        </p:nvSpPr>
        <p:spPr>
          <a:xfrm>
            <a:off x="6972300" y="4267200"/>
            <a:ext cx="1047750" cy="285750"/>
          </a:xfrm>
          <a:prstGeom prst="rect">
            <a:avLst/>
          </a:prstGeom>
          <a:noFill/>
          <a:ln w="0">
            <a:noFill/>
            <a:prstDash val="solid"/>
          </a:ln>
        </p:spPr>
        <p:txBody>
          <a:bodyPr wrap="square" lIns="0" tIns="0" rIns="0" bIns="0" anchor="t">
            <a:noAutofit/>
          </a:bodyPr>
          <a:lstStyle/>
          <a:p>
            <a:pPr algn="l">
              <a:buNone/>
              <a:defRPr sz="1500" b="1" i="0">
                <a:solidFill>
                  <a:srgbClr val="3D8DFF"/>
                </a:solidFill>
                <a:latin typeface="Arial"/>
                <a:ea typeface="Arial"/>
                <a:cs typeface="Arial"/>
              </a:defRPr>
            </a:pPr>
            <a:r>
              <a:rPr sz="1500" b="1" i="0">
                <a:solidFill>
                  <a:srgbClr val="3D8DFF"/>
                </a:solidFill>
                <a:latin typeface="Arial"/>
                <a:ea typeface="Arial"/>
                <a:cs typeface="Arial"/>
              </a:rPr>
              <a:t>Aim</a:t>
            </a:r>
          </a:p>
        </p:txBody>
      </p:sp>
      <p:sp>
        <p:nvSpPr>
          <p:cNvPr id="25" name="aim-text">
            <a:extLst>
              <a:ext uri="{FF2B5EF4-FFF2-40B4-BE49-F238E27FC236}">
                <a16:creationId xmlns:a16="http://schemas.microsoft.com/office/drawing/2014/main" id="{6ACA601B-47C0-4CE8-9953-1653D74E467C}"/>
              </a:ext>
            </a:extLst>
          </p:cNvPr>
          <p:cNvSpPr>
            <a:spLocks noGrp="1"/>
          </p:cNvSpPr>
          <p:nvPr/>
        </p:nvSpPr>
        <p:spPr>
          <a:xfrm>
            <a:off x="6972300" y="4648200"/>
            <a:ext cx="4191000" cy="857250"/>
          </a:xfrm>
          <a:prstGeom prst="rect">
            <a:avLst/>
          </a:prstGeom>
          <a:noFill/>
          <a:ln w="0">
            <a:noFill/>
            <a:prstDash val="solid"/>
          </a:ln>
        </p:spPr>
        <p:txBody>
          <a:bodyPr wrap="square" lIns="0" tIns="0" rIns="0" bIns="0" anchor="t">
            <a:noAutofit/>
          </a:bodyPr>
          <a:lstStyle/>
          <a:p>
            <a:pPr algn="l">
              <a:buNone/>
              <a:defRPr sz="1650" b="0" i="0">
                <a:solidFill>
                  <a:srgbClr val="111827"/>
                </a:solidFill>
                <a:latin typeface="Arial"/>
                <a:ea typeface="Arial"/>
                <a:cs typeface="Arial"/>
              </a:defRPr>
            </a:pPr>
            <a:r>
              <a:rPr sz="1650" b="0" i="0">
                <a:solidFill>
                  <a:srgbClr val="111827"/>
                </a:solidFill>
                <a:latin typeface="Arial"/>
                <a:ea typeface="Arial"/>
                <a:cs typeface="Arial"/>
              </a:rPr>
              <a:t>Build a CNP fraud detector that is accurate enough to be useful, explainable enough to review, and deployable enough to test in a Mauritius context.</a:t>
            </a:r>
          </a:p>
        </p:txBody>
      </p:sp>
      <p:sp>
        <p:nvSpPr>
          <p:cNvPr id="27" name="polish-title-rail-2">
            <a:extLst>
              <a:ext uri="{FF2B5EF4-FFF2-40B4-BE49-F238E27FC236}">
                <a16:creationId xmlns:a16="http://schemas.microsoft.com/office/drawing/2014/main" id="{76E4AD1C-6F44-491E-8B8C-317767BF2E52}"/>
              </a:ext>
            </a:extLst>
          </p:cNvPr>
          <p:cNvSpPr>
            <a:spLocks noGrp="1"/>
          </p:cNvSpPr>
          <p:nvPr/>
        </p:nvSpPr>
        <p:spPr>
          <a:xfrm>
            <a:off x="323850" y="762000"/>
            <a:ext cx="57150" cy="552450"/>
          </a:xfrm>
          <a:prstGeom prst="roundRect">
            <a:avLst>
              <a:gd name="adj" fmla="val 50000"/>
            </a:avLst>
          </a:prstGeom>
          <a:solidFill>
            <a:srgbClr val="3D8DFF"/>
          </a:solidFill>
          <a:ln w="0">
            <a:noFill/>
            <a:prstDash val="solid"/>
          </a:ln>
        </p:spPr>
      </p:sp>
      <p:sp>
        <p:nvSpPr>
          <p:cNvPr id="28" name="polish-title-underline-2">
            <a:extLst>
              <a:ext uri="{FF2B5EF4-FFF2-40B4-BE49-F238E27FC236}">
                <a16:creationId xmlns:a16="http://schemas.microsoft.com/office/drawing/2014/main" id="{F551DFBA-CB41-4028-BDC3-959FC0D598EB}"/>
              </a:ext>
            </a:extLst>
          </p:cNvPr>
          <p:cNvSpPr>
            <a:spLocks noGrp="1"/>
          </p:cNvSpPr>
          <p:nvPr/>
        </p:nvSpPr>
        <p:spPr>
          <a:xfrm>
            <a:off x="533400" y="647700"/>
            <a:ext cx="876300" cy="28575"/>
          </a:xfrm>
          <a:prstGeom prst="roundRect">
            <a:avLst>
              <a:gd name="adj" fmla="val 50000"/>
            </a:avLst>
          </a:prstGeom>
          <a:solidFill>
            <a:srgbClr val="3D8DFF"/>
          </a:solidFill>
          <a:ln w="0">
            <a:noFill/>
            <a:prstDash val="solid"/>
          </a:ln>
        </p:spPr>
      </p:sp>
      <p:sp>
        <p:nvSpPr>
          <p:cNvPr id="29" name="polish-progress-2-1">
            <a:extLst>
              <a:ext uri="{FF2B5EF4-FFF2-40B4-BE49-F238E27FC236}">
                <a16:creationId xmlns:a16="http://schemas.microsoft.com/office/drawing/2014/main" id="{E7C67C3A-BAD5-4D42-B998-6D4CE6D032C1}"/>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30" name="polish-progress-2-2">
            <a:extLst>
              <a:ext uri="{FF2B5EF4-FFF2-40B4-BE49-F238E27FC236}">
                <a16:creationId xmlns:a16="http://schemas.microsoft.com/office/drawing/2014/main" id="{16090E85-64D3-4C87-BD84-249BB0EB45DC}"/>
              </a:ext>
            </a:extLst>
          </p:cNvPr>
          <p:cNvSpPr>
            <a:spLocks noGrp="1"/>
          </p:cNvSpPr>
          <p:nvPr/>
        </p:nvSpPr>
        <p:spPr>
          <a:xfrm>
            <a:off x="5286375" y="6572250"/>
            <a:ext cx="152400" cy="28575"/>
          </a:xfrm>
          <a:prstGeom prst="roundRect">
            <a:avLst>
              <a:gd name="adj" fmla="val 50000"/>
            </a:avLst>
          </a:prstGeom>
          <a:solidFill>
            <a:srgbClr val="3D8DFF"/>
          </a:solidFill>
          <a:ln w="0">
            <a:noFill/>
            <a:prstDash val="solid"/>
          </a:ln>
        </p:spPr>
      </p:sp>
      <p:sp>
        <p:nvSpPr>
          <p:cNvPr id="31" name="polish-progress-2-3">
            <a:extLst>
              <a:ext uri="{FF2B5EF4-FFF2-40B4-BE49-F238E27FC236}">
                <a16:creationId xmlns:a16="http://schemas.microsoft.com/office/drawing/2014/main" id="{5A2358B8-E782-4992-AB29-E9CAAA1D6212}"/>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32" name="polish-progress-2-4">
            <a:extLst>
              <a:ext uri="{FF2B5EF4-FFF2-40B4-BE49-F238E27FC236}">
                <a16:creationId xmlns:a16="http://schemas.microsoft.com/office/drawing/2014/main" id="{5B9BD3E9-626D-4A99-B82B-5E30C5572BA9}"/>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33" name="polish-progress-2-5">
            <a:extLst>
              <a:ext uri="{FF2B5EF4-FFF2-40B4-BE49-F238E27FC236}">
                <a16:creationId xmlns:a16="http://schemas.microsoft.com/office/drawing/2014/main" id="{09C127B2-8409-4592-A721-4E5D58E755C5}"/>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34" name="polish-progress-2-6">
            <a:extLst>
              <a:ext uri="{FF2B5EF4-FFF2-40B4-BE49-F238E27FC236}">
                <a16:creationId xmlns:a16="http://schemas.microsoft.com/office/drawing/2014/main" id="{523D5BA5-7A16-4CA0-A214-FB03EBE309AC}"/>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35" name="polish-progress-2-7">
            <a:extLst>
              <a:ext uri="{FF2B5EF4-FFF2-40B4-BE49-F238E27FC236}">
                <a16:creationId xmlns:a16="http://schemas.microsoft.com/office/drawing/2014/main" id="{93011B70-DEAF-4F76-A28F-FF687DFB0F17}"/>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36" name="polish-progress-2-8">
            <a:extLst>
              <a:ext uri="{FF2B5EF4-FFF2-40B4-BE49-F238E27FC236}">
                <a16:creationId xmlns:a16="http://schemas.microsoft.com/office/drawing/2014/main" id="{DC4AC424-BD4C-4B8E-B277-A647C68FF3C8}"/>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37" name="polish-progress-2-9">
            <a:extLst>
              <a:ext uri="{FF2B5EF4-FFF2-40B4-BE49-F238E27FC236}">
                <a16:creationId xmlns:a16="http://schemas.microsoft.com/office/drawing/2014/main" id="{93F132D3-64A7-4AA2-9BC0-44C4C52D7D5F}"/>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38" name="polish-progress-2-10">
            <a:extLst>
              <a:ext uri="{FF2B5EF4-FFF2-40B4-BE49-F238E27FC236}">
                <a16:creationId xmlns:a16="http://schemas.microsoft.com/office/drawing/2014/main" id="{02B8C651-6127-4358-B103-B7A3D57E0CEE}"/>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Tree>
    <p:extLst>
      <p:ext uri="{BB962C8B-B14F-4D97-AF65-F5344CB8AC3E}">
        <p14:creationId xmlns:p14="http://schemas.microsoft.com/office/powerpoint/2010/main" val="208754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17" name="rule">
            <a:extLst>
              <a:ext uri="{FF2B5EF4-FFF2-40B4-BE49-F238E27FC236}">
                <a16:creationId xmlns:a16="http://schemas.microsoft.com/office/drawing/2014/main" id="{DE9DCBFD-4DB8-419A-9E29-8C2D60695C20}"/>
              </a:ext>
            </a:extLst>
          </p:cNvPr>
          <p:cNvSpPr>
            <a:spLocks noGrp="1"/>
          </p:cNvSpPr>
          <p:nvPr/>
        </p:nvSpPr>
        <p:spPr>
          <a:xfrm>
            <a:off x="533400" y="266700"/>
            <a:ext cx="11125200" cy="19050"/>
          </a:xfrm>
          <a:prstGeom prst="rect">
            <a:avLst/>
          </a:prstGeom>
          <a:solidFill>
            <a:srgbClr val="3D8DFF"/>
          </a:solidFill>
          <a:ln w="0">
            <a:noFill/>
            <a:prstDash val="solid"/>
          </a:ln>
        </p:spPr>
      </p:sp>
      <p:sp>
        <p:nvSpPr>
          <p:cNvPr id="2" name="section-label">
            <a:extLst>
              <a:ext uri="{FF2B5EF4-FFF2-40B4-BE49-F238E27FC236}">
                <a16:creationId xmlns:a16="http://schemas.microsoft.com/office/drawing/2014/main" id="{D1F57C50-936A-4CD6-BA3F-3611F2DA2CFC}"/>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DATA AND FEATURES</a:t>
            </a:r>
          </a:p>
        </p:txBody>
      </p:sp>
      <p:sp>
        <p:nvSpPr>
          <p:cNvPr id="3" name="page-number">
            <a:extLst>
              <a:ext uri="{FF2B5EF4-FFF2-40B4-BE49-F238E27FC236}">
                <a16:creationId xmlns:a16="http://schemas.microsoft.com/office/drawing/2014/main" id="{CC0E3E64-C2D4-47A4-9054-0807252AD638}"/>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03</a:t>
            </a:r>
          </a:p>
        </p:txBody>
      </p:sp>
      <p:sp>
        <p:nvSpPr>
          <p:cNvPr id="4" name="slide-title">
            <a:extLst>
              <a:ext uri="{FF2B5EF4-FFF2-40B4-BE49-F238E27FC236}">
                <a16:creationId xmlns:a16="http://schemas.microsoft.com/office/drawing/2014/main" id="{27B4D74F-E418-4C56-9EEE-BD0C5A2C6051}"/>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Named behavioural features keep the signal interpretable</a:t>
            </a:r>
          </a:p>
        </p:txBody>
      </p:sp>
      <p:sp>
        <p:nvSpPr>
          <p:cNvPr id="5" name="slide-subtitle">
            <a:extLst>
              <a:ext uri="{FF2B5EF4-FFF2-40B4-BE49-F238E27FC236}">
                <a16:creationId xmlns:a16="http://schemas.microsoft.com/office/drawing/2014/main" id="{942E7427-AD55-4E4A-A024-848D474B1B3C}"/>
              </a:ext>
            </a:extLst>
          </p:cNvPr>
          <p:cNvSpPr>
            <a:spLocks noGrp="1"/>
          </p:cNvSpPr>
          <p:nvPr/>
        </p:nvSpPr>
        <p:spPr>
          <a:xfrm>
            <a:off x="533400" y="1295400"/>
            <a:ext cx="10668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Only unambiguously online merchant categories were retained for the final CNP experiment.</a:t>
            </a:r>
          </a:p>
        </p:txBody>
      </p:sp>
      <p:sp>
        <p:nvSpPr>
          <p:cNvPr id="6" name="data-label">
            <a:extLst>
              <a:ext uri="{FF2B5EF4-FFF2-40B4-BE49-F238E27FC236}">
                <a16:creationId xmlns:a16="http://schemas.microsoft.com/office/drawing/2014/main" id="{79F07EEE-049B-42E3-B5BC-540143EF0741}"/>
              </a:ext>
            </a:extLst>
          </p:cNvPr>
          <p:cNvSpPr>
            <a:spLocks noGrp="1"/>
          </p:cNvSpPr>
          <p:nvPr/>
        </p:nvSpPr>
        <p:spPr>
          <a:xfrm>
            <a:off x="533400" y="1981200"/>
            <a:ext cx="2857500" cy="228600"/>
          </a:xfrm>
          <a:prstGeom prst="rect">
            <a:avLst/>
          </a:prstGeom>
          <a:noFill/>
          <a:ln w="0">
            <a:noFill/>
            <a:prstDash val="solid"/>
          </a:ln>
        </p:spPr>
        <p:txBody>
          <a:bodyPr wrap="square" lIns="0" tIns="0" rIns="0" bIns="0" anchor="t">
            <a:noAutofit/>
          </a:bodyPr>
          <a:lstStyle/>
          <a:p>
            <a:pPr algn="l">
              <a:buNone/>
              <a:defRPr sz="975" b="1" i="0">
                <a:solidFill>
                  <a:srgbClr val="8190A0"/>
                </a:solidFill>
                <a:latin typeface="Arial"/>
                <a:ea typeface="Arial"/>
                <a:cs typeface="Arial"/>
              </a:defRPr>
            </a:pPr>
            <a:r>
              <a:rPr sz="975" b="1" i="0">
                <a:solidFill>
                  <a:srgbClr val="8190A0"/>
                </a:solidFill>
                <a:latin typeface="Arial"/>
                <a:ea typeface="Arial"/>
                <a:cs typeface="Arial"/>
              </a:rPr>
              <a:t>FINAL MODELLING SET</a:t>
            </a:r>
          </a:p>
        </p:txBody>
      </p:sp>
      <p:sp>
        <p:nvSpPr>
          <p:cNvPr id="7" name="data-total">
            <a:extLst>
              <a:ext uri="{FF2B5EF4-FFF2-40B4-BE49-F238E27FC236}">
                <a16:creationId xmlns:a16="http://schemas.microsoft.com/office/drawing/2014/main" id="{E0E781E7-E581-43B7-96EB-66F84C1AFE1A}"/>
              </a:ext>
            </a:extLst>
          </p:cNvPr>
          <p:cNvSpPr>
            <a:spLocks noGrp="1"/>
          </p:cNvSpPr>
          <p:nvPr/>
        </p:nvSpPr>
        <p:spPr>
          <a:xfrm>
            <a:off x="533400" y="2343150"/>
            <a:ext cx="3238500" cy="666750"/>
          </a:xfrm>
          <a:prstGeom prst="rect">
            <a:avLst/>
          </a:prstGeom>
          <a:noFill/>
          <a:ln w="0">
            <a:noFill/>
            <a:prstDash val="solid"/>
          </a:ln>
        </p:spPr>
        <p:txBody>
          <a:bodyPr wrap="square" lIns="0" tIns="0" rIns="0" bIns="0" anchor="t">
            <a:noAutofit/>
          </a:bodyPr>
          <a:lstStyle/>
          <a:p>
            <a:pPr algn="l">
              <a:buNone/>
              <a:defRPr sz="3900" b="1" i="0">
                <a:solidFill>
                  <a:srgbClr val="111827"/>
                </a:solidFill>
                <a:latin typeface="Arial"/>
                <a:ea typeface="Arial"/>
                <a:cs typeface="Arial"/>
              </a:defRPr>
            </a:pPr>
            <a:r>
              <a:rPr sz="3900" b="1" i="0">
                <a:solidFill>
                  <a:srgbClr val="111827"/>
                </a:solidFill>
                <a:latin typeface="Arial"/>
                <a:ea typeface="Arial"/>
                <a:cs typeface="Arial"/>
              </a:rPr>
              <a:t>294,854</a:t>
            </a:r>
          </a:p>
        </p:txBody>
      </p:sp>
      <p:sp>
        <p:nvSpPr>
          <p:cNvPr id="8" name="data-summary">
            <a:extLst>
              <a:ext uri="{FF2B5EF4-FFF2-40B4-BE49-F238E27FC236}">
                <a16:creationId xmlns:a16="http://schemas.microsoft.com/office/drawing/2014/main" id="{D51E6B16-0BFE-4F5E-A0C0-8BDF2047D152}"/>
              </a:ext>
            </a:extLst>
          </p:cNvPr>
          <p:cNvSpPr>
            <a:spLocks noGrp="1"/>
          </p:cNvSpPr>
          <p:nvPr/>
        </p:nvSpPr>
        <p:spPr>
          <a:xfrm>
            <a:off x="533400" y="3105150"/>
            <a:ext cx="3238500" cy="952500"/>
          </a:xfrm>
          <a:prstGeom prst="rect">
            <a:avLst/>
          </a:prstGeom>
          <a:noFill/>
          <a:ln w="0">
            <a:noFill/>
            <a:prstDash val="solid"/>
          </a:ln>
        </p:spPr>
        <p:txBody>
          <a:bodyPr wrap="square" lIns="0" tIns="0" rIns="0" bIns="0" anchor="t">
            <a:noAutofit/>
          </a:bodyPr>
          <a:lstStyle/>
          <a:p>
            <a:pPr algn="l">
              <a:buNone/>
              <a:defRPr sz="1800" b="0" i="0">
                <a:solidFill>
                  <a:srgbClr val="536172"/>
                </a:solidFill>
                <a:latin typeface="Arial"/>
                <a:ea typeface="Arial"/>
                <a:cs typeface="Arial"/>
              </a:defRPr>
            </a:pPr>
            <a:r>
              <a:rPr sz="1800" b="0" i="0">
                <a:solidFill>
                  <a:srgbClr val="536172"/>
                </a:solidFill>
                <a:latin typeface="Arial"/>
                <a:ea typeface="Arial"/>
                <a:cs typeface="Arial"/>
              </a:rPr>
              <a:t>transactions</a:t>
            </a:r>
          </a:p>
          <a:p>
            <a:pPr algn="l">
              <a:buNone/>
              <a:defRPr sz="1800" b="0" i="0">
                <a:solidFill>
                  <a:srgbClr val="536172"/>
                </a:solidFill>
                <a:latin typeface="Arial"/>
                <a:ea typeface="Arial"/>
                <a:cs typeface="Arial"/>
              </a:defRPr>
            </a:pPr>
            <a:r>
              <a:rPr sz="1800" b="0" i="0">
                <a:solidFill>
                  <a:srgbClr val="536172"/>
                </a:solidFill>
                <a:latin typeface="Arial"/>
                <a:ea typeface="Arial"/>
                <a:cs typeface="Arial"/>
              </a:rPr>
              <a:t>3,576 fraud cases</a:t>
            </a:r>
          </a:p>
          <a:p>
            <a:pPr algn="l">
              <a:buNone/>
              <a:defRPr sz="1800" b="0" i="0">
                <a:solidFill>
                  <a:srgbClr val="536172"/>
                </a:solidFill>
                <a:latin typeface="Arial"/>
                <a:ea typeface="Arial"/>
                <a:cs typeface="Arial"/>
              </a:defRPr>
            </a:pPr>
            <a:r>
              <a:rPr sz="1800" b="0" i="0">
                <a:solidFill>
                  <a:srgbClr val="536172"/>
                </a:solidFill>
                <a:latin typeface="Arial"/>
                <a:ea typeface="Arial"/>
                <a:cs typeface="Arial"/>
              </a:rPr>
              <a:t>~81:1 imbalance</a:t>
            </a:r>
          </a:p>
        </p:txBody>
      </p:sp>
      <p:sp>
        <p:nvSpPr>
          <p:cNvPr id="9" name="rule">
            <a:extLst>
              <a:ext uri="{FF2B5EF4-FFF2-40B4-BE49-F238E27FC236}">
                <a16:creationId xmlns:a16="http://schemas.microsoft.com/office/drawing/2014/main" id="{F1AFA0FD-907A-4DF5-B95A-7DD15531382F}"/>
              </a:ext>
            </a:extLst>
          </p:cNvPr>
          <p:cNvSpPr>
            <a:spLocks noGrp="1"/>
          </p:cNvSpPr>
          <p:nvPr/>
        </p:nvSpPr>
        <p:spPr>
          <a:xfrm>
            <a:off x="533400" y="4324350"/>
            <a:ext cx="4953000" cy="9525"/>
          </a:xfrm>
          <a:prstGeom prst="rect">
            <a:avLst/>
          </a:prstGeom>
          <a:solidFill>
            <a:srgbClr val="D6DDE5"/>
          </a:solidFill>
          <a:ln w="0">
            <a:noFill/>
            <a:prstDash val="solid"/>
          </a:ln>
        </p:spPr>
      </p:sp>
      <p:sp>
        <p:nvSpPr>
          <p:cNvPr id="10" name="filter-label">
            <a:extLst>
              <a:ext uri="{FF2B5EF4-FFF2-40B4-BE49-F238E27FC236}">
                <a16:creationId xmlns:a16="http://schemas.microsoft.com/office/drawing/2014/main" id="{7956C7D7-67F5-41DC-ABE2-710030655391}"/>
              </a:ext>
            </a:extLst>
          </p:cNvPr>
          <p:cNvSpPr>
            <a:spLocks noGrp="1"/>
          </p:cNvSpPr>
          <p:nvPr/>
        </p:nvSpPr>
        <p:spPr>
          <a:xfrm>
            <a:off x="533400" y="4533900"/>
            <a:ext cx="1524000" cy="247650"/>
          </a:xfrm>
          <a:prstGeom prst="rect">
            <a:avLst/>
          </a:prstGeom>
          <a:noFill/>
          <a:ln w="0">
            <a:noFill/>
            <a:prstDash val="solid"/>
          </a:ln>
        </p:spPr>
        <p:txBody>
          <a:bodyPr wrap="square" lIns="0" tIns="0" rIns="0" bIns="0" anchor="t">
            <a:noAutofit/>
          </a:bodyPr>
          <a:lstStyle/>
          <a:p>
            <a:pPr algn="l">
              <a:buNone/>
              <a:defRPr sz="1350" b="1" i="0">
                <a:solidFill>
                  <a:srgbClr val="3D8DFF"/>
                </a:solidFill>
                <a:latin typeface="Arial"/>
                <a:ea typeface="Arial"/>
                <a:cs typeface="Arial"/>
              </a:defRPr>
            </a:pPr>
            <a:r>
              <a:rPr sz="1350" b="1" i="0">
                <a:solidFill>
                  <a:srgbClr val="3D8DFF"/>
                </a:solidFill>
                <a:latin typeface="Arial"/>
                <a:ea typeface="Arial"/>
                <a:cs typeface="Arial"/>
              </a:rPr>
              <a:t>CNP filter</a:t>
            </a:r>
          </a:p>
        </p:txBody>
      </p:sp>
      <p:sp>
        <p:nvSpPr>
          <p:cNvPr id="11" name="filter-values">
            <a:extLst>
              <a:ext uri="{FF2B5EF4-FFF2-40B4-BE49-F238E27FC236}">
                <a16:creationId xmlns:a16="http://schemas.microsoft.com/office/drawing/2014/main" id="{CAAD8ECA-14CE-409B-BAD3-D6DCD00EE31E}"/>
              </a:ext>
            </a:extLst>
          </p:cNvPr>
          <p:cNvSpPr>
            <a:spLocks noGrp="1"/>
          </p:cNvSpPr>
          <p:nvPr/>
        </p:nvSpPr>
        <p:spPr>
          <a:xfrm>
            <a:off x="533400" y="4857750"/>
            <a:ext cx="4953000" cy="285750"/>
          </a:xfrm>
          <a:prstGeom prst="rect">
            <a:avLst/>
          </a:prstGeom>
          <a:noFill/>
          <a:ln w="0">
            <a:noFill/>
            <a:prstDash val="solid"/>
          </a:ln>
        </p:spPr>
        <p:txBody>
          <a:bodyPr wrap="square" lIns="0" tIns="0" rIns="0" bIns="0" anchor="t">
            <a:noAutofit/>
          </a:bodyPr>
          <a:lstStyle/>
          <a:p>
            <a:pPr algn="l">
              <a:buNone/>
              <a:defRPr sz="1425" b="0" i="0">
                <a:solidFill>
                  <a:srgbClr val="111827"/>
                </a:solidFill>
                <a:latin typeface="Arial"/>
                <a:ea typeface="Arial"/>
                <a:cs typeface="Arial"/>
              </a:defRPr>
            </a:pPr>
            <a:r>
              <a:rPr sz="1425" b="0" i="0">
                <a:solidFill>
                  <a:srgbClr val="111827"/>
                </a:solidFill>
                <a:latin typeface="Arial"/>
                <a:ea typeface="Arial"/>
                <a:cs typeface="Arial"/>
              </a:rPr>
              <a:t>grocery_net | misc_net | shopping_net</a:t>
            </a:r>
          </a:p>
        </p:txBody>
      </p:sp>
      <p:sp>
        <p:nvSpPr>
          <p:cNvPr id="12" name="split-label">
            <a:extLst>
              <a:ext uri="{FF2B5EF4-FFF2-40B4-BE49-F238E27FC236}">
                <a16:creationId xmlns:a16="http://schemas.microsoft.com/office/drawing/2014/main" id="{0DE5FC9C-673D-4CED-B486-5F9FC98F1478}"/>
              </a:ext>
            </a:extLst>
          </p:cNvPr>
          <p:cNvSpPr>
            <a:spLocks noGrp="1"/>
          </p:cNvSpPr>
          <p:nvPr/>
        </p:nvSpPr>
        <p:spPr>
          <a:xfrm>
            <a:off x="533400" y="5295900"/>
            <a:ext cx="1809750" cy="247650"/>
          </a:xfrm>
          <a:prstGeom prst="rect">
            <a:avLst/>
          </a:prstGeom>
          <a:noFill/>
          <a:ln w="0">
            <a:noFill/>
            <a:prstDash val="solid"/>
          </a:ln>
        </p:spPr>
        <p:txBody>
          <a:bodyPr wrap="square" lIns="0" tIns="0" rIns="0" bIns="0" anchor="t">
            <a:noAutofit/>
          </a:bodyPr>
          <a:lstStyle/>
          <a:p>
            <a:pPr algn="l">
              <a:buNone/>
              <a:defRPr sz="1350" b="1" i="0">
                <a:solidFill>
                  <a:srgbClr val="5D58E9"/>
                </a:solidFill>
                <a:latin typeface="Arial"/>
                <a:ea typeface="Arial"/>
                <a:cs typeface="Arial"/>
              </a:defRPr>
            </a:pPr>
            <a:r>
              <a:rPr sz="1350" b="1" i="0">
                <a:solidFill>
                  <a:srgbClr val="5D58E9"/>
                </a:solidFill>
                <a:latin typeface="Arial"/>
                <a:ea typeface="Arial"/>
                <a:cs typeface="Arial"/>
              </a:rPr>
              <a:t>Chronological split</a:t>
            </a:r>
          </a:p>
        </p:txBody>
      </p:sp>
      <p:sp>
        <p:nvSpPr>
          <p:cNvPr id="13" name="split-values">
            <a:extLst>
              <a:ext uri="{FF2B5EF4-FFF2-40B4-BE49-F238E27FC236}">
                <a16:creationId xmlns:a16="http://schemas.microsoft.com/office/drawing/2014/main" id="{21BF9A22-027E-46CB-85D7-1BD3AB74FC28}"/>
              </a:ext>
            </a:extLst>
          </p:cNvPr>
          <p:cNvSpPr>
            <a:spLocks noGrp="1"/>
          </p:cNvSpPr>
          <p:nvPr/>
        </p:nvSpPr>
        <p:spPr>
          <a:xfrm>
            <a:off x="533400" y="5619750"/>
            <a:ext cx="4953000" cy="2857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60% train | 20% calibration | 20% validation</a:t>
            </a:r>
          </a:p>
        </p:txBody>
      </p:sp>
      <p:sp>
        <p:nvSpPr>
          <p:cNvPr id="14" name="feature-engineering-pipeline-backing">
            <a:extLst>
              <a:ext uri="{FF2B5EF4-FFF2-40B4-BE49-F238E27FC236}">
                <a16:creationId xmlns:a16="http://schemas.microsoft.com/office/drawing/2014/main" id="{D9DCF294-B808-483B-8D6F-C128470D5C70}"/>
              </a:ext>
            </a:extLst>
          </p:cNvPr>
          <p:cNvSpPr>
            <a:spLocks noGrp="1"/>
          </p:cNvSpPr>
          <p:nvPr/>
        </p:nvSpPr>
        <p:spPr>
          <a:xfrm>
            <a:off x="6134100" y="1866900"/>
            <a:ext cx="5067300" cy="4210050"/>
          </a:xfrm>
          <a:prstGeom prst="roundRect">
            <a:avLst>
              <a:gd name="adj" fmla="val 2715"/>
            </a:avLst>
          </a:prstGeom>
          <a:solidFill>
            <a:srgbClr val="EAF5FB"/>
          </a:solidFill>
          <a:ln w="9525">
            <a:solidFill>
              <a:srgbClr val="D6DDE5"/>
            </a:solidFill>
            <a:prstDash val="solid"/>
          </a:ln>
        </p:spPr>
      </p:sp>
      <p:pic>
        <p:nvPicPr>
          <p:cNvPr id="49" name="Picture 32"/>
          <p:cNvPicPr>
            <a:picLocks noChangeAspect="1"/>
          </p:cNvPicPr>
          <p:nvPr/>
        </p:nvPicPr>
        <p:blipFill>
          <a:blip r:embed="rId3"/>
          <a:stretch/>
        </p:blipFill>
        <p:spPr>
          <a:xfrm>
            <a:off x="6730145" y="1924050"/>
            <a:ext cx="3875210" cy="4095750"/>
          </a:xfrm>
          <a:prstGeom prst="roundRect">
            <a:avLst>
              <a:gd name="adj" fmla="val 1860"/>
            </a:avLst>
          </a:prstGeom>
        </p:spPr>
      </p:pic>
      <p:sp>
        <p:nvSpPr>
          <p:cNvPr id="16" name="feature-list">
            <a:extLst>
              <a:ext uri="{FF2B5EF4-FFF2-40B4-BE49-F238E27FC236}">
                <a16:creationId xmlns:a16="http://schemas.microsoft.com/office/drawing/2014/main" id="{B245ED10-AF91-406D-A996-A234FB7C23F0}"/>
              </a:ext>
            </a:extLst>
          </p:cNvPr>
          <p:cNvSpPr>
            <a:spLocks noGrp="1"/>
          </p:cNvSpPr>
          <p:nvPr/>
        </p:nvSpPr>
        <p:spPr>
          <a:xfrm>
            <a:off x="6191250" y="6172200"/>
            <a:ext cx="4953000" cy="285750"/>
          </a:xfrm>
          <a:prstGeom prst="rect">
            <a:avLst/>
          </a:prstGeom>
          <a:noFill/>
          <a:ln w="0">
            <a:noFill/>
            <a:prstDash val="solid"/>
          </a:ln>
        </p:spPr>
        <p:txBody>
          <a:bodyPr wrap="square" lIns="0" tIns="0" rIns="0" bIns="0" anchor="t">
            <a:noAutofit/>
          </a:bodyPr>
          <a:lstStyle/>
          <a:p>
            <a:pPr algn="l">
              <a:buNone/>
              <a:defRPr sz="1125" b="0" i="0">
                <a:solidFill>
                  <a:srgbClr val="536172"/>
                </a:solidFill>
                <a:latin typeface="Arial"/>
                <a:ea typeface="Arial"/>
                <a:cs typeface="Arial"/>
              </a:defRPr>
            </a:pPr>
            <a:r>
              <a:rPr sz="1125" b="0" i="0">
                <a:solidFill>
                  <a:srgbClr val="536172"/>
                </a:solidFill>
                <a:latin typeface="Arial"/>
                <a:ea typeface="Arial"/>
                <a:cs typeface="Arial"/>
              </a:rPr>
              <a:t>7 named features: amount | hour | age | distance | amount z-score | category | gender</a:t>
            </a:r>
          </a:p>
        </p:txBody>
      </p:sp>
      <p:sp>
        <p:nvSpPr>
          <p:cNvPr id="19" name="polish-title-rail-3">
            <a:extLst>
              <a:ext uri="{FF2B5EF4-FFF2-40B4-BE49-F238E27FC236}">
                <a16:creationId xmlns:a16="http://schemas.microsoft.com/office/drawing/2014/main" id="{388445B1-8D2E-45BF-B3CB-20E462B63A69}"/>
              </a:ext>
            </a:extLst>
          </p:cNvPr>
          <p:cNvSpPr>
            <a:spLocks noGrp="1"/>
          </p:cNvSpPr>
          <p:nvPr/>
        </p:nvSpPr>
        <p:spPr>
          <a:xfrm>
            <a:off x="323850" y="762000"/>
            <a:ext cx="57150" cy="552450"/>
          </a:xfrm>
          <a:prstGeom prst="roundRect">
            <a:avLst>
              <a:gd name="adj" fmla="val 50000"/>
            </a:avLst>
          </a:prstGeom>
          <a:solidFill>
            <a:srgbClr val="279A73"/>
          </a:solidFill>
          <a:ln w="0">
            <a:noFill/>
            <a:prstDash val="solid"/>
          </a:ln>
        </p:spPr>
      </p:sp>
      <p:sp>
        <p:nvSpPr>
          <p:cNvPr id="20" name="polish-title-underline-3">
            <a:extLst>
              <a:ext uri="{FF2B5EF4-FFF2-40B4-BE49-F238E27FC236}">
                <a16:creationId xmlns:a16="http://schemas.microsoft.com/office/drawing/2014/main" id="{03FF561E-E2F4-4037-9FA1-059B724170DB}"/>
              </a:ext>
            </a:extLst>
          </p:cNvPr>
          <p:cNvSpPr>
            <a:spLocks noGrp="1"/>
          </p:cNvSpPr>
          <p:nvPr/>
        </p:nvSpPr>
        <p:spPr>
          <a:xfrm>
            <a:off x="533400" y="647700"/>
            <a:ext cx="876300" cy="28575"/>
          </a:xfrm>
          <a:prstGeom prst="roundRect">
            <a:avLst>
              <a:gd name="adj" fmla="val 50000"/>
            </a:avLst>
          </a:prstGeom>
          <a:solidFill>
            <a:srgbClr val="279A73"/>
          </a:solidFill>
          <a:ln w="0">
            <a:noFill/>
            <a:prstDash val="solid"/>
          </a:ln>
        </p:spPr>
      </p:sp>
      <p:sp>
        <p:nvSpPr>
          <p:cNvPr id="21" name="polish-progress-3-1">
            <a:extLst>
              <a:ext uri="{FF2B5EF4-FFF2-40B4-BE49-F238E27FC236}">
                <a16:creationId xmlns:a16="http://schemas.microsoft.com/office/drawing/2014/main" id="{55C43D78-2D17-4179-B60D-C61051313087}"/>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22" name="polish-progress-3-2">
            <a:extLst>
              <a:ext uri="{FF2B5EF4-FFF2-40B4-BE49-F238E27FC236}">
                <a16:creationId xmlns:a16="http://schemas.microsoft.com/office/drawing/2014/main" id="{BEBB211E-2C0B-4AD0-885F-5E8BDE44A389}"/>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23" name="polish-progress-3-3">
            <a:extLst>
              <a:ext uri="{FF2B5EF4-FFF2-40B4-BE49-F238E27FC236}">
                <a16:creationId xmlns:a16="http://schemas.microsoft.com/office/drawing/2014/main" id="{509491C9-FC06-42B1-9A90-AB1A4D736CCC}"/>
              </a:ext>
            </a:extLst>
          </p:cNvPr>
          <p:cNvSpPr>
            <a:spLocks noGrp="1"/>
          </p:cNvSpPr>
          <p:nvPr/>
        </p:nvSpPr>
        <p:spPr>
          <a:xfrm>
            <a:off x="5495925" y="6572250"/>
            <a:ext cx="152400" cy="28575"/>
          </a:xfrm>
          <a:prstGeom prst="roundRect">
            <a:avLst>
              <a:gd name="adj" fmla="val 50000"/>
            </a:avLst>
          </a:prstGeom>
          <a:solidFill>
            <a:srgbClr val="279A73"/>
          </a:solidFill>
          <a:ln w="0">
            <a:noFill/>
            <a:prstDash val="solid"/>
          </a:ln>
        </p:spPr>
      </p:sp>
      <p:sp>
        <p:nvSpPr>
          <p:cNvPr id="24" name="polish-progress-3-4">
            <a:extLst>
              <a:ext uri="{FF2B5EF4-FFF2-40B4-BE49-F238E27FC236}">
                <a16:creationId xmlns:a16="http://schemas.microsoft.com/office/drawing/2014/main" id="{31733802-22E1-40B1-BC7E-F7E478509FEE}"/>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25" name="polish-progress-3-5">
            <a:extLst>
              <a:ext uri="{FF2B5EF4-FFF2-40B4-BE49-F238E27FC236}">
                <a16:creationId xmlns:a16="http://schemas.microsoft.com/office/drawing/2014/main" id="{18B63E79-5B85-4E5B-B4E3-5549F91BF82F}"/>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26" name="polish-progress-3-6">
            <a:extLst>
              <a:ext uri="{FF2B5EF4-FFF2-40B4-BE49-F238E27FC236}">
                <a16:creationId xmlns:a16="http://schemas.microsoft.com/office/drawing/2014/main" id="{F9DD45B4-AF4F-4E66-B378-FDA55E5C638F}"/>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27" name="polish-progress-3-7">
            <a:extLst>
              <a:ext uri="{FF2B5EF4-FFF2-40B4-BE49-F238E27FC236}">
                <a16:creationId xmlns:a16="http://schemas.microsoft.com/office/drawing/2014/main" id="{6F8BFA82-F823-4CA2-9C6E-AB7E390A4B1C}"/>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28" name="polish-progress-3-8">
            <a:extLst>
              <a:ext uri="{FF2B5EF4-FFF2-40B4-BE49-F238E27FC236}">
                <a16:creationId xmlns:a16="http://schemas.microsoft.com/office/drawing/2014/main" id="{13C2A871-DD84-4F37-9A86-D2D71C04A209}"/>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29" name="polish-progress-3-9">
            <a:extLst>
              <a:ext uri="{FF2B5EF4-FFF2-40B4-BE49-F238E27FC236}">
                <a16:creationId xmlns:a16="http://schemas.microsoft.com/office/drawing/2014/main" id="{7D3A38E7-1DCA-4784-AE0C-36A17C8E3098}"/>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30" name="polish-progress-3-10">
            <a:extLst>
              <a:ext uri="{FF2B5EF4-FFF2-40B4-BE49-F238E27FC236}">
                <a16:creationId xmlns:a16="http://schemas.microsoft.com/office/drawing/2014/main" id="{4CD05564-092B-415C-BE08-461B76237C60}"/>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
        <p:nvSpPr>
          <p:cNvPr id="32" name="visual-feature-input-rule">
            <a:extLst>
              <a:ext uri="{FF2B5EF4-FFF2-40B4-BE49-F238E27FC236}">
                <a16:creationId xmlns:a16="http://schemas.microsoft.com/office/drawing/2014/main" id="{2FE46A8A-B8AF-4E65-A011-E4FD23D60C13}"/>
              </a:ext>
            </a:extLst>
          </p:cNvPr>
          <p:cNvSpPr>
            <a:spLocks noGrp="1"/>
          </p:cNvSpPr>
          <p:nvPr/>
        </p:nvSpPr>
        <p:spPr>
          <a:xfrm>
            <a:off x="6191250" y="1676400"/>
            <a:ext cx="323850" cy="28575"/>
          </a:xfrm>
          <a:prstGeom prst="roundRect">
            <a:avLst>
              <a:gd name="adj" fmla="val 50000"/>
            </a:avLst>
          </a:prstGeom>
          <a:solidFill>
            <a:srgbClr val="279A73"/>
          </a:solidFill>
          <a:ln w="0">
            <a:noFill/>
            <a:prstDash val="solid"/>
          </a:ln>
        </p:spPr>
      </p:sp>
      <p:sp>
        <p:nvSpPr>
          <p:cNvPr id="33" name="visual-feature-input-label">
            <a:extLst>
              <a:ext uri="{FF2B5EF4-FFF2-40B4-BE49-F238E27FC236}">
                <a16:creationId xmlns:a16="http://schemas.microsoft.com/office/drawing/2014/main" id="{1E26BFCB-1982-48DF-9917-BC0FB7AA5BC3}"/>
              </a:ext>
            </a:extLst>
          </p:cNvPr>
          <p:cNvSpPr>
            <a:spLocks noGrp="1"/>
          </p:cNvSpPr>
          <p:nvPr/>
        </p:nvSpPr>
        <p:spPr>
          <a:xfrm>
            <a:off x="6610350" y="1581150"/>
            <a:ext cx="2095500" cy="209550"/>
          </a:xfrm>
          <a:prstGeom prst="rect">
            <a:avLst/>
          </a:prstGeom>
          <a:noFill/>
          <a:ln w="0">
            <a:noFill/>
            <a:prstDash val="solid"/>
          </a:ln>
        </p:spPr>
        <p:txBody>
          <a:bodyPr wrap="square" lIns="0" tIns="0" rIns="0" bIns="0" anchor="t">
            <a:noAutofit/>
          </a:bodyPr>
          <a:lstStyle/>
          <a:p>
            <a:pPr algn="l">
              <a:buNone/>
              <a:defRPr sz="1200" b="1" i="0">
                <a:solidFill>
                  <a:srgbClr val="279A73"/>
                </a:solidFill>
                <a:latin typeface="Arial"/>
                <a:ea typeface="Arial"/>
                <a:cs typeface="Arial"/>
              </a:defRPr>
            </a:pPr>
            <a:r>
              <a:rPr sz="1200" b="1" i="0">
                <a:solidFill>
                  <a:srgbClr val="279A73"/>
                </a:solidFill>
                <a:latin typeface="Arial"/>
                <a:ea typeface="Arial"/>
                <a:cs typeface="Arial"/>
              </a:rPr>
              <a:t>7 FEATURE INPUTS</a:t>
            </a:r>
          </a:p>
        </p:txBody>
      </p:sp>
    </p:spTree>
    <p:extLst>
      <p:ext uri="{BB962C8B-B14F-4D97-AF65-F5344CB8AC3E}">
        <p14:creationId xmlns:p14="http://schemas.microsoft.com/office/powerpoint/2010/main" val="2060009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32" name="rule">
            <a:extLst>
              <a:ext uri="{FF2B5EF4-FFF2-40B4-BE49-F238E27FC236}">
                <a16:creationId xmlns:a16="http://schemas.microsoft.com/office/drawing/2014/main" id="{4FA07C47-9A9B-425B-945F-D291EBBA1B11}"/>
              </a:ext>
            </a:extLst>
          </p:cNvPr>
          <p:cNvSpPr>
            <a:spLocks noGrp="1"/>
          </p:cNvSpPr>
          <p:nvPr/>
        </p:nvSpPr>
        <p:spPr>
          <a:xfrm>
            <a:off x="533400" y="266700"/>
            <a:ext cx="11125200" cy="19050"/>
          </a:xfrm>
          <a:prstGeom prst="rect">
            <a:avLst/>
          </a:prstGeom>
          <a:solidFill>
            <a:srgbClr val="3D8DFF"/>
          </a:solidFill>
          <a:ln w="0">
            <a:noFill/>
            <a:prstDash val="solid"/>
          </a:ln>
        </p:spPr>
      </p:sp>
      <p:sp>
        <p:nvSpPr>
          <p:cNvPr id="2" name="section-label">
            <a:extLst>
              <a:ext uri="{FF2B5EF4-FFF2-40B4-BE49-F238E27FC236}">
                <a16:creationId xmlns:a16="http://schemas.microsoft.com/office/drawing/2014/main" id="{6C79190B-9401-4A22-AB15-86F700F213C6}"/>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METHOD</a:t>
            </a:r>
          </a:p>
        </p:txBody>
      </p:sp>
      <p:sp>
        <p:nvSpPr>
          <p:cNvPr id="3" name="page-number">
            <a:extLst>
              <a:ext uri="{FF2B5EF4-FFF2-40B4-BE49-F238E27FC236}">
                <a16:creationId xmlns:a16="http://schemas.microsoft.com/office/drawing/2014/main" id="{491B8A36-9359-4BA6-A45A-3FC62302CA3B}"/>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04</a:t>
            </a:r>
          </a:p>
        </p:txBody>
      </p:sp>
      <p:sp>
        <p:nvSpPr>
          <p:cNvPr id="4" name="slide-title">
            <a:extLst>
              <a:ext uri="{FF2B5EF4-FFF2-40B4-BE49-F238E27FC236}">
                <a16:creationId xmlns:a16="http://schemas.microsoft.com/office/drawing/2014/main" id="{1F30AD1B-B3E5-4A3F-9576-D5C7E8EE77F9}"/>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Three models share one cost-sensitive training path</a:t>
            </a:r>
          </a:p>
        </p:txBody>
      </p:sp>
      <p:sp>
        <p:nvSpPr>
          <p:cNvPr id="5" name="slide-subtitle">
            <a:extLst>
              <a:ext uri="{FF2B5EF4-FFF2-40B4-BE49-F238E27FC236}">
                <a16:creationId xmlns:a16="http://schemas.microsoft.com/office/drawing/2014/main" id="{552A3DC7-052C-4767-8CAE-58709272EF84}"/>
              </a:ext>
            </a:extLst>
          </p:cNvPr>
          <p:cNvSpPr>
            <a:spLocks noGrp="1"/>
          </p:cNvSpPr>
          <p:nvPr/>
        </p:nvSpPr>
        <p:spPr>
          <a:xfrm>
            <a:off x="533400" y="1295400"/>
            <a:ext cx="10668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The comparison separates model capacity from the data and evaluation decisions.</a:t>
            </a:r>
          </a:p>
        </p:txBody>
      </p:sp>
      <p:sp>
        <p:nvSpPr>
          <p:cNvPr id="6" name="input-title">
            <a:extLst>
              <a:ext uri="{FF2B5EF4-FFF2-40B4-BE49-F238E27FC236}">
                <a16:creationId xmlns:a16="http://schemas.microsoft.com/office/drawing/2014/main" id="{7EEBE447-B39E-408F-B9E2-F440CD8D636E}"/>
              </a:ext>
            </a:extLst>
          </p:cNvPr>
          <p:cNvSpPr>
            <a:spLocks noGrp="1"/>
          </p:cNvSpPr>
          <p:nvPr/>
        </p:nvSpPr>
        <p:spPr>
          <a:xfrm>
            <a:off x="533400" y="2095500"/>
            <a:ext cx="2762250" cy="304800"/>
          </a:xfrm>
          <a:prstGeom prst="rect">
            <a:avLst/>
          </a:prstGeom>
          <a:noFill/>
          <a:ln w="0">
            <a:noFill/>
            <a:prstDash val="solid"/>
          </a:ln>
        </p:spPr>
        <p:txBody>
          <a:bodyPr wrap="square" lIns="0" tIns="0" rIns="0" bIns="0" anchor="t">
            <a:noAutofit/>
          </a:bodyPr>
          <a:lstStyle/>
          <a:p>
            <a:pPr algn="l">
              <a:buNone/>
              <a:defRPr sz="1650" b="1" i="0">
                <a:solidFill>
                  <a:srgbClr val="111827"/>
                </a:solidFill>
                <a:latin typeface="Arial"/>
                <a:ea typeface="Arial"/>
                <a:cs typeface="Arial"/>
              </a:defRPr>
            </a:pPr>
            <a:r>
              <a:rPr sz="1650" b="1" i="0">
                <a:solidFill>
                  <a:srgbClr val="111827"/>
                </a:solidFill>
                <a:latin typeface="Arial"/>
                <a:ea typeface="Arial"/>
                <a:cs typeface="Arial"/>
              </a:rPr>
              <a:t>One transformed input</a:t>
            </a:r>
          </a:p>
        </p:txBody>
      </p:sp>
      <p:sp>
        <p:nvSpPr>
          <p:cNvPr id="7" name="input-copy">
            <a:extLst>
              <a:ext uri="{FF2B5EF4-FFF2-40B4-BE49-F238E27FC236}">
                <a16:creationId xmlns:a16="http://schemas.microsoft.com/office/drawing/2014/main" id="{A623D880-2EE1-420A-B6A3-E40D7052D740}"/>
              </a:ext>
            </a:extLst>
          </p:cNvPr>
          <p:cNvSpPr>
            <a:spLocks noGrp="1"/>
          </p:cNvSpPr>
          <p:nvPr/>
        </p:nvSpPr>
        <p:spPr>
          <a:xfrm>
            <a:off x="533400" y="2476500"/>
            <a:ext cx="3714750" cy="552450"/>
          </a:xfrm>
          <a:prstGeom prst="rect">
            <a:avLst/>
          </a:prstGeom>
          <a:noFill/>
          <a:ln w="0">
            <a:noFill/>
            <a:prstDash val="solid"/>
          </a:ln>
        </p:spPr>
        <p:txBody>
          <a:bodyPr wrap="square" lIns="0" tIns="0" rIns="0" bIns="0" anchor="t">
            <a:noAutofit/>
          </a:bodyPr>
          <a:lstStyle/>
          <a:p>
            <a:pPr algn="l">
              <a:buNone/>
              <a:defRPr sz="1500" b="0" i="0">
                <a:solidFill>
                  <a:srgbClr val="536172"/>
                </a:solidFill>
                <a:latin typeface="Arial"/>
                <a:ea typeface="Arial"/>
                <a:cs typeface="Arial"/>
              </a:defRPr>
            </a:pPr>
            <a:r>
              <a:rPr sz="1500" b="0" i="0">
                <a:solidFill>
                  <a:srgbClr val="536172"/>
                </a:solidFill>
                <a:latin typeface="Arial"/>
                <a:ea typeface="Arial"/>
                <a:cs typeface="Arial"/>
              </a:rPr>
              <a:t>The same engineered feature vector feeds three complementary classifiers.</a:t>
            </a:r>
          </a:p>
        </p:txBody>
      </p:sp>
      <p:sp>
        <p:nvSpPr>
          <p:cNvPr id="8" name="model-path">
            <a:extLst>
              <a:ext uri="{FF2B5EF4-FFF2-40B4-BE49-F238E27FC236}">
                <a16:creationId xmlns:a16="http://schemas.microsoft.com/office/drawing/2014/main" id="{BE9150DA-A6CE-408B-92D8-C2ACFE0193C9}"/>
              </a:ext>
            </a:extLst>
          </p:cNvPr>
          <p:cNvSpPr>
            <a:spLocks noGrp="1"/>
          </p:cNvSpPr>
          <p:nvPr/>
        </p:nvSpPr>
        <p:spPr>
          <a:xfrm>
            <a:off x="3476625" y="3286125"/>
            <a:ext cx="6429375" cy="0"/>
          </a:xfrm>
          <a:prstGeom prst="line">
            <a:avLst/>
          </a:prstGeom>
          <a:noFill/>
          <a:ln w="19050">
            <a:solidFill>
              <a:srgbClr val="AAB5C1"/>
            </a:solidFill>
            <a:prstDash val="solid"/>
          </a:ln>
        </p:spPr>
      </p:sp>
      <p:sp>
        <p:nvSpPr>
          <p:cNvPr id="9" name="arrow-1">
            <a:extLst>
              <a:ext uri="{FF2B5EF4-FFF2-40B4-BE49-F238E27FC236}">
                <a16:creationId xmlns:a16="http://schemas.microsoft.com/office/drawing/2014/main" id="{F793E44F-3DD4-4259-B83C-8F78721E3E4B}"/>
              </a:ext>
            </a:extLst>
          </p:cNvPr>
          <p:cNvSpPr>
            <a:spLocks noGrp="1"/>
          </p:cNvSpPr>
          <p:nvPr/>
        </p:nvSpPr>
        <p:spPr>
          <a:xfrm>
            <a:off x="4552950" y="3152775"/>
            <a:ext cx="342900" cy="266700"/>
          </a:xfrm>
          <a:prstGeom prst="rect">
            <a:avLst/>
          </a:prstGeom>
          <a:noFill/>
          <a:ln w="0">
            <a:noFill/>
            <a:prstDash val="solid"/>
          </a:ln>
        </p:spPr>
        <p:txBody>
          <a:bodyPr wrap="square" lIns="0" tIns="0" rIns="0" bIns="0" anchor="t">
            <a:noAutofit/>
          </a:bodyPr>
          <a:lstStyle/>
          <a:p>
            <a:pPr algn="l">
              <a:buNone/>
              <a:defRPr sz="1650" b="1" i="0">
                <a:solidFill>
                  <a:srgbClr val="AAB5C1"/>
                </a:solidFill>
                <a:latin typeface="Arial"/>
                <a:ea typeface="Arial"/>
                <a:cs typeface="Arial"/>
              </a:defRPr>
            </a:pPr>
            <a:r>
              <a:rPr sz="1650" b="1" i="0">
                <a:solidFill>
                  <a:srgbClr val="AAB5C1"/>
                </a:solidFill>
                <a:latin typeface="Arial"/>
                <a:ea typeface="Arial"/>
                <a:cs typeface="Arial"/>
              </a:rPr>
              <a:t>-&gt;</a:t>
            </a:r>
          </a:p>
        </p:txBody>
      </p:sp>
      <p:sp>
        <p:nvSpPr>
          <p:cNvPr id="10" name="arrow-2">
            <a:extLst>
              <a:ext uri="{FF2B5EF4-FFF2-40B4-BE49-F238E27FC236}">
                <a16:creationId xmlns:a16="http://schemas.microsoft.com/office/drawing/2014/main" id="{8018A1EC-BDF4-474E-B266-E24445EAB73C}"/>
              </a:ext>
            </a:extLst>
          </p:cNvPr>
          <p:cNvSpPr>
            <a:spLocks noGrp="1"/>
          </p:cNvSpPr>
          <p:nvPr/>
        </p:nvSpPr>
        <p:spPr>
          <a:xfrm>
            <a:off x="6705600" y="3152775"/>
            <a:ext cx="342900" cy="266700"/>
          </a:xfrm>
          <a:prstGeom prst="rect">
            <a:avLst/>
          </a:prstGeom>
          <a:noFill/>
          <a:ln w="0">
            <a:noFill/>
            <a:prstDash val="solid"/>
          </a:ln>
        </p:spPr>
        <p:txBody>
          <a:bodyPr wrap="square" lIns="0" tIns="0" rIns="0" bIns="0" anchor="t">
            <a:noAutofit/>
          </a:bodyPr>
          <a:lstStyle/>
          <a:p>
            <a:pPr algn="l">
              <a:buNone/>
              <a:defRPr sz="1650" b="1" i="0">
                <a:solidFill>
                  <a:srgbClr val="AAB5C1"/>
                </a:solidFill>
                <a:latin typeface="Arial"/>
                <a:ea typeface="Arial"/>
                <a:cs typeface="Arial"/>
              </a:defRPr>
            </a:pPr>
            <a:r>
              <a:rPr sz="1650" b="1" i="0">
                <a:solidFill>
                  <a:srgbClr val="AAB5C1"/>
                </a:solidFill>
                <a:latin typeface="Arial"/>
                <a:ea typeface="Arial"/>
                <a:cs typeface="Arial"/>
              </a:rPr>
              <a:t>-&gt;</a:t>
            </a:r>
          </a:p>
        </p:txBody>
      </p:sp>
      <p:sp>
        <p:nvSpPr>
          <p:cNvPr id="11" name="arrow-3">
            <a:extLst>
              <a:ext uri="{FF2B5EF4-FFF2-40B4-BE49-F238E27FC236}">
                <a16:creationId xmlns:a16="http://schemas.microsoft.com/office/drawing/2014/main" id="{AEFCC373-8F73-4D17-9BDE-FDDD51445D18}"/>
              </a:ext>
            </a:extLst>
          </p:cNvPr>
          <p:cNvSpPr>
            <a:spLocks noGrp="1"/>
          </p:cNvSpPr>
          <p:nvPr/>
        </p:nvSpPr>
        <p:spPr>
          <a:xfrm>
            <a:off x="8858250" y="3152775"/>
            <a:ext cx="342900" cy="266700"/>
          </a:xfrm>
          <a:prstGeom prst="rect">
            <a:avLst/>
          </a:prstGeom>
          <a:noFill/>
          <a:ln w="0">
            <a:noFill/>
            <a:prstDash val="solid"/>
          </a:ln>
        </p:spPr>
        <p:txBody>
          <a:bodyPr wrap="square" lIns="0" tIns="0" rIns="0" bIns="0" anchor="t">
            <a:noAutofit/>
          </a:bodyPr>
          <a:lstStyle/>
          <a:p>
            <a:pPr algn="l">
              <a:buNone/>
              <a:defRPr sz="1650" b="1" i="0">
                <a:solidFill>
                  <a:srgbClr val="AAB5C1"/>
                </a:solidFill>
                <a:latin typeface="Arial"/>
                <a:ea typeface="Arial"/>
                <a:cs typeface="Arial"/>
              </a:defRPr>
            </a:pPr>
            <a:r>
              <a:rPr sz="1650" b="1" i="0">
                <a:solidFill>
                  <a:srgbClr val="AAB5C1"/>
                </a:solidFill>
                <a:latin typeface="Arial"/>
                <a:ea typeface="Arial"/>
                <a:cs typeface="Arial"/>
              </a:rPr>
              <a:t>-&gt;</a:t>
            </a:r>
          </a:p>
        </p:txBody>
      </p:sp>
      <p:sp>
        <p:nvSpPr>
          <p:cNvPr id="12" name="input-node">
            <a:extLst>
              <a:ext uri="{FF2B5EF4-FFF2-40B4-BE49-F238E27FC236}">
                <a16:creationId xmlns:a16="http://schemas.microsoft.com/office/drawing/2014/main" id="{AC981B5C-91C0-4704-9E7D-6ACD0F1386AF}"/>
              </a:ext>
            </a:extLst>
          </p:cNvPr>
          <p:cNvSpPr>
            <a:spLocks noGrp="1"/>
          </p:cNvSpPr>
          <p:nvPr/>
        </p:nvSpPr>
        <p:spPr>
          <a:xfrm>
            <a:off x="3143250" y="3048000"/>
            <a:ext cx="476250" cy="476250"/>
          </a:xfrm>
          <a:prstGeom prst="ellipse">
            <a:avLst/>
          </a:prstGeom>
          <a:solidFill>
            <a:srgbClr val="F2F4F7"/>
          </a:solidFill>
          <a:ln w="9525">
            <a:solidFill>
              <a:srgbClr val="AAB5C1"/>
            </a:solidFill>
            <a:prstDash val="solid"/>
          </a:ln>
        </p:spPr>
      </p:sp>
      <p:sp>
        <p:nvSpPr>
          <p:cNvPr id="13" name="input-node-text">
            <a:extLst>
              <a:ext uri="{FF2B5EF4-FFF2-40B4-BE49-F238E27FC236}">
                <a16:creationId xmlns:a16="http://schemas.microsoft.com/office/drawing/2014/main" id="{280355BB-4643-4D48-9CFD-12D21A98E334}"/>
              </a:ext>
            </a:extLst>
          </p:cNvPr>
          <p:cNvSpPr>
            <a:spLocks noGrp="1"/>
          </p:cNvSpPr>
          <p:nvPr/>
        </p:nvSpPr>
        <p:spPr>
          <a:xfrm>
            <a:off x="3295650" y="3114675"/>
            <a:ext cx="171450" cy="190500"/>
          </a:xfrm>
          <a:prstGeom prst="rect">
            <a:avLst/>
          </a:prstGeom>
          <a:noFill/>
          <a:ln w="0">
            <a:noFill/>
            <a:prstDash val="solid"/>
          </a:ln>
        </p:spPr>
        <p:txBody>
          <a:bodyPr wrap="square" lIns="0" tIns="0" rIns="0" bIns="0" anchor="t">
            <a:noAutofit/>
          </a:bodyPr>
          <a:lstStyle/>
          <a:p>
            <a:pPr algn="ctr">
              <a:buNone/>
              <a:defRPr sz="1800" b="1" i="0">
                <a:solidFill>
                  <a:srgbClr val="111827"/>
                </a:solidFill>
                <a:latin typeface="Arial"/>
                <a:ea typeface="Arial"/>
                <a:cs typeface="Arial"/>
              </a:defRPr>
            </a:pPr>
            <a:r>
              <a:rPr sz="1800" b="1" i="0">
                <a:solidFill>
                  <a:srgbClr val="111827"/>
                </a:solidFill>
                <a:latin typeface="Arial"/>
                <a:ea typeface="Arial"/>
                <a:cs typeface="Arial"/>
              </a:rPr>
              <a:t>x</a:t>
            </a:r>
          </a:p>
        </p:txBody>
      </p:sp>
      <p:sp>
        <p:nvSpPr>
          <p:cNvPr id="14" name="lr-node">
            <a:extLst>
              <a:ext uri="{FF2B5EF4-FFF2-40B4-BE49-F238E27FC236}">
                <a16:creationId xmlns:a16="http://schemas.microsoft.com/office/drawing/2014/main" id="{9D5EC2AE-DB2D-4221-B115-5552902263EC}"/>
              </a:ext>
            </a:extLst>
          </p:cNvPr>
          <p:cNvSpPr>
            <a:spLocks noGrp="1"/>
          </p:cNvSpPr>
          <p:nvPr/>
        </p:nvSpPr>
        <p:spPr>
          <a:xfrm>
            <a:off x="5143500" y="3048000"/>
            <a:ext cx="476250" cy="476250"/>
          </a:xfrm>
          <a:prstGeom prst="ellipse">
            <a:avLst/>
          </a:prstGeom>
          <a:solidFill>
            <a:srgbClr val="EAF5FB"/>
          </a:solidFill>
          <a:ln w="9525">
            <a:solidFill>
              <a:srgbClr val="6DCBF4"/>
            </a:solidFill>
            <a:prstDash val="solid"/>
          </a:ln>
        </p:spPr>
      </p:sp>
      <p:sp>
        <p:nvSpPr>
          <p:cNvPr id="15" name="lr-node-text">
            <a:extLst>
              <a:ext uri="{FF2B5EF4-FFF2-40B4-BE49-F238E27FC236}">
                <a16:creationId xmlns:a16="http://schemas.microsoft.com/office/drawing/2014/main" id="{B3D53B19-A7BC-4062-9558-0D1167652DC9}"/>
              </a:ext>
            </a:extLst>
          </p:cNvPr>
          <p:cNvSpPr>
            <a:spLocks noGrp="1"/>
          </p:cNvSpPr>
          <p:nvPr/>
        </p:nvSpPr>
        <p:spPr>
          <a:xfrm>
            <a:off x="5219700" y="3133725"/>
            <a:ext cx="323850" cy="190500"/>
          </a:xfrm>
          <a:prstGeom prst="rect">
            <a:avLst/>
          </a:prstGeom>
          <a:noFill/>
          <a:ln w="0">
            <a:noFill/>
            <a:prstDash val="solid"/>
          </a:ln>
        </p:spPr>
        <p:txBody>
          <a:bodyPr wrap="square" lIns="0" tIns="0" rIns="0" bIns="0" anchor="t">
            <a:noAutofit/>
          </a:bodyPr>
          <a:lstStyle/>
          <a:p>
            <a:pPr algn="ctr">
              <a:buNone/>
              <a:defRPr sz="1200" b="1" i="0">
                <a:solidFill>
                  <a:srgbClr val="5D58E9"/>
                </a:solidFill>
                <a:latin typeface="Arial"/>
                <a:ea typeface="Arial"/>
                <a:cs typeface="Arial"/>
              </a:defRPr>
            </a:pPr>
            <a:r>
              <a:rPr sz="1200" b="1" i="0">
                <a:solidFill>
                  <a:srgbClr val="5D58E9"/>
                </a:solidFill>
                <a:latin typeface="Arial"/>
                <a:ea typeface="Arial"/>
                <a:cs typeface="Arial"/>
              </a:rPr>
              <a:t>LR</a:t>
            </a:r>
          </a:p>
        </p:txBody>
      </p:sp>
      <p:sp>
        <p:nvSpPr>
          <p:cNvPr id="16" name="rf-node">
            <a:extLst>
              <a:ext uri="{FF2B5EF4-FFF2-40B4-BE49-F238E27FC236}">
                <a16:creationId xmlns:a16="http://schemas.microsoft.com/office/drawing/2014/main" id="{2EBFEDD1-209F-45B6-834B-6C5D25346B89}"/>
              </a:ext>
            </a:extLst>
          </p:cNvPr>
          <p:cNvSpPr>
            <a:spLocks noGrp="1"/>
          </p:cNvSpPr>
          <p:nvPr/>
        </p:nvSpPr>
        <p:spPr>
          <a:xfrm>
            <a:off x="7286625" y="3048000"/>
            <a:ext cx="476250" cy="476250"/>
          </a:xfrm>
          <a:prstGeom prst="ellipse">
            <a:avLst/>
          </a:prstGeom>
          <a:solidFill>
            <a:srgbClr val="EAF5FB"/>
          </a:solidFill>
          <a:ln w="9525">
            <a:solidFill>
              <a:srgbClr val="6DCBF4"/>
            </a:solidFill>
            <a:prstDash val="solid"/>
          </a:ln>
        </p:spPr>
      </p:sp>
      <p:sp>
        <p:nvSpPr>
          <p:cNvPr id="17" name="rf-node-text">
            <a:extLst>
              <a:ext uri="{FF2B5EF4-FFF2-40B4-BE49-F238E27FC236}">
                <a16:creationId xmlns:a16="http://schemas.microsoft.com/office/drawing/2014/main" id="{983F25B3-EAB2-4EC0-82E7-0FE26657CD03}"/>
              </a:ext>
            </a:extLst>
          </p:cNvPr>
          <p:cNvSpPr>
            <a:spLocks noGrp="1"/>
          </p:cNvSpPr>
          <p:nvPr/>
        </p:nvSpPr>
        <p:spPr>
          <a:xfrm>
            <a:off x="7362825" y="3133725"/>
            <a:ext cx="323850" cy="190500"/>
          </a:xfrm>
          <a:prstGeom prst="rect">
            <a:avLst/>
          </a:prstGeom>
          <a:noFill/>
          <a:ln w="0">
            <a:noFill/>
            <a:prstDash val="solid"/>
          </a:ln>
        </p:spPr>
        <p:txBody>
          <a:bodyPr wrap="square" lIns="0" tIns="0" rIns="0" bIns="0" anchor="t">
            <a:noAutofit/>
          </a:bodyPr>
          <a:lstStyle/>
          <a:p>
            <a:pPr algn="ctr">
              <a:buNone/>
              <a:defRPr sz="1200" b="1" i="0">
                <a:solidFill>
                  <a:srgbClr val="5D58E9"/>
                </a:solidFill>
                <a:latin typeface="Arial"/>
                <a:ea typeface="Arial"/>
                <a:cs typeface="Arial"/>
              </a:defRPr>
            </a:pPr>
            <a:r>
              <a:rPr sz="1200" b="1" i="0">
                <a:solidFill>
                  <a:srgbClr val="5D58E9"/>
                </a:solidFill>
                <a:latin typeface="Arial"/>
                <a:ea typeface="Arial"/>
                <a:cs typeface="Arial"/>
              </a:rPr>
              <a:t>RF</a:t>
            </a:r>
          </a:p>
        </p:txBody>
      </p:sp>
      <p:sp>
        <p:nvSpPr>
          <p:cNvPr id="18" name="xgb-node">
            <a:extLst>
              <a:ext uri="{FF2B5EF4-FFF2-40B4-BE49-F238E27FC236}">
                <a16:creationId xmlns:a16="http://schemas.microsoft.com/office/drawing/2014/main" id="{FB5CD8C2-8262-4675-BAF6-01D73AB922AA}"/>
              </a:ext>
            </a:extLst>
          </p:cNvPr>
          <p:cNvSpPr>
            <a:spLocks noGrp="1"/>
          </p:cNvSpPr>
          <p:nvPr/>
        </p:nvSpPr>
        <p:spPr>
          <a:xfrm>
            <a:off x="9429750" y="3048000"/>
            <a:ext cx="476250" cy="476250"/>
          </a:xfrm>
          <a:prstGeom prst="ellipse">
            <a:avLst/>
          </a:prstGeom>
          <a:solidFill>
            <a:srgbClr val="3D8DFF"/>
          </a:solidFill>
          <a:ln w="9525">
            <a:solidFill>
              <a:srgbClr val="3D8DFF"/>
            </a:solidFill>
            <a:prstDash val="solid"/>
          </a:ln>
        </p:spPr>
      </p:sp>
      <p:sp>
        <p:nvSpPr>
          <p:cNvPr id="19" name="xgb-node-text">
            <a:extLst>
              <a:ext uri="{FF2B5EF4-FFF2-40B4-BE49-F238E27FC236}">
                <a16:creationId xmlns:a16="http://schemas.microsoft.com/office/drawing/2014/main" id="{5B2FCB23-B2F7-4C4C-A055-14EC2826659D}"/>
              </a:ext>
            </a:extLst>
          </p:cNvPr>
          <p:cNvSpPr>
            <a:spLocks noGrp="1"/>
          </p:cNvSpPr>
          <p:nvPr/>
        </p:nvSpPr>
        <p:spPr>
          <a:xfrm>
            <a:off x="9467850" y="3133725"/>
            <a:ext cx="400050" cy="190500"/>
          </a:xfrm>
          <a:prstGeom prst="rect">
            <a:avLst/>
          </a:prstGeom>
          <a:noFill/>
          <a:ln w="0">
            <a:noFill/>
            <a:prstDash val="solid"/>
          </a:ln>
        </p:spPr>
        <p:txBody>
          <a:bodyPr wrap="square" lIns="0" tIns="0" rIns="0" bIns="0" anchor="t">
            <a:noAutofit/>
          </a:bodyPr>
          <a:lstStyle/>
          <a:p>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XGB</a:t>
            </a:r>
          </a:p>
        </p:txBody>
      </p:sp>
      <p:sp>
        <p:nvSpPr>
          <p:cNvPr id="20" name="input-caption">
            <a:extLst>
              <a:ext uri="{FF2B5EF4-FFF2-40B4-BE49-F238E27FC236}">
                <a16:creationId xmlns:a16="http://schemas.microsoft.com/office/drawing/2014/main" id="{990FA2C1-E391-4B7C-92C4-467544637AE3}"/>
              </a:ext>
            </a:extLst>
          </p:cNvPr>
          <p:cNvSpPr>
            <a:spLocks noGrp="1"/>
          </p:cNvSpPr>
          <p:nvPr/>
        </p:nvSpPr>
        <p:spPr>
          <a:xfrm>
            <a:off x="2781300" y="3714750"/>
            <a:ext cx="1238250" cy="438150"/>
          </a:xfrm>
          <a:prstGeom prst="rect">
            <a:avLst/>
          </a:prstGeom>
          <a:noFill/>
          <a:ln w="0">
            <a:noFill/>
            <a:prstDash val="solid"/>
          </a:ln>
        </p:spPr>
        <p:txBody>
          <a:bodyPr wrap="square" lIns="0" tIns="0" rIns="0" bIns="0" anchor="t">
            <a:noAutofit/>
          </a:bodyPr>
          <a:lstStyle/>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engineered</a:t>
            </a:r>
          </a:p>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features</a:t>
            </a:r>
          </a:p>
        </p:txBody>
      </p:sp>
      <p:sp>
        <p:nvSpPr>
          <p:cNvPr id="21" name="lr-caption">
            <a:extLst>
              <a:ext uri="{FF2B5EF4-FFF2-40B4-BE49-F238E27FC236}">
                <a16:creationId xmlns:a16="http://schemas.microsoft.com/office/drawing/2014/main" id="{270E1D19-9564-4301-B9C2-170FA1E16625}"/>
              </a:ext>
            </a:extLst>
          </p:cNvPr>
          <p:cNvSpPr>
            <a:spLocks noGrp="1"/>
          </p:cNvSpPr>
          <p:nvPr/>
        </p:nvSpPr>
        <p:spPr>
          <a:xfrm>
            <a:off x="4762500" y="3714750"/>
            <a:ext cx="1238250" cy="438150"/>
          </a:xfrm>
          <a:prstGeom prst="rect">
            <a:avLst/>
          </a:prstGeom>
          <a:noFill/>
          <a:ln w="0">
            <a:noFill/>
            <a:prstDash val="solid"/>
          </a:ln>
        </p:spPr>
        <p:txBody>
          <a:bodyPr wrap="square" lIns="0" tIns="0" rIns="0" bIns="0" anchor="t">
            <a:noAutofit/>
          </a:bodyPr>
          <a:lstStyle/>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interpretable</a:t>
            </a:r>
          </a:p>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baseline</a:t>
            </a:r>
          </a:p>
        </p:txBody>
      </p:sp>
      <p:sp>
        <p:nvSpPr>
          <p:cNvPr id="22" name="rf-caption">
            <a:extLst>
              <a:ext uri="{FF2B5EF4-FFF2-40B4-BE49-F238E27FC236}">
                <a16:creationId xmlns:a16="http://schemas.microsoft.com/office/drawing/2014/main" id="{84EE471F-9240-4F8B-AB04-6B0F91014763}"/>
              </a:ext>
            </a:extLst>
          </p:cNvPr>
          <p:cNvSpPr>
            <a:spLocks noGrp="1"/>
          </p:cNvSpPr>
          <p:nvPr/>
        </p:nvSpPr>
        <p:spPr>
          <a:xfrm>
            <a:off x="6905625" y="3714750"/>
            <a:ext cx="1238250" cy="438150"/>
          </a:xfrm>
          <a:prstGeom prst="rect">
            <a:avLst/>
          </a:prstGeom>
          <a:noFill/>
          <a:ln w="0">
            <a:noFill/>
            <a:prstDash val="solid"/>
          </a:ln>
        </p:spPr>
        <p:txBody>
          <a:bodyPr wrap="square" lIns="0" tIns="0" rIns="0" bIns="0" anchor="t">
            <a:noAutofit/>
          </a:bodyPr>
          <a:lstStyle/>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non-linear</a:t>
            </a:r>
          </a:p>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ensemble</a:t>
            </a:r>
          </a:p>
        </p:txBody>
      </p:sp>
      <p:sp>
        <p:nvSpPr>
          <p:cNvPr id="23" name="xgb-caption">
            <a:extLst>
              <a:ext uri="{FF2B5EF4-FFF2-40B4-BE49-F238E27FC236}">
                <a16:creationId xmlns:a16="http://schemas.microsoft.com/office/drawing/2014/main" id="{9FAE3BD6-4B5F-4453-8EB0-AD72AE43FE73}"/>
              </a:ext>
            </a:extLst>
          </p:cNvPr>
          <p:cNvSpPr>
            <a:spLocks noGrp="1"/>
          </p:cNvSpPr>
          <p:nvPr/>
        </p:nvSpPr>
        <p:spPr>
          <a:xfrm>
            <a:off x="9048750" y="3714750"/>
            <a:ext cx="1238250" cy="438150"/>
          </a:xfrm>
          <a:prstGeom prst="rect">
            <a:avLst/>
          </a:prstGeom>
          <a:noFill/>
          <a:ln w="0">
            <a:noFill/>
            <a:prstDash val="solid"/>
          </a:ln>
        </p:spPr>
        <p:txBody>
          <a:bodyPr wrap="square" lIns="0" tIns="0" rIns="0" bIns="0" anchor="t">
            <a:noAutofit/>
          </a:bodyPr>
          <a:lstStyle/>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boosted</a:t>
            </a:r>
          </a:p>
          <a:p>
            <a:pPr algn="ctr">
              <a:buNone/>
              <a:defRPr sz="1200" b="0" i="0">
                <a:solidFill>
                  <a:srgbClr val="536172"/>
                </a:solidFill>
                <a:latin typeface="Arial"/>
                <a:ea typeface="Arial"/>
                <a:cs typeface="Arial"/>
              </a:defRPr>
            </a:pPr>
            <a:r>
              <a:rPr sz="1200" b="0" i="0">
                <a:solidFill>
                  <a:srgbClr val="536172"/>
                </a:solidFill>
                <a:latin typeface="Arial"/>
                <a:ea typeface="Arial"/>
                <a:cs typeface="Arial"/>
              </a:rPr>
              <a:t>detector</a:t>
            </a:r>
          </a:p>
        </p:txBody>
      </p:sp>
      <p:sp>
        <p:nvSpPr>
          <p:cNvPr id="24" name="rule">
            <a:extLst>
              <a:ext uri="{FF2B5EF4-FFF2-40B4-BE49-F238E27FC236}">
                <a16:creationId xmlns:a16="http://schemas.microsoft.com/office/drawing/2014/main" id="{D2E3E1AD-9B54-4341-B098-20497ADBE12A}"/>
              </a:ext>
            </a:extLst>
          </p:cNvPr>
          <p:cNvSpPr>
            <a:spLocks noGrp="1"/>
          </p:cNvSpPr>
          <p:nvPr/>
        </p:nvSpPr>
        <p:spPr>
          <a:xfrm>
            <a:off x="533400" y="4667250"/>
            <a:ext cx="11125200" cy="9525"/>
          </a:xfrm>
          <a:prstGeom prst="rect">
            <a:avLst/>
          </a:prstGeom>
          <a:solidFill>
            <a:srgbClr val="D6DDE5"/>
          </a:solidFill>
          <a:ln w="0">
            <a:noFill/>
            <a:prstDash val="solid"/>
          </a:ln>
        </p:spPr>
      </p:sp>
      <p:sp>
        <p:nvSpPr>
          <p:cNvPr id="25" name="Oval 24">
            <a:extLst>
              <a:ext uri="{FF2B5EF4-FFF2-40B4-BE49-F238E27FC236}">
                <a16:creationId xmlns:a16="http://schemas.microsoft.com/office/drawing/2014/main" id="{26B4E575-CE03-47DB-B0B1-E1CA8970235C}"/>
              </a:ext>
            </a:extLst>
          </p:cNvPr>
          <p:cNvSpPr>
            <a:spLocks noGrp="1"/>
          </p:cNvSpPr>
          <p:nvPr/>
        </p:nvSpPr>
        <p:spPr>
          <a:xfrm>
            <a:off x="685800" y="5076825"/>
            <a:ext cx="66675" cy="66675"/>
          </a:xfrm>
          <a:prstGeom prst="ellipse">
            <a:avLst/>
          </a:prstGeom>
          <a:solidFill>
            <a:srgbClr val="E7864F"/>
          </a:solidFill>
          <a:ln w="0">
            <a:noFill/>
            <a:prstDash val="solid"/>
          </a:ln>
        </p:spPr>
      </p:sp>
      <p:sp>
        <p:nvSpPr>
          <p:cNvPr id="26" name="Rectangle 25">
            <a:extLst>
              <a:ext uri="{FF2B5EF4-FFF2-40B4-BE49-F238E27FC236}">
                <a16:creationId xmlns:a16="http://schemas.microsoft.com/office/drawing/2014/main" id="{FB565827-EFFF-4F62-959A-A1D88E1BEB4B}"/>
              </a:ext>
            </a:extLst>
          </p:cNvPr>
          <p:cNvSpPr>
            <a:spLocks noGrp="1"/>
          </p:cNvSpPr>
          <p:nvPr/>
        </p:nvSpPr>
        <p:spPr>
          <a:xfrm>
            <a:off x="876300" y="5010150"/>
            <a:ext cx="2952750" cy="3810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No SMOTE in the final pipeline.</a:t>
            </a:r>
          </a:p>
        </p:txBody>
      </p:sp>
      <p:sp>
        <p:nvSpPr>
          <p:cNvPr id="27" name="Oval 26">
            <a:extLst>
              <a:ext uri="{FF2B5EF4-FFF2-40B4-BE49-F238E27FC236}">
                <a16:creationId xmlns:a16="http://schemas.microsoft.com/office/drawing/2014/main" id="{F3DF27A8-AC29-4425-8F9B-F64B57DFAF86}"/>
              </a:ext>
            </a:extLst>
          </p:cNvPr>
          <p:cNvSpPr>
            <a:spLocks noGrp="1"/>
          </p:cNvSpPr>
          <p:nvPr/>
        </p:nvSpPr>
        <p:spPr>
          <a:xfrm>
            <a:off x="4324350" y="5076825"/>
            <a:ext cx="66675" cy="66675"/>
          </a:xfrm>
          <a:prstGeom prst="ellipse">
            <a:avLst/>
          </a:prstGeom>
          <a:solidFill>
            <a:srgbClr val="3D8DFF"/>
          </a:solidFill>
          <a:ln w="0">
            <a:noFill/>
            <a:prstDash val="solid"/>
          </a:ln>
        </p:spPr>
      </p:sp>
      <p:sp>
        <p:nvSpPr>
          <p:cNvPr id="28" name="Rectangle 27">
            <a:extLst>
              <a:ext uri="{FF2B5EF4-FFF2-40B4-BE49-F238E27FC236}">
                <a16:creationId xmlns:a16="http://schemas.microsoft.com/office/drawing/2014/main" id="{6762E1EA-5D90-4BA6-B3E0-6F254E833923}"/>
              </a:ext>
            </a:extLst>
          </p:cNvPr>
          <p:cNvSpPr>
            <a:spLocks noGrp="1"/>
          </p:cNvSpPr>
          <p:nvPr/>
        </p:nvSpPr>
        <p:spPr>
          <a:xfrm>
            <a:off x="4514850" y="5010150"/>
            <a:ext cx="2952750" cy="3810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Native class weighting handles imbalance.</a:t>
            </a:r>
          </a:p>
        </p:txBody>
      </p:sp>
      <p:sp>
        <p:nvSpPr>
          <p:cNvPr id="29" name="Oval 28">
            <a:extLst>
              <a:ext uri="{FF2B5EF4-FFF2-40B4-BE49-F238E27FC236}">
                <a16:creationId xmlns:a16="http://schemas.microsoft.com/office/drawing/2014/main" id="{9A58D1FA-CDEF-4A86-B48D-084045A5F831}"/>
              </a:ext>
            </a:extLst>
          </p:cNvPr>
          <p:cNvSpPr>
            <a:spLocks noGrp="1"/>
          </p:cNvSpPr>
          <p:nvPr/>
        </p:nvSpPr>
        <p:spPr>
          <a:xfrm>
            <a:off x="7962900" y="5076825"/>
            <a:ext cx="66675" cy="66675"/>
          </a:xfrm>
          <a:prstGeom prst="ellipse">
            <a:avLst/>
          </a:prstGeom>
          <a:solidFill>
            <a:srgbClr val="5D58E9"/>
          </a:solidFill>
          <a:ln w="0">
            <a:noFill/>
            <a:prstDash val="solid"/>
          </a:ln>
        </p:spPr>
      </p:sp>
      <p:sp>
        <p:nvSpPr>
          <p:cNvPr id="30" name="Rectangle 29">
            <a:extLst>
              <a:ext uri="{FF2B5EF4-FFF2-40B4-BE49-F238E27FC236}">
                <a16:creationId xmlns:a16="http://schemas.microsoft.com/office/drawing/2014/main" id="{79EDA699-CC11-45A7-AEAA-F0AFB9074CF4}"/>
              </a:ext>
            </a:extLst>
          </p:cNvPr>
          <p:cNvSpPr>
            <a:spLocks noGrp="1"/>
          </p:cNvSpPr>
          <p:nvPr/>
        </p:nvSpPr>
        <p:spPr>
          <a:xfrm>
            <a:off x="8153400" y="5010150"/>
            <a:ext cx="3048000" cy="3810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PR-AUC and F1 guide the comparison.</a:t>
            </a:r>
          </a:p>
        </p:txBody>
      </p:sp>
      <p:sp>
        <p:nvSpPr>
          <p:cNvPr id="31" name="verdict-tiers">
            <a:extLst>
              <a:ext uri="{FF2B5EF4-FFF2-40B4-BE49-F238E27FC236}">
                <a16:creationId xmlns:a16="http://schemas.microsoft.com/office/drawing/2014/main" id="{76C77F91-3CBF-4B97-A82B-DE5670B7C5BC}"/>
              </a:ext>
            </a:extLst>
          </p:cNvPr>
          <p:cNvSpPr>
            <a:spLocks noGrp="1"/>
          </p:cNvSpPr>
          <p:nvPr/>
        </p:nvSpPr>
        <p:spPr>
          <a:xfrm>
            <a:off x="685800" y="5810250"/>
            <a:ext cx="10096500" cy="266700"/>
          </a:xfrm>
          <a:prstGeom prst="rect">
            <a:avLst/>
          </a:prstGeom>
          <a:noFill/>
          <a:ln w="0">
            <a:noFill/>
            <a:prstDash val="solid"/>
          </a:ln>
        </p:spPr>
        <p:txBody>
          <a:bodyPr wrap="square" lIns="0" tIns="0" rIns="0" bIns="0" anchor="t">
            <a:noAutofit/>
          </a:bodyPr>
          <a:lstStyle/>
          <a:p>
            <a:pPr algn="l">
              <a:buNone/>
              <a:defRPr sz="1275" b="0" i="0">
                <a:solidFill>
                  <a:srgbClr val="536172"/>
                </a:solidFill>
                <a:latin typeface="Arial"/>
                <a:ea typeface="Arial"/>
                <a:cs typeface="Arial"/>
              </a:defRPr>
            </a:pPr>
            <a:r>
              <a:rPr sz="1275" b="0" i="0">
                <a:solidFill>
                  <a:srgbClr val="536172"/>
                </a:solidFill>
                <a:latin typeface="Arial"/>
                <a:ea typeface="Arial"/>
                <a:cs typeface="Arial"/>
              </a:rPr>
              <a:t>Runtime verdicts use three tiers: APPROVED | REVIEW REQUIRED | FRAUD BLOCKED</a:t>
            </a:r>
          </a:p>
        </p:txBody>
      </p:sp>
      <p:sp>
        <p:nvSpPr>
          <p:cNvPr id="33" name="polish-title-rail-4">
            <a:extLst>
              <a:ext uri="{FF2B5EF4-FFF2-40B4-BE49-F238E27FC236}">
                <a16:creationId xmlns:a16="http://schemas.microsoft.com/office/drawing/2014/main" id="{DBDECC68-F8C8-4999-9C17-521417A46894}"/>
              </a:ext>
            </a:extLst>
          </p:cNvPr>
          <p:cNvSpPr>
            <a:spLocks noGrp="1"/>
          </p:cNvSpPr>
          <p:nvPr/>
        </p:nvSpPr>
        <p:spPr>
          <a:xfrm>
            <a:off x="323850" y="762000"/>
            <a:ext cx="57150" cy="552450"/>
          </a:xfrm>
          <a:prstGeom prst="roundRect">
            <a:avLst>
              <a:gd name="adj" fmla="val 50000"/>
            </a:avLst>
          </a:prstGeom>
          <a:solidFill>
            <a:srgbClr val="5D58E9"/>
          </a:solidFill>
          <a:ln w="0">
            <a:noFill/>
            <a:prstDash val="solid"/>
          </a:ln>
        </p:spPr>
      </p:sp>
      <p:sp>
        <p:nvSpPr>
          <p:cNvPr id="34" name="polish-title-underline-4">
            <a:extLst>
              <a:ext uri="{FF2B5EF4-FFF2-40B4-BE49-F238E27FC236}">
                <a16:creationId xmlns:a16="http://schemas.microsoft.com/office/drawing/2014/main" id="{30EC3AB7-A6B1-4F53-B25E-8DF7CF7EF883}"/>
              </a:ext>
            </a:extLst>
          </p:cNvPr>
          <p:cNvSpPr>
            <a:spLocks noGrp="1"/>
          </p:cNvSpPr>
          <p:nvPr/>
        </p:nvSpPr>
        <p:spPr>
          <a:xfrm>
            <a:off x="533400" y="647700"/>
            <a:ext cx="876300" cy="28575"/>
          </a:xfrm>
          <a:prstGeom prst="roundRect">
            <a:avLst>
              <a:gd name="adj" fmla="val 50000"/>
            </a:avLst>
          </a:prstGeom>
          <a:solidFill>
            <a:srgbClr val="5D58E9"/>
          </a:solidFill>
          <a:ln w="0">
            <a:noFill/>
            <a:prstDash val="solid"/>
          </a:ln>
        </p:spPr>
      </p:sp>
      <p:sp>
        <p:nvSpPr>
          <p:cNvPr id="35" name="polish-progress-4-1">
            <a:extLst>
              <a:ext uri="{FF2B5EF4-FFF2-40B4-BE49-F238E27FC236}">
                <a16:creationId xmlns:a16="http://schemas.microsoft.com/office/drawing/2014/main" id="{E5692A0A-287C-4400-B741-35C062891D25}"/>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36" name="polish-progress-4-2">
            <a:extLst>
              <a:ext uri="{FF2B5EF4-FFF2-40B4-BE49-F238E27FC236}">
                <a16:creationId xmlns:a16="http://schemas.microsoft.com/office/drawing/2014/main" id="{8A1D7E84-1177-4B8D-A658-ADFFCAC4D70D}"/>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37" name="polish-progress-4-3">
            <a:extLst>
              <a:ext uri="{FF2B5EF4-FFF2-40B4-BE49-F238E27FC236}">
                <a16:creationId xmlns:a16="http://schemas.microsoft.com/office/drawing/2014/main" id="{6F366B47-2C44-4ADD-866B-057697B6C073}"/>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38" name="polish-progress-4-4">
            <a:extLst>
              <a:ext uri="{FF2B5EF4-FFF2-40B4-BE49-F238E27FC236}">
                <a16:creationId xmlns:a16="http://schemas.microsoft.com/office/drawing/2014/main" id="{E0F9318C-1D56-4B8E-B562-073FD4C09471}"/>
              </a:ext>
            </a:extLst>
          </p:cNvPr>
          <p:cNvSpPr>
            <a:spLocks noGrp="1"/>
          </p:cNvSpPr>
          <p:nvPr/>
        </p:nvSpPr>
        <p:spPr>
          <a:xfrm>
            <a:off x="5705475" y="6572250"/>
            <a:ext cx="152400" cy="28575"/>
          </a:xfrm>
          <a:prstGeom prst="roundRect">
            <a:avLst>
              <a:gd name="adj" fmla="val 50000"/>
            </a:avLst>
          </a:prstGeom>
          <a:solidFill>
            <a:srgbClr val="5D58E9"/>
          </a:solidFill>
          <a:ln w="0">
            <a:noFill/>
            <a:prstDash val="solid"/>
          </a:ln>
        </p:spPr>
      </p:sp>
      <p:sp>
        <p:nvSpPr>
          <p:cNvPr id="39" name="polish-progress-4-5">
            <a:extLst>
              <a:ext uri="{FF2B5EF4-FFF2-40B4-BE49-F238E27FC236}">
                <a16:creationId xmlns:a16="http://schemas.microsoft.com/office/drawing/2014/main" id="{1EB37A4D-A678-4BA5-840C-50AC1FC6C899}"/>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40" name="polish-progress-4-6">
            <a:extLst>
              <a:ext uri="{FF2B5EF4-FFF2-40B4-BE49-F238E27FC236}">
                <a16:creationId xmlns:a16="http://schemas.microsoft.com/office/drawing/2014/main" id="{3C9DADA4-9FF2-4F47-8C09-5C7D1061A31B}"/>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41" name="polish-progress-4-7">
            <a:extLst>
              <a:ext uri="{FF2B5EF4-FFF2-40B4-BE49-F238E27FC236}">
                <a16:creationId xmlns:a16="http://schemas.microsoft.com/office/drawing/2014/main" id="{096CBDC0-A347-4E3B-98FE-51C0DC31894A}"/>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42" name="polish-progress-4-8">
            <a:extLst>
              <a:ext uri="{FF2B5EF4-FFF2-40B4-BE49-F238E27FC236}">
                <a16:creationId xmlns:a16="http://schemas.microsoft.com/office/drawing/2014/main" id="{C6A10BD5-1C69-4D13-9538-178E39FD12A5}"/>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43" name="polish-progress-4-9">
            <a:extLst>
              <a:ext uri="{FF2B5EF4-FFF2-40B4-BE49-F238E27FC236}">
                <a16:creationId xmlns:a16="http://schemas.microsoft.com/office/drawing/2014/main" id="{CAC17ECC-067F-4DE7-9411-04715E0DED5E}"/>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44" name="polish-progress-4-10">
            <a:extLst>
              <a:ext uri="{FF2B5EF4-FFF2-40B4-BE49-F238E27FC236}">
                <a16:creationId xmlns:a16="http://schemas.microsoft.com/office/drawing/2014/main" id="{1767EF08-4773-4222-A58A-A3B3AD92650C}"/>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
        <p:nvSpPr>
          <p:cNvPr id="45" name="visual-model-tier-baseline">
            <a:extLst>
              <a:ext uri="{FF2B5EF4-FFF2-40B4-BE49-F238E27FC236}">
                <a16:creationId xmlns:a16="http://schemas.microsoft.com/office/drawing/2014/main" id="{BF2FB516-5983-4B6E-ABB1-17F7B47C8949}"/>
              </a:ext>
            </a:extLst>
          </p:cNvPr>
          <p:cNvSpPr>
            <a:spLocks noGrp="1"/>
          </p:cNvSpPr>
          <p:nvPr/>
        </p:nvSpPr>
        <p:spPr>
          <a:xfrm>
            <a:off x="4762500" y="2724150"/>
            <a:ext cx="1238250" cy="190500"/>
          </a:xfrm>
          <a:prstGeom prst="rect">
            <a:avLst/>
          </a:prstGeom>
          <a:noFill/>
          <a:ln w="0">
            <a:noFill/>
            <a:prstDash val="solid"/>
          </a:ln>
        </p:spPr>
        <p:txBody>
          <a:bodyPr wrap="square" lIns="0" tIns="0" rIns="0" bIns="0" anchor="t">
            <a:noAutofit/>
          </a:bodyPr>
          <a:lstStyle/>
          <a:p>
            <a:pPr algn="ctr">
              <a:buNone/>
              <a:defRPr sz="1200" b="1" i="0">
                <a:solidFill>
                  <a:srgbClr val="5D58E9"/>
                </a:solidFill>
                <a:latin typeface="Arial"/>
                <a:ea typeface="Arial"/>
                <a:cs typeface="Arial"/>
              </a:defRPr>
            </a:pPr>
            <a:r>
              <a:rPr sz="1200" b="1" i="0">
                <a:solidFill>
                  <a:srgbClr val="5D58E9"/>
                </a:solidFill>
                <a:latin typeface="Arial"/>
                <a:ea typeface="Arial"/>
                <a:cs typeface="Arial"/>
              </a:rPr>
              <a:t>BASELINE</a:t>
            </a:r>
          </a:p>
        </p:txBody>
      </p:sp>
      <p:sp>
        <p:nvSpPr>
          <p:cNvPr id="46" name="visual-model-tier-nonlinear">
            <a:extLst>
              <a:ext uri="{FF2B5EF4-FFF2-40B4-BE49-F238E27FC236}">
                <a16:creationId xmlns:a16="http://schemas.microsoft.com/office/drawing/2014/main" id="{CA0BD198-8334-41A6-9D76-0160FA6D88D7}"/>
              </a:ext>
            </a:extLst>
          </p:cNvPr>
          <p:cNvSpPr>
            <a:spLocks noGrp="1"/>
          </p:cNvSpPr>
          <p:nvPr/>
        </p:nvSpPr>
        <p:spPr>
          <a:xfrm>
            <a:off x="6905625" y="2724150"/>
            <a:ext cx="1238250" cy="190500"/>
          </a:xfrm>
          <a:prstGeom prst="rect">
            <a:avLst/>
          </a:prstGeom>
          <a:noFill/>
          <a:ln w="0">
            <a:noFill/>
            <a:prstDash val="solid"/>
          </a:ln>
        </p:spPr>
        <p:txBody>
          <a:bodyPr wrap="square" lIns="0" tIns="0" rIns="0" bIns="0" anchor="t">
            <a:noAutofit/>
          </a:bodyPr>
          <a:lstStyle/>
          <a:p>
            <a:pPr algn="ctr">
              <a:buNone/>
              <a:defRPr sz="1200" b="1" i="0">
                <a:solidFill>
                  <a:srgbClr val="6DCBF4"/>
                </a:solidFill>
                <a:latin typeface="Arial"/>
                <a:ea typeface="Arial"/>
                <a:cs typeface="Arial"/>
              </a:defRPr>
            </a:pPr>
            <a:r>
              <a:rPr sz="1200" b="1" i="0">
                <a:solidFill>
                  <a:srgbClr val="6DCBF4"/>
                </a:solidFill>
                <a:latin typeface="Arial"/>
                <a:ea typeface="Arial"/>
                <a:cs typeface="Arial"/>
              </a:rPr>
              <a:t>NON-LINEAR</a:t>
            </a:r>
          </a:p>
        </p:txBody>
      </p:sp>
      <p:sp>
        <p:nvSpPr>
          <p:cNvPr id="47" name="visual-model-tier-advanced">
            <a:extLst>
              <a:ext uri="{FF2B5EF4-FFF2-40B4-BE49-F238E27FC236}">
                <a16:creationId xmlns:a16="http://schemas.microsoft.com/office/drawing/2014/main" id="{B9E9C3AE-7F5E-49F6-8A5D-E4EF66191206}"/>
              </a:ext>
            </a:extLst>
          </p:cNvPr>
          <p:cNvSpPr>
            <a:spLocks noGrp="1"/>
          </p:cNvSpPr>
          <p:nvPr/>
        </p:nvSpPr>
        <p:spPr>
          <a:xfrm>
            <a:off x="9048750" y="2724150"/>
            <a:ext cx="1238250" cy="190500"/>
          </a:xfrm>
          <a:prstGeom prst="rect">
            <a:avLst/>
          </a:prstGeom>
          <a:noFill/>
          <a:ln w="0">
            <a:noFill/>
            <a:prstDash val="solid"/>
          </a:ln>
        </p:spPr>
        <p:txBody>
          <a:bodyPr wrap="square" lIns="0" tIns="0" rIns="0" bIns="0" anchor="t">
            <a:noAutofit/>
          </a:bodyPr>
          <a:lstStyle/>
          <a:p>
            <a:pPr algn="ctr">
              <a:buNone/>
              <a:defRPr sz="1200" b="1" i="0">
                <a:solidFill>
                  <a:srgbClr val="3D8DFF"/>
                </a:solidFill>
                <a:latin typeface="Arial"/>
                <a:ea typeface="Arial"/>
                <a:cs typeface="Arial"/>
              </a:defRPr>
            </a:pPr>
            <a:r>
              <a:rPr sz="1200" b="1" i="0">
                <a:solidFill>
                  <a:srgbClr val="3D8DFF"/>
                </a:solidFill>
                <a:latin typeface="Arial"/>
                <a:ea typeface="Arial"/>
                <a:cs typeface="Arial"/>
              </a:rPr>
              <a:t>ADVANCED</a:t>
            </a:r>
          </a:p>
        </p:txBody>
      </p:sp>
    </p:spTree>
    <p:extLst>
      <p:ext uri="{BB962C8B-B14F-4D97-AF65-F5344CB8AC3E}">
        <p14:creationId xmlns:p14="http://schemas.microsoft.com/office/powerpoint/2010/main" val="1041151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17" name="rule">
            <a:extLst>
              <a:ext uri="{FF2B5EF4-FFF2-40B4-BE49-F238E27FC236}">
                <a16:creationId xmlns:a16="http://schemas.microsoft.com/office/drawing/2014/main" id="{07973F0B-CC7E-46A2-888C-32B1A4ECF031}"/>
              </a:ext>
            </a:extLst>
          </p:cNvPr>
          <p:cNvSpPr>
            <a:spLocks noGrp="1"/>
          </p:cNvSpPr>
          <p:nvPr/>
        </p:nvSpPr>
        <p:spPr>
          <a:xfrm>
            <a:off x="533400" y="266700"/>
            <a:ext cx="11125200" cy="19050"/>
          </a:xfrm>
          <a:prstGeom prst="rect">
            <a:avLst/>
          </a:prstGeom>
          <a:solidFill>
            <a:srgbClr val="3D8DFF"/>
          </a:solidFill>
          <a:ln w="0">
            <a:noFill/>
            <a:prstDash val="solid"/>
          </a:ln>
        </p:spPr>
      </p:sp>
      <p:sp>
        <p:nvSpPr>
          <p:cNvPr id="2" name="section-label">
            <a:extLst>
              <a:ext uri="{FF2B5EF4-FFF2-40B4-BE49-F238E27FC236}">
                <a16:creationId xmlns:a16="http://schemas.microsoft.com/office/drawing/2014/main" id="{7BC15A72-FC05-4CEC-B36C-57F24B4EC7BC}"/>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RESULTS</a:t>
            </a:r>
          </a:p>
        </p:txBody>
      </p:sp>
      <p:sp>
        <p:nvSpPr>
          <p:cNvPr id="3" name="page-number">
            <a:extLst>
              <a:ext uri="{FF2B5EF4-FFF2-40B4-BE49-F238E27FC236}">
                <a16:creationId xmlns:a16="http://schemas.microsoft.com/office/drawing/2014/main" id="{A7C5D330-A21B-44AB-BF0A-BB94799941EF}"/>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05</a:t>
            </a:r>
          </a:p>
        </p:txBody>
      </p:sp>
      <p:sp>
        <p:nvSpPr>
          <p:cNvPr id="4" name="slide-title">
            <a:extLst>
              <a:ext uri="{FF2B5EF4-FFF2-40B4-BE49-F238E27FC236}">
                <a16:creationId xmlns:a16="http://schemas.microsoft.com/office/drawing/2014/main" id="{B418D6CA-8E71-48D7-B0EE-1471901AF4E4}"/>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XGBoost is strongest standalone; Random Forest is close</a:t>
            </a:r>
          </a:p>
        </p:txBody>
      </p:sp>
      <p:sp>
        <p:nvSpPr>
          <p:cNvPr id="5" name="slide-subtitle">
            <a:extLst>
              <a:ext uri="{FF2B5EF4-FFF2-40B4-BE49-F238E27FC236}">
                <a16:creationId xmlns:a16="http://schemas.microsoft.com/office/drawing/2014/main" id="{2A647BC1-B15E-4CDA-BF37-6759D0BFED0A}"/>
              </a:ext>
            </a:extLst>
          </p:cNvPr>
          <p:cNvSpPr>
            <a:spLocks noGrp="1"/>
          </p:cNvSpPr>
          <p:nvPr/>
        </p:nvSpPr>
        <p:spPr>
          <a:xfrm>
            <a:off x="533400" y="1295400"/>
            <a:ext cx="10668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On the 58,971-row chronological validation set, the tree models dominate the interpretable baseline.</a:t>
            </a:r>
          </a:p>
        </p:txBody>
      </p:sp>
      <p:graphicFrame>
        <p:nvGraphicFramePr>
          <p:cNvPr id="40" name="Chart"/>
          <p:cNvGraphicFramePr/>
          <p:nvPr/>
        </p:nvGraphicFramePr>
        <p:xfrm>
          <a:off x="533400" y="1809750"/>
          <a:ext cx="657225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7" name="xgb-callout">
            <a:extLst>
              <a:ext uri="{FF2B5EF4-FFF2-40B4-BE49-F238E27FC236}">
                <a16:creationId xmlns:a16="http://schemas.microsoft.com/office/drawing/2014/main" id="{15236229-CA20-4335-BEB5-4070A5B26C9B}"/>
              </a:ext>
            </a:extLst>
          </p:cNvPr>
          <p:cNvSpPr>
            <a:spLocks noGrp="1"/>
          </p:cNvSpPr>
          <p:nvPr/>
        </p:nvSpPr>
        <p:spPr>
          <a:xfrm>
            <a:off x="7620000" y="1809750"/>
            <a:ext cx="3714750" cy="4000500"/>
          </a:xfrm>
          <a:prstGeom prst="roundRect">
            <a:avLst>
              <a:gd name="adj" fmla="val 3077"/>
            </a:avLst>
          </a:prstGeom>
          <a:solidFill>
            <a:srgbClr val="EAF5FB"/>
          </a:solidFill>
          <a:ln w="9525">
            <a:solidFill>
              <a:srgbClr val="D6DDE5"/>
            </a:solidFill>
            <a:prstDash val="solid"/>
          </a:ln>
        </p:spPr>
      </p:sp>
      <p:sp>
        <p:nvSpPr>
          <p:cNvPr id="8" name="xgb-callout-title">
            <a:extLst>
              <a:ext uri="{FF2B5EF4-FFF2-40B4-BE49-F238E27FC236}">
                <a16:creationId xmlns:a16="http://schemas.microsoft.com/office/drawing/2014/main" id="{02089829-BC27-4211-A112-448E67326DCA}"/>
              </a:ext>
            </a:extLst>
          </p:cNvPr>
          <p:cNvSpPr>
            <a:spLocks noGrp="1"/>
          </p:cNvSpPr>
          <p:nvPr/>
        </p:nvSpPr>
        <p:spPr>
          <a:xfrm>
            <a:off x="7924800" y="2152650"/>
            <a:ext cx="2857500" cy="323850"/>
          </a:xfrm>
          <a:prstGeom prst="rect">
            <a:avLst/>
          </a:prstGeom>
          <a:noFill/>
          <a:ln w="0">
            <a:noFill/>
            <a:prstDash val="solid"/>
          </a:ln>
        </p:spPr>
        <p:txBody>
          <a:bodyPr wrap="square" lIns="0" tIns="0" rIns="0" bIns="0" anchor="t">
            <a:noAutofit/>
          </a:bodyPr>
          <a:lstStyle/>
          <a:p>
            <a:pPr algn="l">
              <a:buNone/>
              <a:defRPr sz="1800" b="1" i="0">
                <a:solidFill>
                  <a:srgbClr val="3D8DFF"/>
                </a:solidFill>
                <a:latin typeface="Arial"/>
                <a:ea typeface="Arial"/>
                <a:cs typeface="Arial"/>
              </a:defRPr>
            </a:pPr>
            <a:r>
              <a:rPr sz="1800" b="1" i="0">
                <a:solidFill>
                  <a:srgbClr val="3D8DFF"/>
                </a:solidFill>
                <a:latin typeface="Arial"/>
                <a:ea typeface="Arial"/>
                <a:cs typeface="Arial"/>
              </a:rPr>
              <a:t>XGBoost</a:t>
            </a:r>
          </a:p>
        </p:txBody>
      </p:sp>
      <p:sp>
        <p:nvSpPr>
          <p:cNvPr id="9" name="xgb-precision">
            <a:extLst>
              <a:ext uri="{FF2B5EF4-FFF2-40B4-BE49-F238E27FC236}">
                <a16:creationId xmlns:a16="http://schemas.microsoft.com/office/drawing/2014/main" id="{DD72ED62-18FE-435A-8DEE-37CCF490DA46}"/>
              </a:ext>
            </a:extLst>
          </p:cNvPr>
          <p:cNvSpPr>
            <a:spLocks noGrp="1"/>
          </p:cNvSpPr>
          <p:nvPr/>
        </p:nvSpPr>
        <p:spPr>
          <a:xfrm>
            <a:off x="7924800" y="2647950"/>
            <a:ext cx="2857500" cy="571500"/>
          </a:xfrm>
          <a:prstGeom prst="rect">
            <a:avLst/>
          </a:prstGeom>
          <a:noFill/>
          <a:ln w="0">
            <a:noFill/>
            <a:prstDash val="solid"/>
          </a:ln>
        </p:spPr>
        <p:txBody>
          <a:bodyPr wrap="square" lIns="0" tIns="0" rIns="0" bIns="0" anchor="t">
            <a:noAutofit/>
          </a:bodyPr>
          <a:lstStyle/>
          <a:p>
            <a:pPr algn="l">
              <a:buNone/>
              <a:defRPr sz="2850" b="1" i="0">
                <a:solidFill>
                  <a:srgbClr val="111827"/>
                </a:solidFill>
                <a:latin typeface="Arial"/>
                <a:ea typeface="Arial"/>
                <a:cs typeface="Arial"/>
              </a:defRPr>
            </a:pPr>
            <a:r>
              <a:rPr sz="2850" b="1" i="0">
                <a:solidFill>
                  <a:srgbClr val="111827"/>
                </a:solidFill>
                <a:latin typeface="Arial"/>
                <a:ea typeface="Arial"/>
                <a:cs typeface="Arial"/>
              </a:rPr>
              <a:t>92.63%</a:t>
            </a:r>
          </a:p>
        </p:txBody>
      </p:sp>
      <p:sp>
        <p:nvSpPr>
          <p:cNvPr id="10" name="metric-label">
            <a:extLst>
              <a:ext uri="{FF2B5EF4-FFF2-40B4-BE49-F238E27FC236}">
                <a16:creationId xmlns:a16="http://schemas.microsoft.com/office/drawing/2014/main" id="{A5F03424-AE00-491B-B0F7-8618425D86C3}"/>
              </a:ext>
            </a:extLst>
          </p:cNvPr>
          <p:cNvSpPr>
            <a:spLocks noGrp="1"/>
          </p:cNvSpPr>
          <p:nvPr/>
        </p:nvSpPr>
        <p:spPr>
          <a:xfrm>
            <a:off x="7924800" y="3238500"/>
            <a:ext cx="2857500" cy="419100"/>
          </a:xfrm>
          <a:prstGeom prst="rect">
            <a:avLst/>
          </a:prstGeom>
          <a:noFill/>
          <a:ln w="0">
            <a:noFill/>
            <a:prstDash val="solid"/>
          </a:ln>
        </p:spPr>
        <p:txBody>
          <a:bodyPr wrap="square" lIns="0" tIns="0" rIns="0" bIns="0" anchor="t">
            <a:noAutofit/>
          </a:bodyPr>
          <a:lstStyle/>
          <a:p>
            <a:pPr algn="l">
              <a:buNone/>
              <a:defRPr sz="1200" b="0" i="0">
                <a:solidFill>
                  <a:srgbClr val="536172"/>
                </a:solidFill>
                <a:latin typeface="Arial"/>
                <a:ea typeface="Arial"/>
                <a:cs typeface="Arial"/>
              </a:defRPr>
            </a:pPr>
            <a:r>
              <a:rPr sz="1200" b="0" i="0">
                <a:solidFill>
                  <a:srgbClr val="536172"/>
                </a:solidFill>
                <a:latin typeface="Arial"/>
                <a:ea typeface="Arial"/>
                <a:cs typeface="Arial"/>
              </a:rPr>
              <a:t>precision</a:t>
            </a:r>
          </a:p>
        </p:txBody>
      </p:sp>
      <p:sp>
        <p:nvSpPr>
          <p:cNvPr id="11" name="xgb-recall">
            <a:extLst>
              <a:ext uri="{FF2B5EF4-FFF2-40B4-BE49-F238E27FC236}">
                <a16:creationId xmlns:a16="http://schemas.microsoft.com/office/drawing/2014/main" id="{F04AB884-C33F-42BC-8E67-6EBE0DECB1B2}"/>
              </a:ext>
            </a:extLst>
          </p:cNvPr>
          <p:cNvSpPr>
            <a:spLocks noGrp="1"/>
          </p:cNvSpPr>
          <p:nvPr/>
        </p:nvSpPr>
        <p:spPr>
          <a:xfrm>
            <a:off x="7924800" y="3600450"/>
            <a:ext cx="2857500" cy="571500"/>
          </a:xfrm>
          <a:prstGeom prst="rect">
            <a:avLst/>
          </a:prstGeom>
          <a:noFill/>
          <a:ln w="0">
            <a:noFill/>
            <a:prstDash val="solid"/>
          </a:ln>
        </p:spPr>
        <p:txBody>
          <a:bodyPr wrap="square" lIns="0" tIns="0" rIns="0" bIns="0" anchor="t">
            <a:noAutofit/>
          </a:bodyPr>
          <a:lstStyle/>
          <a:p>
            <a:pPr algn="l">
              <a:buNone/>
              <a:defRPr sz="2850" b="1" i="0">
                <a:solidFill>
                  <a:srgbClr val="111827"/>
                </a:solidFill>
                <a:latin typeface="Arial"/>
                <a:ea typeface="Arial"/>
                <a:cs typeface="Arial"/>
              </a:defRPr>
            </a:pPr>
            <a:r>
              <a:rPr sz="2850" b="1" i="0">
                <a:solidFill>
                  <a:srgbClr val="111827"/>
                </a:solidFill>
                <a:latin typeface="Arial"/>
                <a:ea typeface="Arial"/>
                <a:cs typeface="Arial"/>
              </a:rPr>
              <a:t>92.29%</a:t>
            </a:r>
          </a:p>
        </p:txBody>
      </p:sp>
      <p:sp>
        <p:nvSpPr>
          <p:cNvPr id="12" name="metric-label">
            <a:extLst>
              <a:ext uri="{FF2B5EF4-FFF2-40B4-BE49-F238E27FC236}">
                <a16:creationId xmlns:a16="http://schemas.microsoft.com/office/drawing/2014/main" id="{FE386511-33FD-4187-989B-61484788ADA6}"/>
              </a:ext>
            </a:extLst>
          </p:cNvPr>
          <p:cNvSpPr>
            <a:spLocks noGrp="1"/>
          </p:cNvSpPr>
          <p:nvPr/>
        </p:nvSpPr>
        <p:spPr>
          <a:xfrm>
            <a:off x="7924800" y="4191000"/>
            <a:ext cx="2857500" cy="419100"/>
          </a:xfrm>
          <a:prstGeom prst="rect">
            <a:avLst/>
          </a:prstGeom>
          <a:noFill/>
          <a:ln w="0">
            <a:noFill/>
            <a:prstDash val="solid"/>
          </a:ln>
        </p:spPr>
        <p:txBody>
          <a:bodyPr wrap="square" lIns="0" tIns="0" rIns="0" bIns="0" anchor="t">
            <a:noAutofit/>
          </a:bodyPr>
          <a:lstStyle/>
          <a:p>
            <a:pPr algn="l">
              <a:buNone/>
              <a:defRPr sz="1200" b="0" i="0">
                <a:solidFill>
                  <a:srgbClr val="536172"/>
                </a:solidFill>
                <a:latin typeface="Arial"/>
                <a:ea typeface="Arial"/>
                <a:cs typeface="Arial"/>
              </a:defRPr>
            </a:pPr>
            <a:r>
              <a:rPr sz="1200" b="0" i="0">
                <a:solidFill>
                  <a:srgbClr val="536172"/>
                </a:solidFill>
                <a:latin typeface="Arial"/>
                <a:ea typeface="Arial"/>
                <a:cs typeface="Arial"/>
              </a:rPr>
              <a:t>recall</a:t>
            </a:r>
          </a:p>
        </p:txBody>
      </p:sp>
      <p:sp>
        <p:nvSpPr>
          <p:cNvPr id="13" name="xgb-prauc">
            <a:extLst>
              <a:ext uri="{FF2B5EF4-FFF2-40B4-BE49-F238E27FC236}">
                <a16:creationId xmlns:a16="http://schemas.microsoft.com/office/drawing/2014/main" id="{7E106EA9-05BC-411C-ACEE-7BBC34CA7182}"/>
              </a:ext>
            </a:extLst>
          </p:cNvPr>
          <p:cNvSpPr>
            <a:spLocks noGrp="1"/>
          </p:cNvSpPr>
          <p:nvPr/>
        </p:nvSpPr>
        <p:spPr>
          <a:xfrm>
            <a:off x="7924800" y="4552950"/>
            <a:ext cx="2857500" cy="571500"/>
          </a:xfrm>
          <a:prstGeom prst="rect">
            <a:avLst/>
          </a:prstGeom>
          <a:noFill/>
          <a:ln w="0">
            <a:noFill/>
            <a:prstDash val="solid"/>
          </a:ln>
        </p:spPr>
        <p:txBody>
          <a:bodyPr wrap="square" lIns="0" tIns="0" rIns="0" bIns="0" anchor="t">
            <a:noAutofit/>
          </a:bodyPr>
          <a:lstStyle/>
          <a:p>
            <a:pPr algn="l">
              <a:buNone/>
              <a:defRPr sz="2850" b="1" i="0">
                <a:solidFill>
                  <a:srgbClr val="3D8DFF"/>
                </a:solidFill>
                <a:latin typeface="Arial"/>
                <a:ea typeface="Arial"/>
                <a:cs typeface="Arial"/>
              </a:defRPr>
            </a:pPr>
            <a:r>
              <a:rPr sz="2850" b="1" i="0">
                <a:solidFill>
                  <a:srgbClr val="3D8DFF"/>
                </a:solidFill>
                <a:latin typeface="Arial"/>
                <a:ea typeface="Arial"/>
                <a:cs typeface="Arial"/>
              </a:rPr>
              <a:t>97.60%</a:t>
            </a:r>
          </a:p>
        </p:txBody>
      </p:sp>
      <p:sp>
        <p:nvSpPr>
          <p:cNvPr id="14" name="metric-label">
            <a:extLst>
              <a:ext uri="{FF2B5EF4-FFF2-40B4-BE49-F238E27FC236}">
                <a16:creationId xmlns:a16="http://schemas.microsoft.com/office/drawing/2014/main" id="{9A7F78EC-48A5-4DD0-8B04-CD9572BA61F7}"/>
              </a:ext>
            </a:extLst>
          </p:cNvPr>
          <p:cNvSpPr>
            <a:spLocks noGrp="1"/>
          </p:cNvSpPr>
          <p:nvPr/>
        </p:nvSpPr>
        <p:spPr>
          <a:xfrm>
            <a:off x="7924800" y="5143500"/>
            <a:ext cx="2857500" cy="419100"/>
          </a:xfrm>
          <a:prstGeom prst="rect">
            <a:avLst/>
          </a:prstGeom>
          <a:noFill/>
          <a:ln w="0">
            <a:noFill/>
            <a:prstDash val="solid"/>
          </a:ln>
        </p:spPr>
        <p:txBody>
          <a:bodyPr wrap="square" lIns="0" tIns="0" rIns="0" bIns="0" anchor="t">
            <a:noAutofit/>
          </a:bodyPr>
          <a:lstStyle/>
          <a:p>
            <a:pPr algn="l">
              <a:buNone/>
              <a:defRPr sz="1200" b="0" i="0">
                <a:solidFill>
                  <a:srgbClr val="536172"/>
                </a:solidFill>
                <a:latin typeface="Arial"/>
                <a:ea typeface="Arial"/>
                <a:cs typeface="Arial"/>
              </a:defRPr>
            </a:pPr>
            <a:r>
              <a:rPr sz="1200" b="0" i="0">
                <a:solidFill>
                  <a:srgbClr val="536172"/>
                </a:solidFill>
                <a:latin typeface="Arial"/>
                <a:ea typeface="Arial"/>
                <a:cs typeface="Arial"/>
              </a:rPr>
              <a:t>PR-AUC</a:t>
            </a:r>
          </a:p>
        </p:txBody>
      </p:sp>
      <p:sp>
        <p:nvSpPr>
          <p:cNvPr id="15" name="results-note">
            <a:extLst>
              <a:ext uri="{FF2B5EF4-FFF2-40B4-BE49-F238E27FC236}">
                <a16:creationId xmlns:a16="http://schemas.microsoft.com/office/drawing/2014/main" id="{5C24FDD4-160F-4346-A4BB-561B3200A62D}"/>
              </a:ext>
            </a:extLst>
          </p:cNvPr>
          <p:cNvSpPr>
            <a:spLocks noGrp="1"/>
          </p:cNvSpPr>
          <p:nvPr/>
        </p:nvSpPr>
        <p:spPr>
          <a:xfrm>
            <a:off x="7924800" y="5429250"/>
            <a:ext cx="3048000" cy="457200"/>
          </a:xfrm>
          <a:prstGeom prst="rect">
            <a:avLst/>
          </a:prstGeom>
          <a:noFill/>
          <a:ln w="0">
            <a:noFill/>
            <a:prstDash val="solid"/>
          </a:ln>
        </p:spPr>
        <p:txBody>
          <a:bodyPr wrap="square" lIns="0" tIns="0" rIns="0" bIns="0" anchor="t">
            <a:noAutofit/>
          </a:bodyPr>
          <a:lstStyle/>
          <a:p>
            <a:pPr algn="l">
              <a:buNone/>
              <a:defRPr sz="1125" b="0" i="0">
                <a:solidFill>
                  <a:srgbClr val="536172"/>
                </a:solidFill>
                <a:latin typeface="Arial"/>
                <a:ea typeface="Arial"/>
                <a:cs typeface="Arial"/>
              </a:defRPr>
            </a:pPr>
            <a:r>
              <a:rPr sz="1125" b="0" i="0">
                <a:solidFill>
                  <a:srgbClr val="536172"/>
                </a:solidFill>
                <a:latin typeface="Arial"/>
                <a:ea typeface="Arial"/>
                <a:cs typeface="Arial"/>
              </a:rPr>
              <a:t>RF: 91.29% F1 | 96.23% PR-AUC</a:t>
            </a:r>
          </a:p>
          <a:p>
            <a:pPr algn="l">
              <a:buNone/>
              <a:defRPr sz="1125" b="0" i="0">
                <a:solidFill>
                  <a:srgbClr val="536172"/>
                </a:solidFill>
                <a:latin typeface="Arial"/>
                <a:ea typeface="Arial"/>
                <a:cs typeface="Arial"/>
              </a:defRPr>
            </a:pPr>
            <a:r>
              <a:rPr sz="1125" b="0" i="0">
                <a:solidFill>
                  <a:srgbClr val="536172"/>
                </a:solidFill>
                <a:latin typeface="Arial"/>
                <a:ea typeface="Arial"/>
                <a:cs typeface="Arial"/>
              </a:rPr>
              <a:t>LR remains the sensitivity-oriented baseline.</a:t>
            </a:r>
          </a:p>
        </p:txBody>
      </p:sp>
      <p:sp>
        <p:nvSpPr>
          <p:cNvPr id="16" name="accuracy-note">
            <a:extLst>
              <a:ext uri="{FF2B5EF4-FFF2-40B4-BE49-F238E27FC236}">
                <a16:creationId xmlns:a16="http://schemas.microsoft.com/office/drawing/2014/main" id="{47A77D18-F567-4DEA-9DB4-300D5C6A17D7}"/>
              </a:ext>
            </a:extLst>
          </p:cNvPr>
          <p:cNvSpPr>
            <a:spLocks noGrp="1"/>
          </p:cNvSpPr>
          <p:nvPr/>
        </p:nvSpPr>
        <p:spPr>
          <a:xfrm>
            <a:off x="533400" y="6057900"/>
            <a:ext cx="6667500" cy="228600"/>
          </a:xfrm>
          <a:prstGeom prst="rect">
            <a:avLst/>
          </a:prstGeom>
          <a:noFill/>
          <a:ln w="0">
            <a:noFill/>
            <a:prstDash val="solid"/>
          </a:ln>
        </p:spPr>
        <p:txBody>
          <a:bodyPr wrap="square" lIns="0" tIns="0" rIns="0" bIns="0" anchor="t">
            <a:noAutofit/>
          </a:bodyPr>
          <a:lstStyle/>
          <a:p>
            <a:pPr algn="l">
              <a:buNone/>
              <a:defRPr sz="1050" b="0" i="0">
                <a:solidFill>
                  <a:srgbClr val="8190A0"/>
                </a:solidFill>
                <a:latin typeface="Arial"/>
                <a:ea typeface="Arial"/>
                <a:cs typeface="Arial"/>
              </a:defRPr>
            </a:pPr>
            <a:r>
              <a:rPr sz="1050" b="0" i="0">
                <a:solidFill>
                  <a:srgbClr val="8190A0"/>
                </a:solidFill>
                <a:latin typeface="Arial"/>
                <a:ea typeface="Arial"/>
                <a:cs typeface="Arial"/>
              </a:rPr>
              <a:t>Accuracy is omitted from the chart because all three models exceed 99% under the 81:1 class imbalance.</a:t>
            </a:r>
          </a:p>
        </p:txBody>
      </p:sp>
      <p:sp>
        <p:nvSpPr>
          <p:cNvPr id="19" name="polish-title-rail-5">
            <a:extLst>
              <a:ext uri="{FF2B5EF4-FFF2-40B4-BE49-F238E27FC236}">
                <a16:creationId xmlns:a16="http://schemas.microsoft.com/office/drawing/2014/main" id="{73120548-07A7-42A5-9625-D28EAFF3F828}"/>
              </a:ext>
            </a:extLst>
          </p:cNvPr>
          <p:cNvSpPr>
            <a:spLocks noGrp="1"/>
          </p:cNvSpPr>
          <p:nvPr/>
        </p:nvSpPr>
        <p:spPr>
          <a:xfrm>
            <a:off x="323850" y="762000"/>
            <a:ext cx="57150" cy="552450"/>
          </a:xfrm>
          <a:prstGeom prst="roundRect">
            <a:avLst>
              <a:gd name="adj" fmla="val 50000"/>
            </a:avLst>
          </a:prstGeom>
          <a:solidFill>
            <a:srgbClr val="3D8DFF"/>
          </a:solidFill>
          <a:ln w="0">
            <a:noFill/>
            <a:prstDash val="solid"/>
          </a:ln>
        </p:spPr>
      </p:sp>
      <p:sp>
        <p:nvSpPr>
          <p:cNvPr id="20" name="polish-title-underline-5">
            <a:extLst>
              <a:ext uri="{FF2B5EF4-FFF2-40B4-BE49-F238E27FC236}">
                <a16:creationId xmlns:a16="http://schemas.microsoft.com/office/drawing/2014/main" id="{98979B8C-39DD-4F74-A242-9FD9C32948FF}"/>
              </a:ext>
            </a:extLst>
          </p:cNvPr>
          <p:cNvSpPr>
            <a:spLocks noGrp="1"/>
          </p:cNvSpPr>
          <p:nvPr/>
        </p:nvSpPr>
        <p:spPr>
          <a:xfrm>
            <a:off x="533400" y="647700"/>
            <a:ext cx="876300" cy="28575"/>
          </a:xfrm>
          <a:prstGeom prst="roundRect">
            <a:avLst>
              <a:gd name="adj" fmla="val 50000"/>
            </a:avLst>
          </a:prstGeom>
          <a:solidFill>
            <a:srgbClr val="3D8DFF"/>
          </a:solidFill>
          <a:ln w="0">
            <a:noFill/>
            <a:prstDash val="solid"/>
          </a:ln>
        </p:spPr>
      </p:sp>
      <p:sp>
        <p:nvSpPr>
          <p:cNvPr id="21" name="polish-progress-5-1">
            <a:extLst>
              <a:ext uri="{FF2B5EF4-FFF2-40B4-BE49-F238E27FC236}">
                <a16:creationId xmlns:a16="http://schemas.microsoft.com/office/drawing/2014/main" id="{AAADCC8D-D294-4526-890D-01018F916EEF}"/>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22" name="polish-progress-5-2">
            <a:extLst>
              <a:ext uri="{FF2B5EF4-FFF2-40B4-BE49-F238E27FC236}">
                <a16:creationId xmlns:a16="http://schemas.microsoft.com/office/drawing/2014/main" id="{E36D6186-9D38-42E7-A8E8-C180FC762271}"/>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23" name="polish-progress-5-3">
            <a:extLst>
              <a:ext uri="{FF2B5EF4-FFF2-40B4-BE49-F238E27FC236}">
                <a16:creationId xmlns:a16="http://schemas.microsoft.com/office/drawing/2014/main" id="{F4199B2C-D402-487B-B673-409192AD5505}"/>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24" name="polish-progress-5-4">
            <a:extLst>
              <a:ext uri="{FF2B5EF4-FFF2-40B4-BE49-F238E27FC236}">
                <a16:creationId xmlns:a16="http://schemas.microsoft.com/office/drawing/2014/main" id="{B7BAE533-56C1-4848-960A-8DFDDBD5B477}"/>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25" name="polish-progress-5-5">
            <a:extLst>
              <a:ext uri="{FF2B5EF4-FFF2-40B4-BE49-F238E27FC236}">
                <a16:creationId xmlns:a16="http://schemas.microsoft.com/office/drawing/2014/main" id="{00ADB59B-FD16-40EC-B640-D204509024CB}"/>
              </a:ext>
            </a:extLst>
          </p:cNvPr>
          <p:cNvSpPr>
            <a:spLocks noGrp="1"/>
          </p:cNvSpPr>
          <p:nvPr/>
        </p:nvSpPr>
        <p:spPr>
          <a:xfrm>
            <a:off x="5915025" y="6572250"/>
            <a:ext cx="152400" cy="28575"/>
          </a:xfrm>
          <a:prstGeom prst="roundRect">
            <a:avLst>
              <a:gd name="adj" fmla="val 50000"/>
            </a:avLst>
          </a:prstGeom>
          <a:solidFill>
            <a:srgbClr val="3D8DFF"/>
          </a:solidFill>
          <a:ln w="0">
            <a:noFill/>
            <a:prstDash val="solid"/>
          </a:ln>
        </p:spPr>
      </p:sp>
      <p:sp>
        <p:nvSpPr>
          <p:cNvPr id="26" name="polish-progress-5-6">
            <a:extLst>
              <a:ext uri="{FF2B5EF4-FFF2-40B4-BE49-F238E27FC236}">
                <a16:creationId xmlns:a16="http://schemas.microsoft.com/office/drawing/2014/main" id="{C2A1886A-D92A-4ED9-8779-962308B1F242}"/>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27" name="polish-progress-5-7">
            <a:extLst>
              <a:ext uri="{FF2B5EF4-FFF2-40B4-BE49-F238E27FC236}">
                <a16:creationId xmlns:a16="http://schemas.microsoft.com/office/drawing/2014/main" id="{77F65623-41B3-4AA3-A121-1D9A792F89C2}"/>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28" name="polish-progress-5-8">
            <a:extLst>
              <a:ext uri="{FF2B5EF4-FFF2-40B4-BE49-F238E27FC236}">
                <a16:creationId xmlns:a16="http://schemas.microsoft.com/office/drawing/2014/main" id="{032E6778-05F5-4A36-85AF-2655B9923732}"/>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29" name="polish-progress-5-9">
            <a:extLst>
              <a:ext uri="{FF2B5EF4-FFF2-40B4-BE49-F238E27FC236}">
                <a16:creationId xmlns:a16="http://schemas.microsoft.com/office/drawing/2014/main" id="{A79BC3B0-31C6-4634-A7B9-A21D228E3B6E}"/>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30" name="polish-progress-5-10">
            <a:extLst>
              <a:ext uri="{FF2B5EF4-FFF2-40B4-BE49-F238E27FC236}">
                <a16:creationId xmlns:a16="http://schemas.microsoft.com/office/drawing/2014/main" id="{6B8D09BE-3A19-4F85-BD15-0DA347B81711}"/>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
        <p:nvSpPr>
          <p:cNvPr id="32" name="visual-results-best-label">
            <a:extLst>
              <a:ext uri="{FF2B5EF4-FFF2-40B4-BE49-F238E27FC236}">
                <a16:creationId xmlns:a16="http://schemas.microsoft.com/office/drawing/2014/main" id="{04F8AED5-85F0-447C-ADCA-A98E0021BF6D}"/>
              </a:ext>
            </a:extLst>
          </p:cNvPr>
          <p:cNvSpPr>
            <a:spLocks noGrp="1"/>
          </p:cNvSpPr>
          <p:nvPr/>
        </p:nvSpPr>
        <p:spPr>
          <a:xfrm>
            <a:off x="9810750" y="2171700"/>
            <a:ext cx="1257300" cy="190500"/>
          </a:xfrm>
          <a:prstGeom prst="rect">
            <a:avLst/>
          </a:prstGeom>
          <a:noFill/>
          <a:ln w="0">
            <a:noFill/>
            <a:prstDash val="solid"/>
          </a:ln>
        </p:spPr>
        <p:txBody>
          <a:bodyPr wrap="square" lIns="0" tIns="0" rIns="0" bIns="0" anchor="t">
            <a:noAutofit/>
          </a:bodyPr>
          <a:lstStyle/>
          <a:p>
            <a:pPr algn="r">
              <a:buNone/>
              <a:defRPr sz="1200" b="1" i="0">
                <a:solidFill>
                  <a:srgbClr val="3D8DFF"/>
                </a:solidFill>
                <a:latin typeface="Arial"/>
                <a:ea typeface="Arial"/>
                <a:cs typeface="Arial"/>
              </a:defRPr>
            </a:pPr>
            <a:r>
              <a:rPr sz="1200" b="1" i="0">
                <a:solidFill>
                  <a:srgbClr val="3D8DFF"/>
                </a:solidFill>
                <a:latin typeface="Arial"/>
                <a:ea typeface="Arial"/>
                <a:cs typeface="Arial"/>
              </a:rPr>
              <a:t>BEST STANDALONE</a:t>
            </a:r>
          </a:p>
        </p:txBody>
      </p:sp>
      <p:sp>
        <p:nvSpPr>
          <p:cNvPr id="33" name="visual-results-callout-rule">
            <a:extLst>
              <a:ext uri="{FF2B5EF4-FFF2-40B4-BE49-F238E27FC236}">
                <a16:creationId xmlns:a16="http://schemas.microsoft.com/office/drawing/2014/main" id="{A6F3EEF5-E548-4C15-A644-2E8747F3C647}"/>
              </a:ext>
            </a:extLst>
          </p:cNvPr>
          <p:cNvSpPr>
            <a:spLocks noGrp="1"/>
          </p:cNvSpPr>
          <p:nvPr/>
        </p:nvSpPr>
        <p:spPr>
          <a:xfrm>
            <a:off x="7924800" y="2552700"/>
            <a:ext cx="2857500" cy="19050"/>
          </a:xfrm>
          <a:prstGeom prst="roundRect">
            <a:avLst>
              <a:gd name="adj" fmla="val 50000"/>
            </a:avLst>
          </a:prstGeom>
          <a:solidFill>
            <a:srgbClr val="3D8DFF"/>
          </a:solidFill>
          <a:ln w="0">
            <a:noFill/>
            <a:prstDash val="solid"/>
          </a:ln>
        </p:spPr>
      </p:sp>
    </p:spTree>
    <p:extLst>
      <p:ext uri="{BB962C8B-B14F-4D97-AF65-F5344CB8AC3E}">
        <p14:creationId xmlns:p14="http://schemas.microsoft.com/office/powerpoint/2010/main" val="328930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9" name="rule">
            <a:extLst>
              <a:ext uri="{FF2B5EF4-FFF2-40B4-BE49-F238E27FC236}">
                <a16:creationId xmlns:a16="http://schemas.microsoft.com/office/drawing/2014/main" id="{66ADA59C-3B98-4A4E-8454-C4D5B3ECB77E}"/>
              </a:ext>
            </a:extLst>
          </p:cNvPr>
          <p:cNvSpPr>
            <a:spLocks noGrp="1"/>
          </p:cNvSpPr>
          <p:nvPr/>
        </p:nvSpPr>
        <p:spPr>
          <a:xfrm>
            <a:off x="533400" y="266700"/>
            <a:ext cx="11125200" cy="19050"/>
          </a:xfrm>
          <a:prstGeom prst="rect">
            <a:avLst/>
          </a:prstGeom>
          <a:solidFill>
            <a:srgbClr val="3D8DFF"/>
          </a:solidFill>
          <a:ln w="0">
            <a:noFill/>
            <a:prstDash val="solid"/>
          </a:ln>
        </p:spPr>
      </p:sp>
      <p:sp>
        <p:nvSpPr>
          <p:cNvPr id="2" name="section-label">
            <a:extLst>
              <a:ext uri="{FF2B5EF4-FFF2-40B4-BE49-F238E27FC236}">
                <a16:creationId xmlns:a16="http://schemas.microsoft.com/office/drawing/2014/main" id="{6A444B42-2D1A-481F-98DD-B9D80F0C939F}"/>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EXPLAINABILITY AND ENSEMBLE</a:t>
            </a:r>
          </a:p>
        </p:txBody>
      </p:sp>
      <p:sp>
        <p:nvSpPr>
          <p:cNvPr id="3" name="page-number">
            <a:extLst>
              <a:ext uri="{FF2B5EF4-FFF2-40B4-BE49-F238E27FC236}">
                <a16:creationId xmlns:a16="http://schemas.microsoft.com/office/drawing/2014/main" id="{80125B01-F680-4707-A0EC-97335E34CE5E}"/>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06</a:t>
            </a:r>
          </a:p>
        </p:txBody>
      </p:sp>
      <p:sp>
        <p:nvSpPr>
          <p:cNvPr id="4" name="slide-title">
            <a:extLst>
              <a:ext uri="{FF2B5EF4-FFF2-40B4-BE49-F238E27FC236}">
                <a16:creationId xmlns:a16="http://schemas.microsoft.com/office/drawing/2014/main" id="{D9718A77-6709-49E0-80D0-8B598E66163A}"/>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A single strong signal can escalate the final verdict</a:t>
            </a:r>
          </a:p>
        </p:txBody>
      </p:sp>
      <p:sp>
        <p:nvSpPr>
          <p:cNvPr id="5" name="slide-subtitle">
            <a:extLst>
              <a:ext uri="{FF2B5EF4-FFF2-40B4-BE49-F238E27FC236}">
                <a16:creationId xmlns:a16="http://schemas.microsoft.com/office/drawing/2014/main" id="{E5491262-08E1-42C4-BFBC-E26FF5011E97}"/>
              </a:ext>
            </a:extLst>
          </p:cNvPr>
          <p:cNvSpPr>
            <a:spLocks noGrp="1"/>
          </p:cNvSpPr>
          <p:nvPr/>
        </p:nvSpPr>
        <p:spPr>
          <a:xfrm>
            <a:off x="533400" y="1295400"/>
            <a:ext cx="10668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SHAP explains the signal; the ensemble prevents disagreement from hiding a high-risk case.</a:t>
            </a:r>
          </a:p>
        </p:txBody>
      </p:sp>
      <p:sp>
        <p:nvSpPr>
          <p:cNvPr id="6" name="shap-title">
            <a:extLst>
              <a:ext uri="{FF2B5EF4-FFF2-40B4-BE49-F238E27FC236}">
                <a16:creationId xmlns:a16="http://schemas.microsoft.com/office/drawing/2014/main" id="{5CC5AD6F-2BBD-4282-A83F-8A51B09971EA}"/>
              </a:ext>
            </a:extLst>
          </p:cNvPr>
          <p:cNvSpPr>
            <a:spLocks noGrp="1"/>
          </p:cNvSpPr>
          <p:nvPr/>
        </p:nvSpPr>
        <p:spPr>
          <a:xfrm>
            <a:off x="533400" y="1924050"/>
            <a:ext cx="4762500" cy="342900"/>
          </a:xfrm>
          <a:prstGeom prst="rect">
            <a:avLst/>
          </a:prstGeom>
          <a:noFill/>
          <a:ln w="0">
            <a:noFill/>
            <a:prstDash val="solid"/>
          </a:ln>
        </p:spPr>
        <p:txBody>
          <a:bodyPr wrap="square" lIns="0" tIns="0" rIns="0" bIns="0" anchor="t">
            <a:noAutofit/>
          </a:bodyPr>
          <a:lstStyle/>
          <a:p>
            <a:pPr algn="l">
              <a:buNone/>
              <a:defRPr sz="1725" b="1" i="0">
                <a:solidFill>
                  <a:srgbClr val="111827"/>
                </a:solidFill>
                <a:latin typeface="Arial"/>
                <a:ea typeface="Arial"/>
                <a:cs typeface="Arial"/>
              </a:defRPr>
            </a:pPr>
            <a:r>
              <a:rPr sz="1725" b="1" i="0">
                <a:solidFill>
                  <a:srgbClr val="111827"/>
                </a:solidFill>
                <a:latin typeface="Arial"/>
                <a:ea typeface="Arial"/>
                <a:cs typeface="Arial"/>
              </a:rPr>
              <a:t>SHAP turns model output into analyst language</a:t>
            </a:r>
          </a:p>
        </p:txBody>
      </p:sp>
      <p:sp>
        <p:nvSpPr>
          <p:cNvPr id="7" name="Oval 6">
            <a:extLst>
              <a:ext uri="{FF2B5EF4-FFF2-40B4-BE49-F238E27FC236}">
                <a16:creationId xmlns:a16="http://schemas.microsoft.com/office/drawing/2014/main" id="{EF7248BA-E5EE-4543-963D-0557E4E25995}"/>
              </a:ext>
            </a:extLst>
          </p:cNvPr>
          <p:cNvSpPr>
            <a:spLocks noGrp="1"/>
          </p:cNvSpPr>
          <p:nvPr/>
        </p:nvSpPr>
        <p:spPr>
          <a:xfrm>
            <a:off x="533400" y="2486025"/>
            <a:ext cx="66675" cy="66675"/>
          </a:xfrm>
          <a:prstGeom prst="ellipse">
            <a:avLst/>
          </a:prstGeom>
          <a:solidFill>
            <a:srgbClr val="D95757"/>
          </a:solidFill>
          <a:ln w="0">
            <a:noFill/>
            <a:prstDash val="solid"/>
          </a:ln>
        </p:spPr>
      </p:sp>
      <p:sp>
        <p:nvSpPr>
          <p:cNvPr id="8" name="Rectangle 7">
            <a:extLst>
              <a:ext uri="{FF2B5EF4-FFF2-40B4-BE49-F238E27FC236}">
                <a16:creationId xmlns:a16="http://schemas.microsoft.com/office/drawing/2014/main" id="{9EEC2855-7591-48E6-A372-77969675C040}"/>
              </a:ext>
            </a:extLst>
          </p:cNvPr>
          <p:cNvSpPr>
            <a:spLocks noGrp="1"/>
          </p:cNvSpPr>
          <p:nvPr/>
        </p:nvSpPr>
        <p:spPr>
          <a:xfrm>
            <a:off x="723900" y="2419350"/>
            <a:ext cx="4572000" cy="3619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Risk factors push the decision toward fraud.</a:t>
            </a:r>
          </a:p>
        </p:txBody>
      </p:sp>
      <p:sp>
        <p:nvSpPr>
          <p:cNvPr id="9" name="Oval 8">
            <a:extLst>
              <a:ext uri="{FF2B5EF4-FFF2-40B4-BE49-F238E27FC236}">
                <a16:creationId xmlns:a16="http://schemas.microsoft.com/office/drawing/2014/main" id="{1603B01E-A01C-4895-ACCD-D4BC44052C98}"/>
              </a:ext>
            </a:extLst>
          </p:cNvPr>
          <p:cNvSpPr>
            <a:spLocks noGrp="1"/>
          </p:cNvSpPr>
          <p:nvPr/>
        </p:nvSpPr>
        <p:spPr>
          <a:xfrm>
            <a:off x="533400" y="2981325"/>
            <a:ext cx="66675" cy="66675"/>
          </a:xfrm>
          <a:prstGeom prst="ellipse">
            <a:avLst/>
          </a:prstGeom>
          <a:solidFill>
            <a:srgbClr val="279A73"/>
          </a:solidFill>
          <a:ln w="0">
            <a:noFill/>
            <a:prstDash val="solid"/>
          </a:ln>
        </p:spPr>
      </p:sp>
      <p:sp>
        <p:nvSpPr>
          <p:cNvPr id="10" name="Rectangle 9">
            <a:extLst>
              <a:ext uri="{FF2B5EF4-FFF2-40B4-BE49-F238E27FC236}">
                <a16:creationId xmlns:a16="http://schemas.microsoft.com/office/drawing/2014/main" id="{76D1CA90-5953-464C-AE14-2DD0F289C7A4}"/>
              </a:ext>
            </a:extLst>
          </p:cNvPr>
          <p:cNvSpPr>
            <a:spLocks noGrp="1"/>
          </p:cNvSpPr>
          <p:nvPr/>
        </p:nvSpPr>
        <p:spPr>
          <a:xfrm>
            <a:off x="723900" y="2914650"/>
            <a:ext cx="4572000" cy="4953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Legitimacy factors push the decision toward approval.</a:t>
            </a:r>
          </a:p>
        </p:txBody>
      </p:sp>
      <p:sp>
        <p:nvSpPr>
          <p:cNvPr id="11" name="Oval 10">
            <a:extLst>
              <a:ext uri="{FF2B5EF4-FFF2-40B4-BE49-F238E27FC236}">
                <a16:creationId xmlns:a16="http://schemas.microsoft.com/office/drawing/2014/main" id="{E5C53D94-D63D-4D79-B4AA-C2A3E05BD7DE}"/>
              </a:ext>
            </a:extLst>
          </p:cNvPr>
          <p:cNvSpPr>
            <a:spLocks noGrp="1"/>
          </p:cNvSpPr>
          <p:nvPr/>
        </p:nvSpPr>
        <p:spPr>
          <a:xfrm>
            <a:off x="533400" y="3629025"/>
            <a:ext cx="66675" cy="66675"/>
          </a:xfrm>
          <a:prstGeom prst="ellipse">
            <a:avLst/>
          </a:prstGeom>
          <a:solidFill>
            <a:srgbClr val="3D8DFF"/>
          </a:solidFill>
          <a:ln w="0">
            <a:noFill/>
            <a:prstDash val="solid"/>
          </a:ln>
        </p:spPr>
      </p:sp>
      <p:sp>
        <p:nvSpPr>
          <p:cNvPr id="12" name="Rectangle 11">
            <a:extLst>
              <a:ext uri="{FF2B5EF4-FFF2-40B4-BE49-F238E27FC236}">
                <a16:creationId xmlns:a16="http://schemas.microsoft.com/office/drawing/2014/main" id="{85380D2A-5840-4439-8459-D526D532DB25}"/>
              </a:ext>
            </a:extLst>
          </p:cNvPr>
          <p:cNvSpPr>
            <a:spLocks noGrp="1"/>
          </p:cNvSpPr>
          <p:nvPr/>
        </p:nvSpPr>
        <p:spPr>
          <a:xfrm>
            <a:off x="723900" y="3562350"/>
            <a:ext cx="4572000" cy="4953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The text explainer converts attributions into plain English.</a:t>
            </a:r>
          </a:p>
        </p:txBody>
      </p:sp>
      <p:sp>
        <p:nvSpPr>
          <p:cNvPr id="13" name="shap-features">
            <a:extLst>
              <a:ext uri="{FF2B5EF4-FFF2-40B4-BE49-F238E27FC236}">
                <a16:creationId xmlns:a16="http://schemas.microsoft.com/office/drawing/2014/main" id="{4F1D0C57-0CF4-4486-99C1-A2569883C96A}"/>
              </a:ext>
            </a:extLst>
          </p:cNvPr>
          <p:cNvSpPr>
            <a:spLocks noGrp="1"/>
          </p:cNvSpPr>
          <p:nvPr/>
        </p:nvSpPr>
        <p:spPr>
          <a:xfrm>
            <a:off x="533400" y="4267200"/>
            <a:ext cx="5334000" cy="514350"/>
          </a:xfrm>
          <a:prstGeom prst="rect">
            <a:avLst/>
          </a:prstGeom>
          <a:noFill/>
          <a:ln w="0">
            <a:noFill/>
            <a:prstDash val="solid"/>
          </a:ln>
        </p:spPr>
        <p:txBody>
          <a:bodyPr wrap="square" lIns="0" tIns="0" rIns="0" bIns="0" anchor="t">
            <a:noAutofit/>
          </a:bodyPr>
          <a:lstStyle/>
          <a:p>
            <a:pPr algn="l">
              <a:buNone/>
              <a:defRPr sz="1350" b="1" i="0">
                <a:solidFill>
                  <a:srgbClr val="5D58E9"/>
                </a:solidFill>
                <a:latin typeface="Arial"/>
                <a:ea typeface="Arial"/>
                <a:cs typeface="Arial"/>
              </a:defRPr>
            </a:pPr>
            <a:r>
              <a:rPr sz="1350" b="1" i="0">
                <a:solidFill>
                  <a:srgbClr val="5D58E9"/>
                </a:solidFill>
                <a:latin typeface="Arial"/>
                <a:ea typeface="Arial"/>
                <a:cs typeface="Arial"/>
              </a:rPr>
              <a:t>Most consistently important: amount z-score | distance | hour of day</a:t>
            </a:r>
          </a:p>
        </p:txBody>
      </p:sp>
      <p:sp>
        <p:nvSpPr>
          <p:cNvPr id="14" name="prediction-and-shap-interface-backing">
            <a:extLst>
              <a:ext uri="{FF2B5EF4-FFF2-40B4-BE49-F238E27FC236}">
                <a16:creationId xmlns:a16="http://schemas.microsoft.com/office/drawing/2014/main" id="{D3C5B13C-7724-44FD-B36F-D7BE8A9CC35C}"/>
              </a:ext>
            </a:extLst>
          </p:cNvPr>
          <p:cNvSpPr>
            <a:spLocks noGrp="1"/>
          </p:cNvSpPr>
          <p:nvPr/>
        </p:nvSpPr>
        <p:spPr>
          <a:xfrm>
            <a:off x="6381750" y="1733550"/>
            <a:ext cx="5105400" cy="3495675"/>
          </a:xfrm>
          <a:prstGeom prst="roundRect">
            <a:avLst>
              <a:gd name="adj" fmla="val 3270"/>
            </a:avLst>
          </a:prstGeom>
          <a:solidFill>
            <a:srgbClr val="F2F4F7"/>
          </a:solidFill>
          <a:ln w="9525">
            <a:solidFill>
              <a:srgbClr val="D6DDE5"/>
            </a:solidFill>
            <a:prstDash val="solid"/>
          </a:ln>
        </p:spPr>
      </p:sp>
      <p:pic>
        <p:nvPicPr>
          <p:cNvPr id="64" name="Picture 44"/>
          <p:cNvPicPr>
            <a:picLocks noChangeAspect="1"/>
          </p:cNvPicPr>
          <p:nvPr/>
        </p:nvPicPr>
        <p:blipFill>
          <a:blip r:embed="rId3"/>
          <a:srcRect l="6000" t="26000" r="6000" b="2000"/>
          <a:stretch/>
        </p:blipFill>
        <p:spPr>
          <a:xfrm>
            <a:off x="6478168" y="1790700"/>
            <a:ext cx="4912564" cy="3381375"/>
          </a:xfrm>
          <a:prstGeom prst="roundRect">
            <a:avLst>
              <a:gd name="adj" fmla="val 2254"/>
            </a:avLst>
          </a:prstGeom>
        </p:spPr>
      </p:pic>
      <p:sp>
        <p:nvSpPr>
          <p:cNvPr id="16" name="ensemble-line">
            <a:extLst>
              <a:ext uri="{FF2B5EF4-FFF2-40B4-BE49-F238E27FC236}">
                <a16:creationId xmlns:a16="http://schemas.microsoft.com/office/drawing/2014/main" id="{C177B16C-D6FC-44AF-8C92-6C0EFAA30FF6}"/>
              </a:ext>
            </a:extLst>
          </p:cNvPr>
          <p:cNvSpPr>
            <a:spLocks noGrp="1"/>
          </p:cNvSpPr>
          <p:nvPr/>
        </p:nvSpPr>
        <p:spPr>
          <a:xfrm>
            <a:off x="723900" y="5600700"/>
            <a:ext cx="8801100" cy="0"/>
          </a:xfrm>
          <a:prstGeom prst="line">
            <a:avLst/>
          </a:prstGeom>
          <a:noFill/>
          <a:ln w="19050">
            <a:solidFill>
              <a:srgbClr val="AAB5C1"/>
            </a:solidFill>
            <a:prstDash val="solid"/>
          </a:ln>
        </p:spPr>
      </p:sp>
      <p:sp>
        <p:nvSpPr>
          <p:cNvPr id="17" name="ens-arrow-1">
            <a:extLst>
              <a:ext uri="{FF2B5EF4-FFF2-40B4-BE49-F238E27FC236}">
                <a16:creationId xmlns:a16="http://schemas.microsoft.com/office/drawing/2014/main" id="{1C15158E-8CAF-479F-ACE4-257C1953A7AF}"/>
              </a:ext>
            </a:extLst>
          </p:cNvPr>
          <p:cNvSpPr>
            <a:spLocks noGrp="1"/>
          </p:cNvSpPr>
          <p:nvPr/>
        </p:nvSpPr>
        <p:spPr>
          <a:xfrm>
            <a:off x="2857500" y="5467350"/>
            <a:ext cx="342900" cy="266700"/>
          </a:xfrm>
          <a:prstGeom prst="rect">
            <a:avLst/>
          </a:prstGeom>
          <a:noFill/>
          <a:ln w="0">
            <a:noFill/>
            <a:prstDash val="solid"/>
          </a:ln>
        </p:spPr>
        <p:txBody>
          <a:bodyPr wrap="square" lIns="0" tIns="0" rIns="0" bIns="0" anchor="t">
            <a:noAutofit/>
          </a:bodyPr>
          <a:lstStyle/>
          <a:p>
            <a:pPr algn="l">
              <a:buNone/>
              <a:defRPr sz="1650" b="1" i="0">
                <a:solidFill>
                  <a:srgbClr val="AAB5C1"/>
                </a:solidFill>
                <a:latin typeface="Arial"/>
                <a:ea typeface="Arial"/>
                <a:cs typeface="Arial"/>
              </a:defRPr>
            </a:pPr>
            <a:r>
              <a:rPr sz="1650" b="1" i="0">
                <a:solidFill>
                  <a:srgbClr val="AAB5C1"/>
                </a:solidFill>
                <a:latin typeface="Arial"/>
                <a:ea typeface="Arial"/>
                <a:cs typeface="Arial"/>
              </a:rPr>
              <a:t>-&gt;</a:t>
            </a:r>
          </a:p>
        </p:txBody>
      </p:sp>
      <p:sp>
        <p:nvSpPr>
          <p:cNvPr id="18" name="ens-arrow-2">
            <a:extLst>
              <a:ext uri="{FF2B5EF4-FFF2-40B4-BE49-F238E27FC236}">
                <a16:creationId xmlns:a16="http://schemas.microsoft.com/office/drawing/2014/main" id="{A6C38F7D-639A-4E55-9879-E56BD9F1E892}"/>
              </a:ext>
            </a:extLst>
          </p:cNvPr>
          <p:cNvSpPr>
            <a:spLocks noGrp="1"/>
          </p:cNvSpPr>
          <p:nvPr/>
        </p:nvSpPr>
        <p:spPr>
          <a:xfrm>
            <a:off x="5286375" y="5467350"/>
            <a:ext cx="342900" cy="266700"/>
          </a:xfrm>
          <a:prstGeom prst="rect">
            <a:avLst/>
          </a:prstGeom>
          <a:noFill/>
          <a:ln w="0">
            <a:noFill/>
            <a:prstDash val="solid"/>
          </a:ln>
        </p:spPr>
        <p:txBody>
          <a:bodyPr wrap="square" lIns="0" tIns="0" rIns="0" bIns="0" anchor="t">
            <a:noAutofit/>
          </a:bodyPr>
          <a:lstStyle/>
          <a:p>
            <a:pPr algn="l">
              <a:buNone/>
              <a:defRPr sz="1650" b="1" i="0">
                <a:solidFill>
                  <a:srgbClr val="AAB5C1"/>
                </a:solidFill>
                <a:latin typeface="Arial"/>
                <a:ea typeface="Arial"/>
                <a:cs typeface="Arial"/>
              </a:defRPr>
            </a:pPr>
            <a:r>
              <a:rPr sz="1650" b="1" i="0">
                <a:solidFill>
                  <a:srgbClr val="AAB5C1"/>
                </a:solidFill>
                <a:latin typeface="Arial"/>
                <a:ea typeface="Arial"/>
                <a:cs typeface="Arial"/>
              </a:rPr>
              <a:t>-&gt;</a:t>
            </a:r>
          </a:p>
        </p:txBody>
      </p:sp>
      <p:sp>
        <p:nvSpPr>
          <p:cNvPr id="19" name="ens-arrow-3">
            <a:extLst>
              <a:ext uri="{FF2B5EF4-FFF2-40B4-BE49-F238E27FC236}">
                <a16:creationId xmlns:a16="http://schemas.microsoft.com/office/drawing/2014/main" id="{A5CB8D54-8BF9-4446-A73A-FC6E3E5AC847}"/>
              </a:ext>
            </a:extLst>
          </p:cNvPr>
          <p:cNvSpPr>
            <a:spLocks noGrp="1"/>
          </p:cNvSpPr>
          <p:nvPr/>
        </p:nvSpPr>
        <p:spPr>
          <a:xfrm>
            <a:off x="7858125" y="5467350"/>
            <a:ext cx="342900" cy="266700"/>
          </a:xfrm>
          <a:prstGeom prst="rect">
            <a:avLst/>
          </a:prstGeom>
          <a:noFill/>
          <a:ln w="0">
            <a:noFill/>
            <a:prstDash val="solid"/>
          </a:ln>
        </p:spPr>
        <p:txBody>
          <a:bodyPr wrap="square" lIns="0" tIns="0" rIns="0" bIns="0" anchor="t">
            <a:noAutofit/>
          </a:bodyPr>
          <a:lstStyle/>
          <a:p>
            <a:pPr algn="l">
              <a:buNone/>
              <a:defRPr sz="1650" b="1" i="0">
                <a:solidFill>
                  <a:srgbClr val="AAB5C1"/>
                </a:solidFill>
                <a:latin typeface="Arial"/>
                <a:ea typeface="Arial"/>
                <a:cs typeface="Arial"/>
              </a:defRPr>
            </a:pPr>
            <a:r>
              <a:rPr sz="1650" b="1" i="0">
                <a:solidFill>
                  <a:srgbClr val="AAB5C1"/>
                </a:solidFill>
                <a:latin typeface="Arial"/>
                <a:ea typeface="Arial"/>
                <a:cs typeface="Arial"/>
              </a:rPr>
              <a:t>-&gt;</a:t>
            </a:r>
          </a:p>
        </p:txBody>
      </p:sp>
      <p:sp>
        <p:nvSpPr>
          <p:cNvPr id="20" name="lr-output">
            <a:extLst>
              <a:ext uri="{FF2B5EF4-FFF2-40B4-BE49-F238E27FC236}">
                <a16:creationId xmlns:a16="http://schemas.microsoft.com/office/drawing/2014/main" id="{A3D7C116-7C04-45AF-92A6-F70FC9F51F5C}"/>
              </a:ext>
            </a:extLst>
          </p:cNvPr>
          <p:cNvSpPr>
            <a:spLocks noGrp="1"/>
          </p:cNvSpPr>
          <p:nvPr/>
        </p:nvSpPr>
        <p:spPr>
          <a:xfrm>
            <a:off x="533400" y="5314950"/>
            <a:ext cx="1809750" cy="571500"/>
          </a:xfrm>
          <a:prstGeom prst="roundRect">
            <a:avLst>
              <a:gd name="adj" fmla="val 13333"/>
            </a:avLst>
          </a:prstGeom>
          <a:solidFill>
            <a:srgbClr val="F2F4F7"/>
          </a:solidFill>
          <a:ln w="9525">
            <a:solidFill>
              <a:srgbClr val="D6DDE5"/>
            </a:solidFill>
            <a:prstDash val="solid"/>
          </a:ln>
        </p:spPr>
      </p:sp>
      <p:sp>
        <p:nvSpPr>
          <p:cNvPr id="21" name="lr-output-text">
            <a:extLst>
              <a:ext uri="{FF2B5EF4-FFF2-40B4-BE49-F238E27FC236}">
                <a16:creationId xmlns:a16="http://schemas.microsoft.com/office/drawing/2014/main" id="{8D6E3088-17DF-4264-BF9A-9253FCDC8BF9}"/>
              </a:ext>
            </a:extLst>
          </p:cNvPr>
          <p:cNvSpPr>
            <a:spLocks noGrp="1"/>
          </p:cNvSpPr>
          <p:nvPr/>
        </p:nvSpPr>
        <p:spPr>
          <a:xfrm>
            <a:off x="685800" y="5410200"/>
            <a:ext cx="1504950" cy="381000"/>
          </a:xfrm>
          <a:prstGeom prst="rect">
            <a:avLst/>
          </a:prstGeom>
          <a:noFill/>
          <a:ln w="0">
            <a:noFill/>
            <a:prstDash val="solid"/>
          </a:ln>
        </p:spPr>
        <p:txBody>
          <a:bodyPr wrap="square" lIns="0" tIns="0" rIns="0" bIns="0" anchor="t">
            <a:noAutofit/>
          </a:bodyPr>
          <a:lstStyle/>
          <a:p>
            <a:pPr algn="l">
              <a:buNone/>
              <a:defRPr sz="1200" b="1" i="0">
                <a:solidFill>
                  <a:srgbClr val="D95757"/>
                </a:solidFill>
                <a:latin typeface="Arial"/>
                <a:ea typeface="Arial"/>
                <a:cs typeface="Arial"/>
              </a:defRPr>
            </a:pPr>
            <a:r>
              <a:rPr sz="1200" b="1" i="0">
                <a:solidFill>
                  <a:srgbClr val="D95757"/>
                </a:solidFill>
                <a:latin typeface="Arial"/>
                <a:ea typeface="Arial"/>
                <a:cs typeface="Arial"/>
              </a:rPr>
              <a:t>LR 100%</a:t>
            </a:r>
          </a:p>
          <a:p>
            <a:pPr algn="l">
              <a:buNone/>
              <a:defRPr sz="1200" b="1" i="0">
                <a:solidFill>
                  <a:srgbClr val="D95757"/>
                </a:solidFill>
                <a:latin typeface="Arial"/>
                <a:ea typeface="Arial"/>
                <a:cs typeface="Arial"/>
              </a:defRPr>
            </a:pPr>
            <a:r>
              <a:rPr sz="1200" b="1" i="0">
                <a:solidFill>
                  <a:srgbClr val="D95757"/>
                </a:solidFill>
                <a:latin typeface="Arial"/>
                <a:ea typeface="Arial"/>
                <a:cs typeface="Arial"/>
              </a:rPr>
              <a:t>FRAUD BLOCKED</a:t>
            </a:r>
          </a:p>
        </p:txBody>
      </p:sp>
      <p:sp>
        <p:nvSpPr>
          <p:cNvPr id="22" name="rf-output">
            <a:extLst>
              <a:ext uri="{FF2B5EF4-FFF2-40B4-BE49-F238E27FC236}">
                <a16:creationId xmlns:a16="http://schemas.microsoft.com/office/drawing/2014/main" id="{570BE73D-CCED-49A1-A969-A3A711FDCB54}"/>
              </a:ext>
            </a:extLst>
          </p:cNvPr>
          <p:cNvSpPr>
            <a:spLocks noGrp="1"/>
          </p:cNvSpPr>
          <p:nvPr/>
        </p:nvSpPr>
        <p:spPr>
          <a:xfrm>
            <a:off x="3143250" y="5314950"/>
            <a:ext cx="1809750" cy="571500"/>
          </a:xfrm>
          <a:prstGeom prst="roundRect">
            <a:avLst>
              <a:gd name="adj" fmla="val 13333"/>
            </a:avLst>
          </a:prstGeom>
          <a:solidFill>
            <a:srgbClr val="F2F4F7"/>
          </a:solidFill>
          <a:ln w="9525">
            <a:solidFill>
              <a:srgbClr val="D6DDE5"/>
            </a:solidFill>
            <a:prstDash val="solid"/>
          </a:ln>
        </p:spPr>
      </p:sp>
      <p:sp>
        <p:nvSpPr>
          <p:cNvPr id="23" name="rf-output-text">
            <a:extLst>
              <a:ext uri="{FF2B5EF4-FFF2-40B4-BE49-F238E27FC236}">
                <a16:creationId xmlns:a16="http://schemas.microsoft.com/office/drawing/2014/main" id="{2521188B-43EF-4373-94DA-76408A4571A5}"/>
              </a:ext>
            </a:extLst>
          </p:cNvPr>
          <p:cNvSpPr>
            <a:spLocks noGrp="1"/>
          </p:cNvSpPr>
          <p:nvPr/>
        </p:nvSpPr>
        <p:spPr>
          <a:xfrm>
            <a:off x="3295650" y="5410200"/>
            <a:ext cx="1504950" cy="381000"/>
          </a:xfrm>
          <a:prstGeom prst="rect">
            <a:avLst/>
          </a:prstGeom>
          <a:noFill/>
          <a:ln w="0">
            <a:noFill/>
            <a:prstDash val="solid"/>
          </a:ln>
        </p:spPr>
        <p:txBody>
          <a:bodyPr wrap="square" lIns="0" tIns="0" rIns="0" bIns="0" anchor="t">
            <a:noAutofit/>
          </a:bodyPr>
          <a:lstStyle/>
          <a:p>
            <a:pPr algn="l">
              <a:buNone/>
              <a:defRPr sz="1200" b="1" i="0">
                <a:solidFill>
                  <a:srgbClr val="279A73"/>
                </a:solidFill>
                <a:latin typeface="Arial"/>
                <a:ea typeface="Arial"/>
                <a:cs typeface="Arial"/>
              </a:defRPr>
            </a:pPr>
            <a:r>
              <a:rPr sz="1200" b="1" i="0">
                <a:solidFill>
                  <a:srgbClr val="279A73"/>
                </a:solidFill>
                <a:latin typeface="Arial"/>
                <a:ea typeface="Arial"/>
                <a:cs typeface="Arial"/>
              </a:rPr>
              <a:t>RF 8%</a:t>
            </a:r>
          </a:p>
          <a:p>
            <a:pPr algn="l">
              <a:buNone/>
              <a:defRPr sz="1200" b="1" i="0">
                <a:solidFill>
                  <a:srgbClr val="279A73"/>
                </a:solidFill>
                <a:latin typeface="Arial"/>
                <a:ea typeface="Arial"/>
                <a:cs typeface="Arial"/>
              </a:defRPr>
            </a:pPr>
            <a:r>
              <a:rPr sz="1200" b="1" i="0">
                <a:solidFill>
                  <a:srgbClr val="279A73"/>
                </a:solidFill>
                <a:latin typeface="Arial"/>
                <a:ea typeface="Arial"/>
                <a:cs typeface="Arial"/>
              </a:rPr>
              <a:t>APPROVED</a:t>
            </a:r>
          </a:p>
        </p:txBody>
      </p:sp>
      <p:sp>
        <p:nvSpPr>
          <p:cNvPr id="24" name="xgb-output">
            <a:extLst>
              <a:ext uri="{FF2B5EF4-FFF2-40B4-BE49-F238E27FC236}">
                <a16:creationId xmlns:a16="http://schemas.microsoft.com/office/drawing/2014/main" id="{1DA786F0-2860-4ADE-8DAB-93CEA7590555}"/>
              </a:ext>
            </a:extLst>
          </p:cNvPr>
          <p:cNvSpPr>
            <a:spLocks noGrp="1"/>
          </p:cNvSpPr>
          <p:nvPr/>
        </p:nvSpPr>
        <p:spPr>
          <a:xfrm>
            <a:off x="5572125" y="5314950"/>
            <a:ext cx="1809750" cy="571500"/>
          </a:xfrm>
          <a:prstGeom prst="roundRect">
            <a:avLst>
              <a:gd name="adj" fmla="val 13333"/>
            </a:avLst>
          </a:prstGeom>
          <a:solidFill>
            <a:srgbClr val="F2F4F7"/>
          </a:solidFill>
          <a:ln w="9525">
            <a:solidFill>
              <a:srgbClr val="D6DDE5"/>
            </a:solidFill>
            <a:prstDash val="solid"/>
          </a:ln>
        </p:spPr>
      </p:sp>
      <p:sp>
        <p:nvSpPr>
          <p:cNvPr id="25" name="xgb-output-text">
            <a:extLst>
              <a:ext uri="{FF2B5EF4-FFF2-40B4-BE49-F238E27FC236}">
                <a16:creationId xmlns:a16="http://schemas.microsoft.com/office/drawing/2014/main" id="{1DEFECE1-755A-464E-8939-FAB9C67ED010}"/>
              </a:ext>
            </a:extLst>
          </p:cNvPr>
          <p:cNvSpPr>
            <a:spLocks noGrp="1"/>
          </p:cNvSpPr>
          <p:nvPr/>
        </p:nvSpPr>
        <p:spPr>
          <a:xfrm>
            <a:off x="5724525" y="5410200"/>
            <a:ext cx="1504950" cy="381000"/>
          </a:xfrm>
          <a:prstGeom prst="rect">
            <a:avLst/>
          </a:prstGeom>
          <a:noFill/>
          <a:ln w="0">
            <a:noFill/>
            <a:prstDash val="solid"/>
          </a:ln>
        </p:spPr>
        <p:txBody>
          <a:bodyPr wrap="square" lIns="0" tIns="0" rIns="0" bIns="0" anchor="t">
            <a:noAutofit/>
          </a:bodyPr>
          <a:lstStyle/>
          <a:p>
            <a:pPr algn="l">
              <a:buNone/>
              <a:defRPr sz="1200" b="1" i="0">
                <a:solidFill>
                  <a:srgbClr val="279A73"/>
                </a:solidFill>
                <a:latin typeface="Arial"/>
                <a:ea typeface="Arial"/>
                <a:cs typeface="Arial"/>
              </a:defRPr>
            </a:pPr>
            <a:r>
              <a:rPr sz="1200" b="1" i="0">
                <a:solidFill>
                  <a:srgbClr val="279A73"/>
                </a:solidFill>
                <a:latin typeface="Arial"/>
                <a:ea typeface="Arial"/>
                <a:cs typeface="Arial"/>
              </a:rPr>
              <a:t>XGB 0%</a:t>
            </a:r>
          </a:p>
          <a:p>
            <a:pPr algn="l">
              <a:buNone/>
              <a:defRPr sz="1200" b="1" i="0">
                <a:solidFill>
                  <a:srgbClr val="279A73"/>
                </a:solidFill>
                <a:latin typeface="Arial"/>
                <a:ea typeface="Arial"/>
                <a:cs typeface="Arial"/>
              </a:defRPr>
            </a:pPr>
            <a:r>
              <a:rPr sz="1200" b="1" i="0">
                <a:solidFill>
                  <a:srgbClr val="279A73"/>
                </a:solidFill>
                <a:latin typeface="Arial"/>
                <a:ea typeface="Arial"/>
                <a:cs typeface="Arial"/>
              </a:rPr>
              <a:t>APPROVED</a:t>
            </a:r>
          </a:p>
        </p:txBody>
      </p:sp>
      <p:sp>
        <p:nvSpPr>
          <p:cNvPr id="26" name="ensemble-output">
            <a:extLst>
              <a:ext uri="{FF2B5EF4-FFF2-40B4-BE49-F238E27FC236}">
                <a16:creationId xmlns:a16="http://schemas.microsoft.com/office/drawing/2014/main" id="{E5B818BC-1D79-41C4-BC23-F7ECB726C35C}"/>
              </a:ext>
            </a:extLst>
          </p:cNvPr>
          <p:cNvSpPr>
            <a:spLocks noGrp="1"/>
          </p:cNvSpPr>
          <p:nvPr/>
        </p:nvSpPr>
        <p:spPr>
          <a:xfrm>
            <a:off x="8281988" y="5311877"/>
            <a:ext cx="2857500" cy="571501"/>
          </a:xfrm>
          <a:prstGeom prst="roundRect">
            <a:avLst>
              <a:gd name="adj" fmla="val 10000"/>
            </a:avLst>
          </a:prstGeom>
          <a:solidFill>
            <a:srgbClr val="3D8DFF"/>
          </a:solidFill>
          <a:ln w="9525">
            <a:solidFill>
              <a:srgbClr val="3D8DFF"/>
            </a:solidFill>
            <a:prstDash val="solid"/>
          </a:ln>
        </p:spPr>
      </p:sp>
      <p:sp>
        <p:nvSpPr>
          <p:cNvPr id="27" name="ensemble-output-text">
            <a:extLst>
              <a:ext uri="{FF2B5EF4-FFF2-40B4-BE49-F238E27FC236}">
                <a16:creationId xmlns:a16="http://schemas.microsoft.com/office/drawing/2014/main" id="{01D7028A-8AB0-4C84-B4CA-6BEF29E10159}"/>
              </a:ext>
            </a:extLst>
          </p:cNvPr>
          <p:cNvSpPr>
            <a:spLocks noGrp="1"/>
          </p:cNvSpPr>
          <p:nvPr/>
        </p:nvSpPr>
        <p:spPr>
          <a:xfrm>
            <a:off x="8572500" y="5343525"/>
            <a:ext cx="2476500" cy="495300"/>
          </a:xfrm>
          <a:prstGeom prst="rect">
            <a:avLst/>
          </a:prstGeom>
          <a:noFill/>
          <a:ln w="0">
            <a:noFill/>
            <a:prstDash val="solid"/>
          </a:ln>
        </p:spPr>
        <p:txBody>
          <a:bodyPr wrap="square" lIns="0" tIns="0" rIns="0" bIns="0" anchor="t">
            <a:noAutofit/>
          </a:bodyPr>
          <a:lstStyle/>
          <a:p>
            <a:pPr algn="l">
              <a:buNone/>
              <a:defRPr sz="1350" b="1" i="0">
                <a:solidFill>
                  <a:srgbClr val="FFFFFF"/>
                </a:solidFill>
                <a:latin typeface="Arial"/>
                <a:ea typeface="Arial"/>
                <a:cs typeface="Arial"/>
              </a:defRPr>
            </a:pPr>
            <a:r>
              <a:rPr sz="1350" b="1" i="0" dirty="0">
                <a:solidFill>
                  <a:srgbClr val="FFFFFF"/>
                </a:solidFill>
                <a:latin typeface="Arial"/>
                <a:ea typeface="Arial"/>
                <a:cs typeface="Arial"/>
              </a:rPr>
              <a:t>MOST SEVERE VERDICT</a:t>
            </a:r>
          </a:p>
          <a:p>
            <a:pPr algn="l">
              <a:buNone/>
              <a:defRPr sz="1350" b="1" i="0">
                <a:solidFill>
                  <a:srgbClr val="FFFFFF"/>
                </a:solidFill>
                <a:latin typeface="Arial"/>
                <a:ea typeface="Arial"/>
                <a:cs typeface="Arial"/>
              </a:defRPr>
            </a:pPr>
            <a:r>
              <a:rPr sz="1350" b="1" i="0" dirty="0">
                <a:solidFill>
                  <a:srgbClr val="FFFFFF"/>
                </a:solidFill>
                <a:latin typeface="Arial"/>
                <a:ea typeface="Arial"/>
                <a:cs typeface="Arial"/>
              </a:rPr>
              <a:t>FRAUD BLOCKED</a:t>
            </a:r>
          </a:p>
        </p:txBody>
      </p:sp>
      <p:sp>
        <p:nvSpPr>
          <p:cNvPr id="28" name="ensemble-note">
            <a:extLst>
              <a:ext uri="{FF2B5EF4-FFF2-40B4-BE49-F238E27FC236}">
                <a16:creationId xmlns:a16="http://schemas.microsoft.com/office/drawing/2014/main" id="{BA67F656-7DC8-40C0-BF61-2186310EF4DC}"/>
              </a:ext>
            </a:extLst>
          </p:cNvPr>
          <p:cNvSpPr>
            <a:spLocks noGrp="1"/>
          </p:cNvSpPr>
          <p:nvPr/>
        </p:nvSpPr>
        <p:spPr>
          <a:xfrm>
            <a:off x="533400" y="6210300"/>
            <a:ext cx="10096500" cy="209550"/>
          </a:xfrm>
          <a:prstGeom prst="rect">
            <a:avLst/>
          </a:prstGeom>
          <a:noFill/>
          <a:ln w="0">
            <a:noFill/>
            <a:prstDash val="solid"/>
          </a:ln>
        </p:spPr>
        <p:txBody>
          <a:bodyPr wrap="square" lIns="0" tIns="0" rIns="0" bIns="0" anchor="t">
            <a:noAutofit/>
          </a:bodyPr>
          <a:lstStyle/>
          <a:p>
            <a:pPr algn="l">
              <a:buNone/>
              <a:defRPr sz="1050" b="0" i="0">
                <a:solidFill>
                  <a:srgbClr val="8190A0"/>
                </a:solidFill>
                <a:latin typeface="Arial"/>
                <a:ea typeface="Arial"/>
                <a:cs typeface="Arial"/>
              </a:defRPr>
            </a:pPr>
            <a:r>
              <a:rPr sz="1050" b="0" i="0">
                <a:solidFill>
                  <a:srgbClr val="8190A0"/>
                </a:solidFill>
                <a:latin typeface="Arial"/>
                <a:ea typeface="Arial"/>
                <a:cs typeface="Arial"/>
              </a:rPr>
              <a:t>544/545 fraud cases were FRAUD BLOCKED; none were APPROVED. Block precision was 43.07% - the intentional cost of conservative escalation.</a:t>
            </a:r>
          </a:p>
        </p:txBody>
      </p:sp>
      <p:sp>
        <p:nvSpPr>
          <p:cNvPr id="31" name="polish-title-rail-6">
            <a:extLst>
              <a:ext uri="{FF2B5EF4-FFF2-40B4-BE49-F238E27FC236}">
                <a16:creationId xmlns:a16="http://schemas.microsoft.com/office/drawing/2014/main" id="{326FBD84-FF14-4F9F-8238-A7B74370663C}"/>
              </a:ext>
            </a:extLst>
          </p:cNvPr>
          <p:cNvSpPr>
            <a:spLocks noGrp="1"/>
          </p:cNvSpPr>
          <p:nvPr/>
        </p:nvSpPr>
        <p:spPr>
          <a:xfrm>
            <a:off x="323850" y="762000"/>
            <a:ext cx="57150" cy="552450"/>
          </a:xfrm>
          <a:prstGeom prst="roundRect">
            <a:avLst>
              <a:gd name="adj" fmla="val 50000"/>
            </a:avLst>
          </a:prstGeom>
          <a:solidFill>
            <a:srgbClr val="5D58E9"/>
          </a:solidFill>
          <a:ln w="0">
            <a:noFill/>
            <a:prstDash val="solid"/>
          </a:ln>
        </p:spPr>
      </p:sp>
      <p:sp>
        <p:nvSpPr>
          <p:cNvPr id="32" name="polish-title-underline-6">
            <a:extLst>
              <a:ext uri="{FF2B5EF4-FFF2-40B4-BE49-F238E27FC236}">
                <a16:creationId xmlns:a16="http://schemas.microsoft.com/office/drawing/2014/main" id="{00EC219C-C8EF-461A-B26F-535B7B93306D}"/>
              </a:ext>
            </a:extLst>
          </p:cNvPr>
          <p:cNvSpPr>
            <a:spLocks noGrp="1"/>
          </p:cNvSpPr>
          <p:nvPr/>
        </p:nvSpPr>
        <p:spPr>
          <a:xfrm>
            <a:off x="533400" y="647700"/>
            <a:ext cx="876300" cy="28575"/>
          </a:xfrm>
          <a:prstGeom prst="roundRect">
            <a:avLst>
              <a:gd name="adj" fmla="val 50000"/>
            </a:avLst>
          </a:prstGeom>
          <a:solidFill>
            <a:srgbClr val="5D58E9"/>
          </a:solidFill>
          <a:ln w="0">
            <a:noFill/>
            <a:prstDash val="solid"/>
          </a:ln>
        </p:spPr>
      </p:sp>
      <p:sp>
        <p:nvSpPr>
          <p:cNvPr id="33" name="polish-progress-6-1">
            <a:extLst>
              <a:ext uri="{FF2B5EF4-FFF2-40B4-BE49-F238E27FC236}">
                <a16:creationId xmlns:a16="http://schemas.microsoft.com/office/drawing/2014/main" id="{28910833-3BA8-4FE0-AF3B-61AAB16DCE93}"/>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34" name="polish-progress-6-2">
            <a:extLst>
              <a:ext uri="{FF2B5EF4-FFF2-40B4-BE49-F238E27FC236}">
                <a16:creationId xmlns:a16="http://schemas.microsoft.com/office/drawing/2014/main" id="{DA3CD481-2093-44FD-9C72-BACFED804DEB}"/>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35" name="polish-progress-6-3">
            <a:extLst>
              <a:ext uri="{FF2B5EF4-FFF2-40B4-BE49-F238E27FC236}">
                <a16:creationId xmlns:a16="http://schemas.microsoft.com/office/drawing/2014/main" id="{7D6FF54F-FAA2-41DC-9AEC-2EE08EBCB8E6}"/>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36" name="polish-progress-6-4">
            <a:extLst>
              <a:ext uri="{FF2B5EF4-FFF2-40B4-BE49-F238E27FC236}">
                <a16:creationId xmlns:a16="http://schemas.microsoft.com/office/drawing/2014/main" id="{8363199A-31ED-4910-B013-D803829E2ADE}"/>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37" name="polish-progress-6-5">
            <a:extLst>
              <a:ext uri="{FF2B5EF4-FFF2-40B4-BE49-F238E27FC236}">
                <a16:creationId xmlns:a16="http://schemas.microsoft.com/office/drawing/2014/main" id="{2025FB37-9B5B-49A6-9180-D4350999DAA8}"/>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38" name="polish-progress-6-6">
            <a:extLst>
              <a:ext uri="{FF2B5EF4-FFF2-40B4-BE49-F238E27FC236}">
                <a16:creationId xmlns:a16="http://schemas.microsoft.com/office/drawing/2014/main" id="{5B7AD7DC-B332-458D-8F04-14467764B8CC}"/>
              </a:ext>
            </a:extLst>
          </p:cNvPr>
          <p:cNvSpPr>
            <a:spLocks noGrp="1"/>
          </p:cNvSpPr>
          <p:nvPr/>
        </p:nvSpPr>
        <p:spPr>
          <a:xfrm>
            <a:off x="6124575" y="6572250"/>
            <a:ext cx="152400" cy="28575"/>
          </a:xfrm>
          <a:prstGeom prst="roundRect">
            <a:avLst>
              <a:gd name="adj" fmla="val 50000"/>
            </a:avLst>
          </a:prstGeom>
          <a:solidFill>
            <a:srgbClr val="5D58E9"/>
          </a:solidFill>
          <a:ln w="0">
            <a:noFill/>
            <a:prstDash val="solid"/>
          </a:ln>
        </p:spPr>
      </p:sp>
      <p:sp>
        <p:nvSpPr>
          <p:cNvPr id="39" name="polish-progress-6-7">
            <a:extLst>
              <a:ext uri="{FF2B5EF4-FFF2-40B4-BE49-F238E27FC236}">
                <a16:creationId xmlns:a16="http://schemas.microsoft.com/office/drawing/2014/main" id="{A4A0DDE4-CA30-4845-A819-DA05D806733B}"/>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40" name="polish-progress-6-8">
            <a:extLst>
              <a:ext uri="{FF2B5EF4-FFF2-40B4-BE49-F238E27FC236}">
                <a16:creationId xmlns:a16="http://schemas.microsoft.com/office/drawing/2014/main" id="{E4464191-05F2-40BC-8031-9F0FA5C2A9A9}"/>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41" name="polish-progress-6-9">
            <a:extLst>
              <a:ext uri="{FF2B5EF4-FFF2-40B4-BE49-F238E27FC236}">
                <a16:creationId xmlns:a16="http://schemas.microsoft.com/office/drawing/2014/main" id="{37AF3667-A606-4F14-9728-F89D57102A47}"/>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42" name="polish-progress-6-10">
            <a:extLst>
              <a:ext uri="{FF2B5EF4-FFF2-40B4-BE49-F238E27FC236}">
                <a16:creationId xmlns:a16="http://schemas.microsoft.com/office/drawing/2014/main" id="{E695C746-79BD-4C75-80FB-D2DABDF0A81A}"/>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
        <p:nvSpPr>
          <p:cNvPr id="44" name="visual-shap-flow-feature">
            <a:extLst>
              <a:ext uri="{FF2B5EF4-FFF2-40B4-BE49-F238E27FC236}">
                <a16:creationId xmlns:a16="http://schemas.microsoft.com/office/drawing/2014/main" id="{5DAEE5B1-CBB3-4889-B441-2DC4F99FE3AA}"/>
              </a:ext>
            </a:extLst>
          </p:cNvPr>
          <p:cNvSpPr>
            <a:spLocks noGrp="1"/>
          </p:cNvSpPr>
          <p:nvPr/>
        </p:nvSpPr>
        <p:spPr>
          <a:xfrm>
            <a:off x="533400" y="4895850"/>
            <a:ext cx="895350" cy="209550"/>
          </a:xfrm>
          <a:prstGeom prst="rect">
            <a:avLst/>
          </a:prstGeom>
          <a:noFill/>
          <a:ln w="0">
            <a:noFill/>
            <a:prstDash val="solid"/>
          </a:ln>
        </p:spPr>
        <p:txBody>
          <a:bodyPr wrap="square" lIns="0" tIns="0" rIns="0" bIns="0" anchor="t">
            <a:noAutofit/>
          </a:bodyPr>
          <a:lstStyle/>
          <a:p>
            <a:pPr algn="l">
              <a:buNone/>
              <a:defRPr sz="1200" b="1" i="0">
                <a:solidFill>
                  <a:srgbClr val="5D58E9"/>
                </a:solidFill>
                <a:latin typeface="Arial"/>
                <a:ea typeface="Arial"/>
                <a:cs typeface="Arial"/>
              </a:defRPr>
            </a:pPr>
            <a:r>
              <a:rPr sz="1200" b="1" i="0">
                <a:solidFill>
                  <a:srgbClr val="5D58E9"/>
                </a:solidFill>
                <a:latin typeface="Arial"/>
                <a:ea typeface="Arial"/>
                <a:cs typeface="Arial"/>
              </a:rPr>
              <a:t>FEATURE</a:t>
            </a:r>
          </a:p>
        </p:txBody>
      </p:sp>
      <p:sp>
        <p:nvSpPr>
          <p:cNvPr id="45" name="visual-shap-flow-arrow-1">
            <a:extLst>
              <a:ext uri="{FF2B5EF4-FFF2-40B4-BE49-F238E27FC236}">
                <a16:creationId xmlns:a16="http://schemas.microsoft.com/office/drawing/2014/main" id="{DF35EBD8-B62D-4752-9103-1C95AA83604D}"/>
              </a:ext>
            </a:extLst>
          </p:cNvPr>
          <p:cNvSpPr>
            <a:spLocks noGrp="1"/>
          </p:cNvSpPr>
          <p:nvPr/>
        </p:nvSpPr>
        <p:spPr>
          <a:xfrm>
            <a:off x="1485900" y="4895850"/>
            <a:ext cx="247650" cy="209550"/>
          </a:xfrm>
          <a:prstGeom prst="rect">
            <a:avLst/>
          </a:prstGeom>
          <a:noFill/>
          <a:ln w="0">
            <a:noFill/>
            <a:prstDash val="solid"/>
          </a:ln>
        </p:spPr>
        <p:txBody>
          <a:bodyPr wrap="square" lIns="0" tIns="0" rIns="0" bIns="0" anchor="t">
            <a:noAutofit/>
          </a:bodyPr>
          <a:lstStyle/>
          <a:p>
            <a:pPr algn="ctr">
              <a:buNone/>
              <a:defRPr sz="1350" b="1" i="0">
                <a:solidFill>
                  <a:srgbClr val="8190A0"/>
                </a:solidFill>
                <a:latin typeface="Arial"/>
                <a:ea typeface="Arial"/>
                <a:cs typeface="Arial"/>
              </a:defRPr>
            </a:pPr>
            <a:r>
              <a:rPr sz="1350" b="1" i="0">
                <a:solidFill>
                  <a:srgbClr val="8190A0"/>
                </a:solidFill>
                <a:latin typeface="Arial"/>
                <a:ea typeface="Arial"/>
                <a:cs typeface="Arial"/>
              </a:rPr>
              <a:t>→</a:t>
            </a:r>
          </a:p>
        </p:txBody>
      </p:sp>
      <p:sp>
        <p:nvSpPr>
          <p:cNvPr id="46" name="visual-shap-flow-impact">
            <a:extLst>
              <a:ext uri="{FF2B5EF4-FFF2-40B4-BE49-F238E27FC236}">
                <a16:creationId xmlns:a16="http://schemas.microsoft.com/office/drawing/2014/main" id="{8BB38DDC-8078-49CE-9BE1-93F76F583618}"/>
              </a:ext>
            </a:extLst>
          </p:cNvPr>
          <p:cNvSpPr>
            <a:spLocks noGrp="1"/>
          </p:cNvSpPr>
          <p:nvPr/>
        </p:nvSpPr>
        <p:spPr>
          <a:xfrm>
            <a:off x="1809750" y="4895850"/>
            <a:ext cx="1200150" cy="209550"/>
          </a:xfrm>
          <a:prstGeom prst="rect">
            <a:avLst/>
          </a:prstGeom>
          <a:noFill/>
          <a:ln w="0">
            <a:noFill/>
            <a:prstDash val="solid"/>
          </a:ln>
        </p:spPr>
        <p:txBody>
          <a:bodyPr wrap="square" lIns="0" tIns="0" rIns="0" bIns="0" anchor="t">
            <a:noAutofit/>
          </a:bodyPr>
          <a:lstStyle/>
          <a:p>
            <a:pPr algn="l">
              <a:buNone/>
              <a:defRPr sz="1200" b="1" i="0">
                <a:solidFill>
                  <a:srgbClr val="5D58E9"/>
                </a:solidFill>
                <a:latin typeface="Arial"/>
                <a:ea typeface="Arial"/>
                <a:cs typeface="Arial"/>
              </a:defRPr>
            </a:pPr>
            <a:r>
              <a:rPr sz="1200" b="1" i="0">
                <a:solidFill>
                  <a:srgbClr val="5D58E9"/>
                </a:solidFill>
                <a:latin typeface="Arial"/>
                <a:ea typeface="Arial"/>
                <a:cs typeface="Arial"/>
              </a:rPr>
              <a:t>SHAP IMPACT</a:t>
            </a:r>
          </a:p>
        </p:txBody>
      </p:sp>
      <p:sp>
        <p:nvSpPr>
          <p:cNvPr id="47" name="visual-shap-flow-arrow-2">
            <a:extLst>
              <a:ext uri="{FF2B5EF4-FFF2-40B4-BE49-F238E27FC236}">
                <a16:creationId xmlns:a16="http://schemas.microsoft.com/office/drawing/2014/main" id="{05167D7A-2948-4B19-9264-3298B82DD3C7}"/>
              </a:ext>
            </a:extLst>
          </p:cNvPr>
          <p:cNvSpPr>
            <a:spLocks noGrp="1"/>
          </p:cNvSpPr>
          <p:nvPr/>
        </p:nvSpPr>
        <p:spPr>
          <a:xfrm>
            <a:off x="3086100" y="4895850"/>
            <a:ext cx="247650" cy="209550"/>
          </a:xfrm>
          <a:prstGeom prst="rect">
            <a:avLst/>
          </a:prstGeom>
          <a:noFill/>
          <a:ln w="0">
            <a:noFill/>
            <a:prstDash val="solid"/>
          </a:ln>
        </p:spPr>
        <p:txBody>
          <a:bodyPr wrap="square" lIns="0" tIns="0" rIns="0" bIns="0" anchor="t">
            <a:noAutofit/>
          </a:bodyPr>
          <a:lstStyle/>
          <a:p>
            <a:pPr algn="ctr">
              <a:buNone/>
              <a:defRPr sz="1350" b="1" i="0">
                <a:solidFill>
                  <a:srgbClr val="8190A0"/>
                </a:solidFill>
                <a:latin typeface="Arial"/>
                <a:ea typeface="Arial"/>
                <a:cs typeface="Arial"/>
              </a:defRPr>
            </a:pPr>
            <a:r>
              <a:rPr sz="1350" b="1" i="0">
                <a:solidFill>
                  <a:srgbClr val="8190A0"/>
                </a:solidFill>
                <a:latin typeface="Arial"/>
                <a:ea typeface="Arial"/>
                <a:cs typeface="Arial"/>
              </a:rPr>
              <a:t>→</a:t>
            </a:r>
          </a:p>
        </p:txBody>
      </p:sp>
      <p:sp>
        <p:nvSpPr>
          <p:cNvPr id="48" name="visual-shap-flow-verdict">
            <a:extLst>
              <a:ext uri="{FF2B5EF4-FFF2-40B4-BE49-F238E27FC236}">
                <a16:creationId xmlns:a16="http://schemas.microsoft.com/office/drawing/2014/main" id="{D579481D-C24F-46A0-9D6E-01B548EBFF51}"/>
              </a:ext>
            </a:extLst>
          </p:cNvPr>
          <p:cNvSpPr>
            <a:spLocks noGrp="1"/>
          </p:cNvSpPr>
          <p:nvPr/>
        </p:nvSpPr>
        <p:spPr>
          <a:xfrm>
            <a:off x="3409950" y="4895850"/>
            <a:ext cx="952500" cy="209550"/>
          </a:xfrm>
          <a:prstGeom prst="rect">
            <a:avLst/>
          </a:prstGeom>
          <a:noFill/>
          <a:ln w="0">
            <a:noFill/>
            <a:prstDash val="solid"/>
          </a:ln>
        </p:spPr>
        <p:txBody>
          <a:bodyPr wrap="square" lIns="0" tIns="0" rIns="0" bIns="0"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VERDICT</a:t>
            </a:r>
          </a:p>
        </p:txBody>
      </p:sp>
    </p:spTree>
    <p:extLst>
      <p:ext uri="{BB962C8B-B14F-4D97-AF65-F5344CB8AC3E}">
        <p14:creationId xmlns:p14="http://schemas.microsoft.com/office/powerpoint/2010/main" val="1545712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9" name="rule">
            <a:extLst>
              <a:ext uri="{FF2B5EF4-FFF2-40B4-BE49-F238E27FC236}">
                <a16:creationId xmlns:a16="http://schemas.microsoft.com/office/drawing/2014/main" id="{7053673C-9847-43B7-825A-9B05EA167C72}"/>
              </a:ext>
            </a:extLst>
          </p:cNvPr>
          <p:cNvSpPr>
            <a:spLocks noGrp="1"/>
          </p:cNvSpPr>
          <p:nvPr/>
        </p:nvSpPr>
        <p:spPr>
          <a:xfrm>
            <a:off x="533400" y="266700"/>
            <a:ext cx="11125200" cy="19050"/>
          </a:xfrm>
          <a:prstGeom prst="rect">
            <a:avLst/>
          </a:prstGeom>
          <a:solidFill>
            <a:srgbClr val="3D8DFF"/>
          </a:solidFill>
          <a:ln w="0">
            <a:noFill/>
            <a:prstDash val="solid"/>
          </a:ln>
        </p:spPr>
      </p:sp>
      <p:sp>
        <p:nvSpPr>
          <p:cNvPr id="2" name="section-label">
            <a:extLst>
              <a:ext uri="{FF2B5EF4-FFF2-40B4-BE49-F238E27FC236}">
                <a16:creationId xmlns:a16="http://schemas.microsoft.com/office/drawing/2014/main" id="{7C3E09A1-7749-4DFD-9887-80163D2EB314}"/>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PROTOTYPE AND CONTEXT</a:t>
            </a:r>
          </a:p>
        </p:txBody>
      </p:sp>
      <p:sp>
        <p:nvSpPr>
          <p:cNvPr id="3" name="page-number">
            <a:extLst>
              <a:ext uri="{FF2B5EF4-FFF2-40B4-BE49-F238E27FC236}">
                <a16:creationId xmlns:a16="http://schemas.microsoft.com/office/drawing/2014/main" id="{7DE512B2-A788-4E1A-BEAB-D8707247B7DB}"/>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07</a:t>
            </a:r>
          </a:p>
        </p:txBody>
      </p:sp>
      <p:sp>
        <p:nvSpPr>
          <p:cNvPr id="4" name="slide-title">
            <a:extLst>
              <a:ext uri="{FF2B5EF4-FFF2-40B4-BE49-F238E27FC236}">
                <a16:creationId xmlns:a16="http://schemas.microsoft.com/office/drawing/2014/main" id="{71A5EECD-D2B4-4558-981E-14AA2F86946B}"/>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The prototype is deployed as an analyst-facing workflow</a:t>
            </a:r>
          </a:p>
        </p:txBody>
      </p:sp>
      <p:sp>
        <p:nvSpPr>
          <p:cNvPr id="5" name="slide-subtitle">
            <a:extLst>
              <a:ext uri="{FF2B5EF4-FFF2-40B4-BE49-F238E27FC236}">
                <a16:creationId xmlns:a16="http://schemas.microsoft.com/office/drawing/2014/main" id="{B3EC3D92-C1EC-4C01-89F1-69FB5980252E}"/>
              </a:ext>
            </a:extLst>
          </p:cNvPr>
          <p:cNvSpPr>
            <a:spLocks noGrp="1"/>
          </p:cNvSpPr>
          <p:nvPr/>
        </p:nvSpPr>
        <p:spPr>
          <a:xfrm>
            <a:off x="533400" y="1295400"/>
            <a:ext cx="10668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A real application connects prediction, explanation, history and analyst review.</a:t>
            </a:r>
          </a:p>
        </p:txBody>
      </p:sp>
      <p:sp>
        <p:nvSpPr>
          <p:cNvPr id="6" name="benchmark-label">
            <a:extLst>
              <a:ext uri="{FF2B5EF4-FFF2-40B4-BE49-F238E27FC236}">
                <a16:creationId xmlns:a16="http://schemas.microsoft.com/office/drawing/2014/main" id="{8F4576C8-63D9-4B35-9956-2D60C47FE742}"/>
              </a:ext>
            </a:extLst>
          </p:cNvPr>
          <p:cNvSpPr>
            <a:spLocks noGrp="1"/>
          </p:cNvSpPr>
          <p:nvPr/>
        </p:nvSpPr>
        <p:spPr>
          <a:xfrm>
            <a:off x="533400" y="1981200"/>
            <a:ext cx="2857500" cy="228600"/>
          </a:xfrm>
          <a:prstGeom prst="rect">
            <a:avLst/>
          </a:prstGeom>
          <a:noFill/>
          <a:ln w="0">
            <a:noFill/>
            <a:prstDash val="solid"/>
          </a:ln>
        </p:spPr>
        <p:txBody>
          <a:bodyPr wrap="square" lIns="0" tIns="0" rIns="0" bIns="0" anchor="t">
            <a:noAutofit/>
          </a:bodyPr>
          <a:lstStyle/>
          <a:p>
            <a:pPr algn="l">
              <a:buNone/>
              <a:defRPr sz="975" b="1" i="0">
                <a:solidFill>
                  <a:srgbClr val="8190A0"/>
                </a:solidFill>
                <a:latin typeface="Arial"/>
                <a:ea typeface="Arial"/>
                <a:cs typeface="Arial"/>
              </a:defRPr>
            </a:pPr>
            <a:r>
              <a:rPr sz="975" b="1" i="0">
                <a:solidFill>
                  <a:srgbClr val="8190A0"/>
                </a:solidFill>
                <a:latin typeface="Arial"/>
                <a:ea typeface="Arial"/>
                <a:cs typeface="Arial"/>
              </a:rPr>
              <a:t>MAURITIUS BENCHMARKS</a:t>
            </a:r>
          </a:p>
        </p:txBody>
      </p:sp>
      <p:sp>
        <p:nvSpPr>
          <p:cNvPr id="7" name="rule">
            <a:extLst>
              <a:ext uri="{FF2B5EF4-FFF2-40B4-BE49-F238E27FC236}">
                <a16:creationId xmlns:a16="http://schemas.microsoft.com/office/drawing/2014/main" id="{2647D47A-9AA5-4948-A17D-65195396D413}"/>
              </a:ext>
            </a:extLst>
          </p:cNvPr>
          <p:cNvSpPr>
            <a:spLocks noGrp="1"/>
          </p:cNvSpPr>
          <p:nvPr/>
        </p:nvSpPr>
        <p:spPr>
          <a:xfrm>
            <a:off x="533400" y="2324100"/>
            <a:ext cx="5238750" cy="9525"/>
          </a:xfrm>
          <a:prstGeom prst="rect">
            <a:avLst/>
          </a:prstGeom>
          <a:solidFill>
            <a:srgbClr val="D6DDE5"/>
          </a:solidFill>
          <a:ln w="0">
            <a:noFill/>
            <a:prstDash val="solid"/>
          </a:ln>
        </p:spPr>
      </p:sp>
      <p:sp>
        <p:nvSpPr>
          <p:cNvPr id="8" name="e1-id">
            <a:extLst>
              <a:ext uri="{FF2B5EF4-FFF2-40B4-BE49-F238E27FC236}">
                <a16:creationId xmlns:a16="http://schemas.microsoft.com/office/drawing/2014/main" id="{E93485BC-9A3E-4BE1-9D61-99AEF9BD77DE}"/>
              </a:ext>
            </a:extLst>
          </p:cNvPr>
          <p:cNvSpPr>
            <a:spLocks noGrp="1"/>
          </p:cNvSpPr>
          <p:nvPr/>
        </p:nvSpPr>
        <p:spPr>
          <a:xfrm>
            <a:off x="533400" y="2552700"/>
            <a:ext cx="438150" cy="266700"/>
          </a:xfrm>
          <a:prstGeom prst="rect">
            <a:avLst/>
          </a:prstGeom>
          <a:noFill/>
          <a:ln w="0">
            <a:noFill/>
            <a:prstDash val="solid"/>
          </a:ln>
        </p:spPr>
        <p:txBody>
          <a:bodyPr wrap="square" lIns="0" tIns="0" rIns="0" bIns="0" anchor="t">
            <a:noAutofit/>
          </a:bodyPr>
          <a:lstStyle/>
          <a:p>
            <a:pPr algn="l">
              <a:buNone/>
              <a:defRPr sz="1500" b="1" i="0">
                <a:solidFill>
                  <a:srgbClr val="279A73"/>
                </a:solidFill>
                <a:latin typeface="Arial"/>
                <a:ea typeface="Arial"/>
                <a:cs typeface="Arial"/>
              </a:defRPr>
            </a:pPr>
            <a:r>
              <a:rPr sz="1500" b="1" i="0">
                <a:solidFill>
                  <a:srgbClr val="279A73"/>
                </a:solidFill>
                <a:latin typeface="Arial"/>
                <a:ea typeface="Arial"/>
                <a:cs typeface="Arial"/>
              </a:rPr>
              <a:t>E1</a:t>
            </a:r>
          </a:p>
        </p:txBody>
      </p:sp>
      <p:sp>
        <p:nvSpPr>
          <p:cNvPr id="9" name="e1-profile">
            <a:extLst>
              <a:ext uri="{FF2B5EF4-FFF2-40B4-BE49-F238E27FC236}">
                <a16:creationId xmlns:a16="http://schemas.microsoft.com/office/drawing/2014/main" id="{22762C1A-42E4-4F77-8C87-49CA7A2DA3B1}"/>
              </a:ext>
            </a:extLst>
          </p:cNvPr>
          <p:cNvSpPr>
            <a:spLocks noGrp="1"/>
          </p:cNvSpPr>
          <p:nvPr/>
        </p:nvSpPr>
        <p:spPr>
          <a:xfrm>
            <a:off x="1143000" y="2552700"/>
            <a:ext cx="3810000" cy="2667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MUR 2,450 | 10:00 | 3.2 miles</a:t>
            </a:r>
          </a:p>
        </p:txBody>
      </p:sp>
      <p:sp>
        <p:nvSpPr>
          <p:cNvPr id="10" name="e1-verdict">
            <a:extLst>
              <a:ext uri="{FF2B5EF4-FFF2-40B4-BE49-F238E27FC236}">
                <a16:creationId xmlns:a16="http://schemas.microsoft.com/office/drawing/2014/main" id="{8035339F-DB70-4973-8928-18BBA7FF2989}"/>
              </a:ext>
            </a:extLst>
          </p:cNvPr>
          <p:cNvSpPr>
            <a:spLocks noGrp="1"/>
          </p:cNvSpPr>
          <p:nvPr/>
        </p:nvSpPr>
        <p:spPr>
          <a:xfrm>
            <a:off x="4191000" y="2552700"/>
            <a:ext cx="1428750" cy="266700"/>
          </a:xfrm>
          <a:prstGeom prst="rect">
            <a:avLst/>
          </a:prstGeom>
          <a:noFill/>
          <a:ln w="0">
            <a:noFill/>
            <a:prstDash val="solid"/>
          </a:ln>
        </p:spPr>
        <p:txBody>
          <a:bodyPr wrap="square" lIns="0" tIns="0" rIns="0" bIns="0" anchor="t">
            <a:noAutofit/>
          </a:bodyPr>
          <a:lstStyle/>
          <a:p>
            <a:pPr algn="r">
              <a:buNone/>
              <a:defRPr sz="1350" b="1" i="0">
                <a:solidFill>
                  <a:srgbClr val="279A73"/>
                </a:solidFill>
                <a:latin typeface="Arial"/>
                <a:ea typeface="Arial"/>
                <a:cs typeface="Arial"/>
              </a:defRPr>
            </a:pPr>
            <a:r>
              <a:rPr sz="1350" b="1" i="0">
                <a:solidFill>
                  <a:srgbClr val="279A73"/>
                </a:solidFill>
                <a:latin typeface="Arial"/>
                <a:ea typeface="Arial"/>
                <a:cs typeface="Arial"/>
              </a:rPr>
              <a:t>APPROVED</a:t>
            </a:r>
          </a:p>
        </p:txBody>
      </p:sp>
      <p:sp>
        <p:nvSpPr>
          <p:cNvPr id="11" name="rule">
            <a:extLst>
              <a:ext uri="{FF2B5EF4-FFF2-40B4-BE49-F238E27FC236}">
                <a16:creationId xmlns:a16="http://schemas.microsoft.com/office/drawing/2014/main" id="{C89E6F42-3B4E-4D83-9761-552B21E2F874}"/>
              </a:ext>
            </a:extLst>
          </p:cNvPr>
          <p:cNvSpPr>
            <a:spLocks noGrp="1"/>
          </p:cNvSpPr>
          <p:nvPr/>
        </p:nvSpPr>
        <p:spPr>
          <a:xfrm>
            <a:off x="533400" y="2990850"/>
            <a:ext cx="5238750" cy="9525"/>
          </a:xfrm>
          <a:prstGeom prst="rect">
            <a:avLst/>
          </a:prstGeom>
          <a:solidFill>
            <a:srgbClr val="D6DDE5"/>
          </a:solidFill>
          <a:ln w="0">
            <a:noFill/>
            <a:prstDash val="solid"/>
          </a:ln>
        </p:spPr>
      </p:sp>
      <p:sp>
        <p:nvSpPr>
          <p:cNvPr id="12" name="e2-id">
            <a:extLst>
              <a:ext uri="{FF2B5EF4-FFF2-40B4-BE49-F238E27FC236}">
                <a16:creationId xmlns:a16="http://schemas.microsoft.com/office/drawing/2014/main" id="{34B2B565-A2C3-4C1E-AA42-E06F6E32FBD3}"/>
              </a:ext>
            </a:extLst>
          </p:cNvPr>
          <p:cNvSpPr>
            <a:spLocks noGrp="1"/>
          </p:cNvSpPr>
          <p:nvPr/>
        </p:nvSpPr>
        <p:spPr>
          <a:xfrm>
            <a:off x="533400" y="3219450"/>
            <a:ext cx="438150" cy="266700"/>
          </a:xfrm>
          <a:prstGeom prst="rect">
            <a:avLst/>
          </a:prstGeom>
          <a:noFill/>
          <a:ln w="0">
            <a:noFill/>
            <a:prstDash val="solid"/>
          </a:ln>
        </p:spPr>
        <p:txBody>
          <a:bodyPr wrap="square" lIns="0" tIns="0" rIns="0" bIns="0" anchor="t">
            <a:noAutofit/>
          </a:bodyPr>
          <a:lstStyle/>
          <a:p>
            <a:pPr algn="l">
              <a:buNone/>
              <a:defRPr sz="1500" b="1" i="0">
                <a:solidFill>
                  <a:srgbClr val="F2B84B"/>
                </a:solidFill>
                <a:latin typeface="Arial"/>
                <a:ea typeface="Arial"/>
                <a:cs typeface="Arial"/>
              </a:defRPr>
            </a:pPr>
            <a:r>
              <a:rPr sz="1500" b="1" i="0">
                <a:solidFill>
                  <a:srgbClr val="F2B84B"/>
                </a:solidFill>
                <a:latin typeface="Arial"/>
                <a:ea typeface="Arial"/>
                <a:cs typeface="Arial"/>
              </a:rPr>
              <a:t>E2</a:t>
            </a:r>
          </a:p>
        </p:txBody>
      </p:sp>
      <p:sp>
        <p:nvSpPr>
          <p:cNvPr id="13" name="e2-profile">
            <a:extLst>
              <a:ext uri="{FF2B5EF4-FFF2-40B4-BE49-F238E27FC236}">
                <a16:creationId xmlns:a16="http://schemas.microsoft.com/office/drawing/2014/main" id="{88E24B76-3984-4E59-8379-960AB7ED528B}"/>
              </a:ext>
            </a:extLst>
          </p:cNvPr>
          <p:cNvSpPr>
            <a:spLocks noGrp="1"/>
          </p:cNvSpPr>
          <p:nvPr/>
        </p:nvSpPr>
        <p:spPr>
          <a:xfrm>
            <a:off x="1143000" y="3219450"/>
            <a:ext cx="3810000" cy="2667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MUR 18,000 | 23:00 | 85 miles</a:t>
            </a:r>
          </a:p>
        </p:txBody>
      </p:sp>
      <p:sp>
        <p:nvSpPr>
          <p:cNvPr id="14" name="e2-verdict">
            <a:extLst>
              <a:ext uri="{FF2B5EF4-FFF2-40B4-BE49-F238E27FC236}">
                <a16:creationId xmlns:a16="http://schemas.microsoft.com/office/drawing/2014/main" id="{68956B7B-3336-4B97-A754-FFB367A065C4}"/>
              </a:ext>
            </a:extLst>
          </p:cNvPr>
          <p:cNvSpPr>
            <a:spLocks noGrp="1"/>
          </p:cNvSpPr>
          <p:nvPr/>
        </p:nvSpPr>
        <p:spPr>
          <a:xfrm>
            <a:off x="4191000" y="3219450"/>
            <a:ext cx="1428750" cy="266700"/>
          </a:xfrm>
          <a:prstGeom prst="rect">
            <a:avLst/>
          </a:prstGeom>
          <a:noFill/>
          <a:ln w="0">
            <a:noFill/>
            <a:prstDash val="solid"/>
          </a:ln>
        </p:spPr>
        <p:txBody>
          <a:bodyPr wrap="square" lIns="0" tIns="0" rIns="0" bIns="0" anchor="t">
            <a:noAutofit/>
          </a:bodyPr>
          <a:lstStyle/>
          <a:p>
            <a:pPr algn="r">
              <a:buNone/>
              <a:defRPr sz="1350" b="1" i="0">
                <a:solidFill>
                  <a:srgbClr val="F2B84B"/>
                </a:solidFill>
                <a:latin typeface="Arial"/>
                <a:ea typeface="Arial"/>
                <a:cs typeface="Arial"/>
              </a:defRPr>
            </a:pPr>
            <a:r>
              <a:rPr sz="1350" b="1" i="0">
                <a:solidFill>
                  <a:srgbClr val="F2B84B"/>
                </a:solidFill>
                <a:latin typeface="Arial"/>
                <a:ea typeface="Arial"/>
                <a:cs typeface="Arial"/>
              </a:rPr>
              <a:t>APPROVED</a:t>
            </a:r>
          </a:p>
        </p:txBody>
      </p:sp>
      <p:sp>
        <p:nvSpPr>
          <p:cNvPr id="15" name="rule">
            <a:extLst>
              <a:ext uri="{FF2B5EF4-FFF2-40B4-BE49-F238E27FC236}">
                <a16:creationId xmlns:a16="http://schemas.microsoft.com/office/drawing/2014/main" id="{1D11CC0F-0543-43D3-9BBF-81748864155B}"/>
              </a:ext>
            </a:extLst>
          </p:cNvPr>
          <p:cNvSpPr>
            <a:spLocks noGrp="1"/>
          </p:cNvSpPr>
          <p:nvPr/>
        </p:nvSpPr>
        <p:spPr>
          <a:xfrm>
            <a:off x="533400" y="3657600"/>
            <a:ext cx="5238750" cy="9525"/>
          </a:xfrm>
          <a:prstGeom prst="rect">
            <a:avLst/>
          </a:prstGeom>
          <a:solidFill>
            <a:srgbClr val="D6DDE5"/>
          </a:solidFill>
          <a:ln w="0">
            <a:noFill/>
            <a:prstDash val="solid"/>
          </a:ln>
        </p:spPr>
      </p:sp>
      <p:sp>
        <p:nvSpPr>
          <p:cNvPr id="16" name="e3-id">
            <a:extLst>
              <a:ext uri="{FF2B5EF4-FFF2-40B4-BE49-F238E27FC236}">
                <a16:creationId xmlns:a16="http://schemas.microsoft.com/office/drawing/2014/main" id="{007CEE8B-EF46-49AA-8F7D-0904440CC713}"/>
              </a:ext>
            </a:extLst>
          </p:cNvPr>
          <p:cNvSpPr>
            <a:spLocks noGrp="1"/>
          </p:cNvSpPr>
          <p:nvPr/>
        </p:nvSpPr>
        <p:spPr>
          <a:xfrm>
            <a:off x="533400" y="3886200"/>
            <a:ext cx="438150" cy="266700"/>
          </a:xfrm>
          <a:prstGeom prst="rect">
            <a:avLst/>
          </a:prstGeom>
          <a:noFill/>
          <a:ln w="0">
            <a:noFill/>
            <a:prstDash val="solid"/>
          </a:ln>
        </p:spPr>
        <p:txBody>
          <a:bodyPr wrap="square" lIns="0" tIns="0" rIns="0" bIns="0" anchor="t">
            <a:noAutofit/>
          </a:bodyPr>
          <a:lstStyle/>
          <a:p>
            <a:pPr algn="l">
              <a:buNone/>
              <a:defRPr sz="1500" b="1" i="0">
                <a:solidFill>
                  <a:srgbClr val="D95757"/>
                </a:solidFill>
                <a:latin typeface="Arial"/>
                <a:ea typeface="Arial"/>
                <a:cs typeface="Arial"/>
              </a:defRPr>
            </a:pPr>
            <a:r>
              <a:rPr sz="1500" b="1" i="0">
                <a:solidFill>
                  <a:srgbClr val="D95757"/>
                </a:solidFill>
                <a:latin typeface="Arial"/>
                <a:ea typeface="Arial"/>
                <a:cs typeface="Arial"/>
              </a:rPr>
              <a:t>E3</a:t>
            </a:r>
          </a:p>
        </p:txBody>
      </p:sp>
      <p:sp>
        <p:nvSpPr>
          <p:cNvPr id="17" name="e3-profile">
            <a:extLst>
              <a:ext uri="{FF2B5EF4-FFF2-40B4-BE49-F238E27FC236}">
                <a16:creationId xmlns:a16="http://schemas.microsoft.com/office/drawing/2014/main" id="{7ADFEBBA-CA48-4541-854D-178E48514225}"/>
              </a:ext>
            </a:extLst>
          </p:cNvPr>
          <p:cNvSpPr>
            <a:spLocks noGrp="1"/>
          </p:cNvSpPr>
          <p:nvPr/>
        </p:nvSpPr>
        <p:spPr>
          <a:xfrm>
            <a:off x="1143000" y="3886200"/>
            <a:ext cx="3810000" cy="26670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MUR 95,000 | 03:00 | 420 miles</a:t>
            </a:r>
          </a:p>
        </p:txBody>
      </p:sp>
      <p:sp>
        <p:nvSpPr>
          <p:cNvPr id="18" name="e3-verdict">
            <a:extLst>
              <a:ext uri="{FF2B5EF4-FFF2-40B4-BE49-F238E27FC236}">
                <a16:creationId xmlns:a16="http://schemas.microsoft.com/office/drawing/2014/main" id="{6AE0C9C6-3D0D-42F1-9D0F-5384AE1DBBAB}"/>
              </a:ext>
            </a:extLst>
          </p:cNvPr>
          <p:cNvSpPr>
            <a:spLocks noGrp="1"/>
          </p:cNvSpPr>
          <p:nvPr/>
        </p:nvSpPr>
        <p:spPr>
          <a:xfrm>
            <a:off x="3790950" y="3886200"/>
            <a:ext cx="1828800" cy="266700"/>
          </a:xfrm>
          <a:prstGeom prst="rect">
            <a:avLst/>
          </a:prstGeom>
          <a:noFill/>
          <a:ln w="0">
            <a:noFill/>
            <a:prstDash val="solid"/>
          </a:ln>
        </p:spPr>
        <p:txBody>
          <a:bodyPr wrap="square" lIns="0" tIns="0" rIns="0" bIns="0" anchor="t">
            <a:noAutofit/>
          </a:bodyPr>
          <a:lstStyle/>
          <a:p>
            <a:pPr algn="r">
              <a:buNone/>
              <a:defRPr sz="1350" b="1" i="0">
                <a:solidFill>
                  <a:srgbClr val="D95757"/>
                </a:solidFill>
                <a:latin typeface="Arial"/>
                <a:ea typeface="Arial"/>
                <a:cs typeface="Arial"/>
              </a:defRPr>
            </a:pPr>
            <a:r>
              <a:rPr sz="1350" b="1" i="0">
                <a:solidFill>
                  <a:srgbClr val="D95757"/>
                </a:solidFill>
                <a:latin typeface="Arial"/>
                <a:ea typeface="Arial"/>
                <a:cs typeface="Arial"/>
              </a:rPr>
              <a:t>FRAUD BLOCKED</a:t>
            </a:r>
          </a:p>
        </p:txBody>
      </p:sp>
      <p:sp>
        <p:nvSpPr>
          <p:cNvPr id="19" name="benchmark-note">
            <a:extLst>
              <a:ext uri="{FF2B5EF4-FFF2-40B4-BE49-F238E27FC236}">
                <a16:creationId xmlns:a16="http://schemas.microsoft.com/office/drawing/2014/main" id="{DF8A1333-A5F7-4E7A-B5A1-11C42021453D}"/>
              </a:ext>
            </a:extLst>
          </p:cNvPr>
          <p:cNvSpPr>
            <a:spLocks noGrp="1"/>
          </p:cNvSpPr>
          <p:nvPr/>
        </p:nvSpPr>
        <p:spPr>
          <a:xfrm>
            <a:off x="533400" y="4419600"/>
            <a:ext cx="5238750" cy="1047750"/>
          </a:xfrm>
          <a:prstGeom prst="roundRect">
            <a:avLst>
              <a:gd name="adj" fmla="val 7273"/>
            </a:avLst>
          </a:prstGeom>
          <a:solidFill>
            <a:srgbClr val="EAF5FB"/>
          </a:solidFill>
          <a:ln w="9525">
            <a:solidFill>
              <a:srgbClr val="D6DDE5"/>
            </a:solidFill>
            <a:prstDash val="solid"/>
          </a:ln>
        </p:spPr>
      </p:sp>
      <p:sp>
        <p:nvSpPr>
          <p:cNvPr id="20" name="surprise-label">
            <a:extLst>
              <a:ext uri="{FF2B5EF4-FFF2-40B4-BE49-F238E27FC236}">
                <a16:creationId xmlns:a16="http://schemas.microsoft.com/office/drawing/2014/main" id="{C452E3E5-3C0E-4EBD-AF82-438AB547AFE2}"/>
              </a:ext>
            </a:extLst>
          </p:cNvPr>
          <p:cNvSpPr>
            <a:spLocks noGrp="1"/>
          </p:cNvSpPr>
          <p:nvPr/>
        </p:nvSpPr>
        <p:spPr>
          <a:xfrm>
            <a:off x="742950" y="4610100"/>
            <a:ext cx="2095500" cy="247650"/>
          </a:xfrm>
          <a:prstGeom prst="rect">
            <a:avLst/>
          </a:prstGeom>
          <a:noFill/>
          <a:ln w="0">
            <a:noFill/>
            <a:prstDash val="solid"/>
          </a:ln>
        </p:spPr>
        <p:txBody>
          <a:bodyPr wrap="square" lIns="0" tIns="0" rIns="0" bIns="0" anchor="t">
            <a:noAutofit/>
          </a:bodyPr>
          <a:lstStyle/>
          <a:p>
            <a:pPr algn="l">
              <a:buNone/>
              <a:defRPr sz="1350" b="1" i="0">
                <a:solidFill>
                  <a:srgbClr val="5D58E9"/>
                </a:solidFill>
                <a:latin typeface="Arial"/>
                <a:ea typeface="Arial"/>
                <a:cs typeface="Arial"/>
              </a:defRPr>
            </a:pPr>
            <a:r>
              <a:rPr sz="1350" b="1" i="0">
                <a:solidFill>
                  <a:srgbClr val="5D58E9"/>
                </a:solidFill>
                <a:latin typeface="Arial"/>
                <a:ea typeface="Arial"/>
                <a:cs typeface="Arial"/>
              </a:rPr>
              <a:t>The useful surprise</a:t>
            </a:r>
          </a:p>
        </p:txBody>
      </p:sp>
      <p:sp>
        <p:nvSpPr>
          <p:cNvPr id="21" name="surprise-text">
            <a:extLst>
              <a:ext uri="{FF2B5EF4-FFF2-40B4-BE49-F238E27FC236}">
                <a16:creationId xmlns:a16="http://schemas.microsoft.com/office/drawing/2014/main" id="{65D71A36-A925-4F25-8BE7-A67EB8097BA5}"/>
              </a:ext>
            </a:extLst>
          </p:cNvPr>
          <p:cNvSpPr>
            <a:spLocks noGrp="1"/>
          </p:cNvSpPr>
          <p:nvPr/>
        </p:nvSpPr>
        <p:spPr>
          <a:xfrm>
            <a:off x="742950" y="4953000"/>
            <a:ext cx="4667250" cy="419100"/>
          </a:xfrm>
          <a:prstGeom prst="rect">
            <a:avLst/>
          </a:prstGeom>
          <a:noFill/>
          <a:ln w="0">
            <a:noFill/>
            <a:prstDash val="solid"/>
          </a:ln>
        </p:spPr>
        <p:txBody>
          <a:bodyPr wrap="square" lIns="0" tIns="0" rIns="0" bIns="0" anchor="t">
            <a:noAutofit/>
          </a:bodyPr>
          <a:lstStyle/>
          <a:p>
            <a:pPr algn="l">
              <a:buNone/>
              <a:defRPr sz="1125" b="0" i="0">
                <a:solidFill>
                  <a:srgbClr val="111827"/>
                </a:solidFill>
                <a:latin typeface="Arial"/>
                <a:ea typeface="Arial"/>
                <a:cs typeface="Arial"/>
              </a:defRPr>
            </a:pPr>
            <a:r>
              <a:rPr sz="1125" b="0" i="0">
                <a:solidFill>
                  <a:srgbClr val="111827"/>
                </a:solidFill>
                <a:latin typeface="Arial"/>
                <a:ea typeface="Arial"/>
                <a:cs typeface="Arial"/>
              </a:rPr>
              <a:t>E2 changed from the intended REVIEW REQUIRED to APPROVED after CNP filtering. SHAP traced the shift to a strong negative shopping_net contribution - a limitation made visible by the explainer.</a:t>
            </a:r>
          </a:p>
        </p:txBody>
      </p:sp>
      <p:sp>
        <p:nvSpPr>
          <p:cNvPr id="22" name="batch-prediction-interface-backing">
            <a:extLst>
              <a:ext uri="{FF2B5EF4-FFF2-40B4-BE49-F238E27FC236}">
                <a16:creationId xmlns:a16="http://schemas.microsoft.com/office/drawing/2014/main" id="{C7FE7ADF-D401-4D41-B29C-D3D440621415}"/>
              </a:ext>
            </a:extLst>
          </p:cNvPr>
          <p:cNvSpPr>
            <a:spLocks noGrp="1"/>
          </p:cNvSpPr>
          <p:nvPr/>
        </p:nvSpPr>
        <p:spPr>
          <a:xfrm>
            <a:off x="6572250" y="1905000"/>
            <a:ext cx="4876800" cy="2590800"/>
          </a:xfrm>
          <a:prstGeom prst="roundRect">
            <a:avLst>
              <a:gd name="adj" fmla="val 4412"/>
            </a:avLst>
          </a:prstGeom>
          <a:solidFill>
            <a:srgbClr val="F2F4F7"/>
          </a:solidFill>
          <a:ln w="9525">
            <a:solidFill>
              <a:srgbClr val="D6DDE5"/>
            </a:solidFill>
            <a:prstDash val="solid"/>
          </a:ln>
        </p:spPr>
      </p:sp>
      <p:pic>
        <p:nvPicPr>
          <p:cNvPr id="72" name="Picture 52"/>
          <p:cNvPicPr>
            <a:picLocks noChangeAspect="1"/>
          </p:cNvPicPr>
          <p:nvPr/>
        </p:nvPicPr>
        <p:blipFill>
          <a:blip r:embed="rId3"/>
          <a:stretch/>
        </p:blipFill>
        <p:spPr>
          <a:xfrm>
            <a:off x="6629400" y="2118014"/>
            <a:ext cx="4762500" cy="2164773"/>
          </a:xfrm>
          <a:prstGeom prst="roundRect">
            <a:avLst>
              <a:gd name="adj" fmla="val 3077"/>
            </a:avLst>
          </a:prstGeom>
        </p:spPr>
      </p:pic>
      <p:sp>
        <p:nvSpPr>
          <p:cNvPr id="24" name="stack-react">
            <a:extLst>
              <a:ext uri="{FF2B5EF4-FFF2-40B4-BE49-F238E27FC236}">
                <a16:creationId xmlns:a16="http://schemas.microsoft.com/office/drawing/2014/main" id="{55376DA7-E736-48D6-8D17-574BF90CA0C8}"/>
              </a:ext>
            </a:extLst>
          </p:cNvPr>
          <p:cNvSpPr>
            <a:spLocks noGrp="1"/>
          </p:cNvSpPr>
          <p:nvPr/>
        </p:nvSpPr>
        <p:spPr>
          <a:xfrm>
            <a:off x="6762750" y="4800600"/>
            <a:ext cx="1714500" cy="247650"/>
          </a:xfrm>
          <a:prstGeom prst="rect">
            <a:avLst/>
          </a:prstGeom>
          <a:noFill/>
          <a:ln w="0">
            <a:noFill/>
            <a:prstDash val="solid"/>
          </a:ln>
        </p:spPr>
        <p:txBody>
          <a:bodyPr wrap="square" lIns="0" tIns="0" rIns="0" bIns="0" anchor="t">
            <a:noAutofit/>
          </a:bodyPr>
          <a:lstStyle/>
          <a:p>
            <a:pPr algn="l">
              <a:buNone/>
              <a:defRPr sz="1350" b="1" i="0">
                <a:solidFill>
                  <a:srgbClr val="5D58E9"/>
                </a:solidFill>
                <a:latin typeface="Arial"/>
                <a:ea typeface="Arial"/>
                <a:cs typeface="Arial"/>
              </a:defRPr>
            </a:pPr>
            <a:r>
              <a:rPr sz="1350" b="1" i="0">
                <a:solidFill>
                  <a:srgbClr val="5D58E9"/>
                </a:solidFill>
                <a:latin typeface="Arial"/>
                <a:ea typeface="Arial"/>
                <a:cs typeface="Arial"/>
              </a:rPr>
              <a:t>React dashboard</a:t>
            </a:r>
          </a:p>
        </p:txBody>
      </p:sp>
      <p:sp>
        <p:nvSpPr>
          <p:cNvPr id="25" name="stack-api">
            <a:extLst>
              <a:ext uri="{FF2B5EF4-FFF2-40B4-BE49-F238E27FC236}">
                <a16:creationId xmlns:a16="http://schemas.microsoft.com/office/drawing/2014/main" id="{88AE5A61-86F8-4E7C-8D02-D4DAFBDD9194}"/>
              </a:ext>
            </a:extLst>
          </p:cNvPr>
          <p:cNvSpPr>
            <a:spLocks noGrp="1"/>
          </p:cNvSpPr>
          <p:nvPr/>
        </p:nvSpPr>
        <p:spPr>
          <a:xfrm>
            <a:off x="8572500" y="4800600"/>
            <a:ext cx="2095500" cy="247650"/>
          </a:xfrm>
          <a:prstGeom prst="rect">
            <a:avLst/>
          </a:prstGeom>
          <a:noFill/>
          <a:ln w="0">
            <a:noFill/>
            <a:prstDash val="solid"/>
          </a:ln>
        </p:spPr>
        <p:txBody>
          <a:bodyPr wrap="square" lIns="0" tIns="0" rIns="0" bIns="0" anchor="t">
            <a:noAutofit/>
          </a:bodyPr>
          <a:lstStyle/>
          <a:p>
            <a:pPr algn="l">
              <a:buNone/>
              <a:defRPr sz="1350" b="1" i="0">
                <a:solidFill>
                  <a:srgbClr val="3D8DFF"/>
                </a:solidFill>
                <a:latin typeface="Arial"/>
                <a:ea typeface="Arial"/>
                <a:cs typeface="Arial"/>
              </a:defRPr>
            </a:pPr>
            <a:r>
              <a:rPr sz="1350" b="1" i="0">
                <a:solidFill>
                  <a:srgbClr val="3D8DFF"/>
                </a:solidFill>
                <a:latin typeface="Arial"/>
                <a:ea typeface="Arial"/>
                <a:cs typeface="Arial"/>
              </a:rPr>
              <a:t>-&gt; FastAPI REST API</a:t>
            </a:r>
          </a:p>
        </p:txBody>
      </p:sp>
      <p:sp>
        <p:nvSpPr>
          <p:cNvPr id="26" name="stack-backend">
            <a:extLst>
              <a:ext uri="{FF2B5EF4-FFF2-40B4-BE49-F238E27FC236}">
                <a16:creationId xmlns:a16="http://schemas.microsoft.com/office/drawing/2014/main" id="{9CE9ABF0-C503-4339-A2E4-48AC7789F53A}"/>
              </a:ext>
            </a:extLst>
          </p:cNvPr>
          <p:cNvSpPr>
            <a:spLocks noGrp="1"/>
          </p:cNvSpPr>
          <p:nvPr/>
        </p:nvSpPr>
        <p:spPr>
          <a:xfrm>
            <a:off x="6762750" y="5162550"/>
            <a:ext cx="4095750" cy="2476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-&gt; models + SHAP + SQLite history</a:t>
            </a:r>
          </a:p>
        </p:txBody>
      </p:sp>
      <p:sp>
        <p:nvSpPr>
          <p:cNvPr id="27" name="currency-note">
            <a:extLst>
              <a:ext uri="{FF2B5EF4-FFF2-40B4-BE49-F238E27FC236}">
                <a16:creationId xmlns:a16="http://schemas.microsoft.com/office/drawing/2014/main" id="{28F7F938-63EB-4437-B4CF-4E074E8E76B4}"/>
              </a:ext>
            </a:extLst>
          </p:cNvPr>
          <p:cNvSpPr>
            <a:spLocks noGrp="1"/>
          </p:cNvSpPr>
          <p:nvPr/>
        </p:nvSpPr>
        <p:spPr>
          <a:xfrm>
            <a:off x="6762750" y="5572125"/>
            <a:ext cx="4381500" cy="342900"/>
          </a:xfrm>
          <a:prstGeom prst="rect">
            <a:avLst/>
          </a:prstGeom>
          <a:noFill/>
          <a:ln w="0">
            <a:noFill/>
            <a:prstDash val="solid"/>
          </a:ln>
        </p:spPr>
        <p:txBody>
          <a:bodyPr wrap="square" lIns="0" tIns="0" rIns="0" bIns="0" anchor="t">
            <a:noAutofit/>
          </a:bodyPr>
          <a:lstStyle/>
          <a:p>
            <a:pPr algn="l">
              <a:buNone/>
              <a:defRPr sz="1050" b="0" i="0">
                <a:solidFill>
                  <a:srgbClr val="8190A0"/>
                </a:solidFill>
                <a:latin typeface="Arial"/>
                <a:ea typeface="Arial"/>
                <a:cs typeface="Arial"/>
              </a:defRPr>
            </a:pPr>
            <a:r>
              <a:rPr sz="1050" b="0" i="0">
                <a:solidFill>
                  <a:srgbClr val="8190A0"/>
                </a:solidFill>
                <a:latin typeface="Arial"/>
                <a:ea typeface="Arial"/>
                <a:cs typeface="Arial"/>
              </a:rPr>
              <a:t>MUR input is supported through a fixed 49 MUR/USD conversion in the retraining path.</a:t>
            </a:r>
          </a:p>
        </p:txBody>
      </p:sp>
      <p:sp>
        <p:nvSpPr>
          <p:cNvPr id="28" name="benchmark-footer">
            <a:extLst>
              <a:ext uri="{FF2B5EF4-FFF2-40B4-BE49-F238E27FC236}">
                <a16:creationId xmlns:a16="http://schemas.microsoft.com/office/drawing/2014/main" id="{5C021F44-DA1C-455D-94FE-0E12D9CD9B30}"/>
              </a:ext>
            </a:extLst>
          </p:cNvPr>
          <p:cNvSpPr>
            <a:spLocks noGrp="1"/>
          </p:cNvSpPr>
          <p:nvPr/>
        </p:nvSpPr>
        <p:spPr>
          <a:xfrm>
            <a:off x="533400" y="6210300"/>
            <a:ext cx="10096500" cy="209550"/>
          </a:xfrm>
          <a:prstGeom prst="rect">
            <a:avLst/>
          </a:prstGeom>
          <a:noFill/>
          <a:ln w="0">
            <a:noFill/>
            <a:prstDash val="solid"/>
          </a:ln>
        </p:spPr>
        <p:txBody>
          <a:bodyPr wrap="square" lIns="0" tIns="0" rIns="0" bIns="0" anchor="t">
            <a:noAutofit/>
          </a:bodyPr>
          <a:lstStyle/>
          <a:p>
            <a:pPr algn="l">
              <a:buNone/>
              <a:defRPr sz="1050" b="0" i="0">
                <a:solidFill>
                  <a:srgbClr val="8190A0"/>
                </a:solidFill>
                <a:latin typeface="Arial"/>
                <a:ea typeface="Arial"/>
                <a:cs typeface="Arial"/>
              </a:defRPr>
            </a:pPr>
            <a:r>
              <a:rPr sz="1050" b="0" i="0">
                <a:solidFill>
                  <a:srgbClr val="8190A0"/>
                </a:solidFill>
                <a:latin typeface="Arial"/>
                <a:ea typeface="Arial"/>
                <a:cs typeface="Arial"/>
              </a:rPr>
              <a:t>Two of three benchmarks matched the intended outcome; this is illustrative, not statistical generalisation.</a:t>
            </a:r>
          </a:p>
        </p:txBody>
      </p:sp>
      <p:sp>
        <p:nvSpPr>
          <p:cNvPr id="31" name="polish-title-rail-7">
            <a:extLst>
              <a:ext uri="{FF2B5EF4-FFF2-40B4-BE49-F238E27FC236}">
                <a16:creationId xmlns:a16="http://schemas.microsoft.com/office/drawing/2014/main" id="{FF4D87C1-437A-4534-B3AD-E128375A7109}"/>
              </a:ext>
            </a:extLst>
          </p:cNvPr>
          <p:cNvSpPr>
            <a:spLocks noGrp="1"/>
          </p:cNvSpPr>
          <p:nvPr/>
        </p:nvSpPr>
        <p:spPr>
          <a:xfrm>
            <a:off x="323850" y="762000"/>
            <a:ext cx="57150" cy="552450"/>
          </a:xfrm>
          <a:prstGeom prst="roundRect">
            <a:avLst>
              <a:gd name="adj" fmla="val 50000"/>
            </a:avLst>
          </a:prstGeom>
          <a:solidFill>
            <a:srgbClr val="279A73"/>
          </a:solidFill>
          <a:ln w="0">
            <a:noFill/>
            <a:prstDash val="solid"/>
          </a:ln>
        </p:spPr>
      </p:sp>
      <p:sp>
        <p:nvSpPr>
          <p:cNvPr id="32" name="polish-title-underline-7">
            <a:extLst>
              <a:ext uri="{FF2B5EF4-FFF2-40B4-BE49-F238E27FC236}">
                <a16:creationId xmlns:a16="http://schemas.microsoft.com/office/drawing/2014/main" id="{CC460D44-01BF-4487-99A7-66DFE7BE344C}"/>
              </a:ext>
            </a:extLst>
          </p:cNvPr>
          <p:cNvSpPr>
            <a:spLocks noGrp="1"/>
          </p:cNvSpPr>
          <p:nvPr/>
        </p:nvSpPr>
        <p:spPr>
          <a:xfrm>
            <a:off x="533400" y="647700"/>
            <a:ext cx="876300" cy="28575"/>
          </a:xfrm>
          <a:prstGeom prst="roundRect">
            <a:avLst>
              <a:gd name="adj" fmla="val 50000"/>
            </a:avLst>
          </a:prstGeom>
          <a:solidFill>
            <a:srgbClr val="279A73"/>
          </a:solidFill>
          <a:ln w="0">
            <a:noFill/>
            <a:prstDash val="solid"/>
          </a:ln>
        </p:spPr>
      </p:sp>
      <p:sp>
        <p:nvSpPr>
          <p:cNvPr id="33" name="polish-progress-7-1">
            <a:extLst>
              <a:ext uri="{FF2B5EF4-FFF2-40B4-BE49-F238E27FC236}">
                <a16:creationId xmlns:a16="http://schemas.microsoft.com/office/drawing/2014/main" id="{23942762-4462-481C-B22A-92A0482B56E0}"/>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34" name="polish-progress-7-2">
            <a:extLst>
              <a:ext uri="{FF2B5EF4-FFF2-40B4-BE49-F238E27FC236}">
                <a16:creationId xmlns:a16="http://schemas.microsoft.com/office/drawing/2014/main" id="{52E42A4C-F86C-4B94-B3FC-E1826411A1DE}"/>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35" name="polish-progress-7-3">
            <a:extLst>
              <a:ext uri="{FF2B5EF4-FFF2-40B4-BE49-F238E27FC236}">
                <a16:creationId xmlns:a16="http://schemas.microsoft.com/office/drawing/2014/main" id="{83605C48-09CF-4DE4-BFD3-E2183CB80305}"/>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36" name="polish-progress-7-4">
            <a:extLst>
              <a:ext uri="{FF2B5EF4-FFF2-40B4-BE49-F238E27FC236}">
                <a16:creationId xmlns:a16="http://schemas.microsoft.com/office/drawing/2014/main" id="{38EE49FD-515B-499A-8044-F750F09F17D9}"/>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37" name="polish-progress-7-5">
            <a:extLst>
              <a:ext uri="{FF2B5EF4-FFF2-40B4-BE49-F238E27FC236}">
                <a16:creationId xmlns:a16="http://schemas.microsoft.com/office/drawing/2014/main" id="{5FFAB853-88B9-4442-AA2A-9A386E42A14C}"/>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38" name="polish-progress-7-6">
            <a:extLst>
              <a:ext uri="{FF2B5EF4-FFF2-40B4-BE49-F238E27FC236}">
                <a16:creationId xmlns:a16="http://schemas.microsoft.com/office/drawing/2014/main" id="{3A1F520E-684E-4527-9E6D-24025E6253F4}"/>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39" name="polish-progress-7-7">
            <a:extLst>
              <a:ext uri="{FF2B5EF4-FFF2-40B4-BE49-F238E27FC236}">
                <a16:creationId xmlns:a16="http://schemas.microsoft.com/office/drawing/2014/main" id="{D3426362-01F2-44B1-A7FD-05BD4EFF8F1D}"/>
              </a:ext>
            </a:extLst>
          </p:cNvPr>
          <p:cNvSpPr>
            <a:spLocks noGrp="1"/>
          </p:cNvSpPr>
          <p:nvPr/>
        </p:nvSpPr>
        <p:spPr>
          <a:xfrm>
            <a:off x="6334125" y="6572250"/>
            <a:ext cx="152400" cy="28575"/>
          </a:xfrm>
          <a:prstGeom prst="roundRect">
            <a:avLst>
              <a:gd name="adj" fmla="val 50000"/>
            </a:avLst>
          </a:prstGeom>
          <a:solidFill>
            <a:srgbClr val="279A73"/>
          </a:solidFill>
          <a:ln w="0">
            <a:noFill/>
            <a:prstDash val="solid"/>
          </a:ln>
        </p:spPr>
      </p:sp>
      <p:sp>
        <p:nvSpPr>
          <p:cNvPr id="40" name="polish-progress-7-8">
            <a:extLst>
              <a:ext uri="{FF2B5EF4-FFF2-40B4-BE49-F238E27FC236}">
                <a16:creationId xmlns:a16="http://schemas.microsoft.com/office/drawing/2014/main" id="{6553246C-B92C-4EFB-BE03-03A38F41187E}"/>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41" name="polish-progress-7-9">
            <a:extLst>
              <a:ext uri="{FF2B5EF4-FFF2-40B4-BE49-F238E27FC236}">
                <a16:creationId xmlns:a16="http://schemas.microsoft.com/office/drawing/2014/main" id="{4D1980F2-63A3-4D0C-BF8A-A05A88174872}"/>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42" name="polish-progress-7-10">
            <a:extLst>
              <a:ext uri="{FF2B5EF4-FFF2-40B4-BE49-F238E27FC236}">
                <a16:creationId xmlns:a16="http://schemas.microsoft.com/office/drawing/2014/main" id="{34CA7BE2-BB93-45A0-8FE6-AB618597FEAB}"/>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
        <p:nvSpPr>
          <p:cNvPr id="44" name="visual-workflow-predict">
            <a:extLst>
              <a:ext uri="{FF2B5EF4-FFF2-40B4-BE49-F238E27FC236}">
                <a16:creationId xmlns:a16="http://schemas.microsoft.com/office/drawing/2014/main" id="{0B0504A2-54C1-441C-B872-BD8566500FF2}"/>
              </a:ext>
            </a:extLst>
          </p:cNvPr>
          <p:cNvSpPr>
            <a:spLocks noGrp="1"/>
          </p:cNvSpPr>
          <p:nvPr/>
        </p:nvSpPr>
        <p:spPr>
          <a:xfrm>
            <a:off x="6762750" y="4572000"/>
            <a:ext cx="952500" cy="209550"/>
          </a:xfrm>
          <a:prstGeom prst="rect">
            <a:avLst/>
          </a:prstGeom>
          <a:noFill/>
          <a:ln w="0">
            <a:noFill/>
            <a:prstDash val="solid"/>
          </a:ln>
        </p:spPr>
        <p:txBody>
          <a:bodyPr wrap="square" lIns="0" tIns="0" rIns="0" bIns="0"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PREDICT</a:t>
            </a:r>
          </a:p>
        </p:txBody>
      </p:sp>
      <p:sp>
        <p:nvSpPr>
          <p:cNvPr id="45" name="visual-workflow-arrow-1">
            <a:extLst>
              <a:ext uri="{FF2B5EF4-FFF2-40B4-BE49-F238E27FC236}">
                <a16:creationId xmlns:a16="http://schemas.microsoft.com/office/drawing/2014/main" id="{05BAD2FD-9042-4DC2-9AAD-353926639C7A}"/>
              </a:ext>
            </a:extLst>
          </p:cNvPr>
          <p:cNvSpPr>
            <a:spLocks noGrp="1"/>
          </p:cNvSpPr>
          <p:nvPr/>
        </p:nvSpPr>
        <p:spPr>
          <a:xfrm>
            <a:off x="7772400" y="4572000"/>
            <a:ext cx="247650" cy="209550"/>
          </a:xfrm>
          <a:prstGeom prst="rect">
            <a:avLst/>
          </a:prstGeom>
          <a:noFill/>
          <a:ln w="0">
            <a:noFill/>
            <a:prstDash val="solid"/>
          </a:ln>
        </p:spPr>
        <p:txBody>
          <a:bodyPr wrap="square" lIns="0" tIns="0" rIns="0" bIns="0" anchor="t">
            <a:noAutofit/>
          </a:bodyPr>
          <a:lstStyle/>
          <a:p>
            <a:pPr algn="ctr">
              <a:buNone/>
              <a:defRPr sz="1350" b="1" i="0">
                <a:solidFill>
                  <a:srgbClr val="8190A0"/>
                </a:solidFill>
                <a:latin typeface="Arial"/>
                <a:ea typeface="Arial"/>
                <a:cs typeface="Arial"/>
              </a:defRPr>
            </a:pPr>
            <a:r>
              <a:rPr sz="1350" b="1" i="0">
                <a:solidFill>
                  <a:srgbClr val="8190A0"/>
                </a:solidFill>
                <a:latin typeface="Arial"/>
                <a:ea typeface="Arial"/>
                <a:cs typeface="Arial"/>
              </a:rPr>
              <a:t>→</a:t>
            </a:r>
          </a:p>
        </p:txBody>
      </p:sp>
      <p:sp>
        <p:nvSpPr>
          <p:cNvPr id="46" name="visual-workflow-explain">
            <a:extLst>
              <a:ext uri="{FF2B5EF4-FFF2-40B4-BE49-F238E27FC236}">
                <a16:creationId xmlns:a16="http://schemas.microsoft.com/office/drawing/2014/main" id="{CEA197DA-9BD1-48C1-8221-96E0106C5BAF}"/>
              </a:ext>
            </a:extLst>
          </p:cNvPr>
          <p:cNvSpPr>
            <a:spLocks noGrp="1"/>
          </p:cNvSpPr>
          <p:nvPr/>
        </p:nvSpPr>
        <p:spPr>
          <a:xfrm>
            <a:off x="8096250" y="4572000"/>
            <a:ext cx="952500" cy="209550"/>
          </a:xfrm>
          <a:prstGeom prst="rect">
            <a:avLst/>
          </a:prstGeom>
          <a:noFill/>
          <a:ln w="0">
            <a:noFill/>
            <a:prstDash val="solid"/>
          </a:ln>
        </p:spPr>
        <p:txBody>
          <a:bodyPr wrap="square" lIns="0" tIns="0" rIns="0" bIns="0" anchor="t">
            <a:noAutofit/>
          </a:bodyPr>
          <a:lstStyle/>
          <a:p>
            <a:pPr algn="l">
              <a:buNone/>
              <a:defRPr sz="1200" b="1" i="0">
                <a:solidFill>
                  <a:srgbClr val="5D58E9"/>
                </a:solidFill>
                <a:latin typeface="Arial"/>
                <a:ea typeface="Arial"/>
                <a:cs typeface="Arial"/>
              </a:defRPr>
            </a:pPr>
            <a:r>
              <a:rPr sz="1200" b="1" i="0">
                <a:solidFill>
                  <a:srgbClr val="5D58E9"/>
                </a:solidFill>
                <a:latin typeface="Arial"/>
                <a:ea typeface="Arial"/>
                <a:cs typeface="Arial"/>
              </a:rPr>
              <a:t>EXPLAIN</a:t>
            </a:r>
          </a:p>
        </p:txBody>
      </p:sp>
      <p:sp>
        <p:nvSpPr>
          <p:cNvPr id="47" name="visual-workflow-arrow-2">
            <a:extLst>
              <a:ext uri="{FF2B5EF4-FFF2-40B4-BE49-F238E27FC236}">
                <a16:creationId xmlns:a16="http://schemas.microsoft.com/office/drawing/2014/main" id="{9C79BAD3-58F2-4CA3-B704-FA4D8915357C}"/>
              </a:ext>
            </a:extLst>
          </p:cNvPr>
          <p:cNvSpPr>
            <a:spLocks noGrp="1"/>
          </p:cNvSpPr>
          <p:nvPr/>
        </p:nvSpPr>
        <p:spPr>
          <a:xfrm>
            <a:off x="9105900" y="4572000"/>
            <a:ext cx="247650" cy="209550"/>
          </a:xfrm>
          <a:prstGeom prst="rect">
            <a:avLst/>
          </a:prstGeom>
          <a:noFill/>
          <a:ln w="0">
            <a:noFill/>
            <a:prstDash val="solid"/>
          </a:ln>
        </p:spPr>
        <p:txBody>
          <a:bodyPr wrap="square" lIns="0" tIns="0" rIns="0" bIns="0" anchor="t">
            <a:noAutofit/>
          </a:bodyPr>
          <a:lstStyle/>
          <a:p>
            <a:pPr algn="ctr">
              <a:buNone/>
              <a:defRPr sz="1350" b="1" i="0">
                <a:solidFill>
                  <a:srgbClr val="8190A0"/>
                </a:solidFill>
                <a:latin typeface="Arial"/>
                <a:ea typeface="Arial"/>
                <a:cs typeface="Arial"/>
              </a:defRPr>
            </a:pPr>
            <a:r>
              <a:rPr sz="1350" b="1" i="0">
                <a:solidFill>
                  <a:srgbClr val="8190A0"/>
                </a:solidFill>
                <a:latin typeface="Arial"/>
                <a:ea typeface="Arial"/>
                <a:cs typeface="Arial"/>
              </a:rPr>
              <a:t>→</a:t>
            </a:r>
          </a:p>
        </p:txBody>
      </p:sp>
      <p:sp>
        <p:nvSpPr>
          <p:cNvPr id="48" name="visual-workflow-review">
            <a:extLst>
              <a:ext uri="{FF2B5EF4-FFF2-40B4-BE49-F238E27FC236}">
                <a16:creationId xmlns:a16="http://schemas.microsoft.com/office/drawing/2014/main" id="{3A717A0A-F0FF-481F-AA24-E01FB79AE400}"/>
              </a:ext>
            </a:extLst>
          </p:cNvPr>
          <p:cNvSpPr>
            <a:spLocks noGrp="1"/>
          </p:cNvSpPr>
          <p:nvPr/>
        </p:nvSpPr>
        <p:spPr>
          <a:xfrm>
            <a:off x="9429750" y="4572000"/>
            <a:ext cx="952500" cy="209550"/>
          </a:xfrm>
          <a:prstGeom prst="rect">
            <a:avLst/>
          </a:prstGeom>
          <a:noFill/>
          <a:ln w="0">
            <a:noFill/>
            <a:prstDash val="solid"/>
          </a:ln>
        </p:spPr>
        <p:txBody>
          <a:bodyPr wrap="square" lIns="0" tIns="0" rIns="0" bIns="0" anchor="t">
            <a:noAutofit/>
          </a:bodyPr>
          <a:lstStyle/>
          <a:p>
            <a:pPr algn="l">
              <a:buNone/>
              <a:defRPr sz="1200" b="1" i="0">
                <a:solidFill>
                  <a:srgbClr val="279A73"/>
                </a:solidFill>
                <a:latin typeface="Arial"/>
                <a:ea typeface="Arial"/>
                <a:cs typeface="Arial"/>
              </a:defRPr>
            </a:pPr>
            <a:r>
              <a:rPr sz="1200" b="1" i="0">
                <a:solidFill>
                  <a:srgbClr val="279A73"/>
                </a:solidFill>
                <a:latin typeface="Arial"/>
                <a:ea typeface="Arial"/>
                <a:cs typeface="Arial"/>
              </a:rPr>
              <a:t>REVIEW</a:t>
            </a:r>
          </a:p>
        </p:txBody>
      </p:sp>
    </p:spTree>
    <p:extLst>
      <p:ext uri="{BB962C8B-B14F-4D97-AF65-F5344CB8AC3E}">
        <p14:creationId xmlns:p14="http://schemas.microsoft.com/office/powerpoint/2010/main" val="512691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12" name="rule">
            <a:extLst>
              <a:ext uri="{FF2B5EF4-FFF2-40B4-BE49-F238E27FC236}">
                <a16:creationId xmlns:a16="http://schemas.microsoft.com/office/drawing/2014/main" id="{49DC6BB5-7026-42A6-8071-A531AD883214}"/>
              </a:ext>
            </a:extLst>
          </p:cNvPr>
          <p:cNvSpPr>
            <a:spLocks noGrp="1"/>
          </p:cNvSpPr>
          <p:nvPr/>
        </p:nvSpPr>
        <p:spPr>
          <a:xfrm>
            <a:off x="533400" y="266700"/>
            <a:ext cx="11125200" cy="19050"/>
          </a:xfrm>
          <a:prstGeom prst="rect">
            <a:avLst/>
          </a:prstGeom>
          <a:solidFill>
            <a:srgbClr val="3D8DFF"/>
          </a:solidFill>
          <a:ln w="0">
            <a:noFill/>
            <a:prstDash val="solid"/>
          </a:ln>
        </p:spPr>
      </p:sp>
      <p:sp>
        <p:nvSpPr>
          <p:cNvPr id="2" name="section-label">
            <a:extLst>
              <a:ext uri="{FF2B5EF4-FFF2-40B4-BE49-F238E27FC236}">
                <a16:creationId xmlns:a16="http://schemas.microsoft.com/office/drawing/2014/main" id="{AD7A1034-7B90-4BBA-BD3B-88E51CA0C18E}"/>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CONCLUSION</a:t>
            </a:r>
          </a:p>
        </p:txBody>
      </p:sp>
      <p:sp>
        <p:nvSpPr>
          <p:cNvPr id="3" name="page-number">
            <a:extLst>
              <a:ext uri="{FF2B5EF4-FFF2-40B4-BE49-F238E27FC236}">
                <a16:creationId xmlns:a16="http://schemas.microsoft.com/office/drawing/2014/main" id="{A089EAE6-359E-4758-A5EE-00B88F8217F1}"/>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08</a:t>
            </a:r>
          </a:p>
        </p:txBody>
      </p:sp>
      <p:sp>
        <p:nvSpPr>
          <p:cNvPr id="4" name="closing-title">
            <a:extLst>
              <a:ext uri="{FF2B5EF4-FFF2-40B4-BE49-F238E27FC236}">
                <a16:creationId xmlns:a16="http://schemas.microsoft.com/office/drawing/2014/main" id="{16101E95-8BB8-49A7-A413-50045A81BA2D}"/>
              </a:ext>
            </a:extLst>
          </p:cNvPr>
          <p:cNvSpPr>
            <a:spLocks noGrp="1"/>
          </p:cNvSpPr>
          <p:nvPr/>
        </p:nvSpPr>
        <p:spPr>
          <a:xfrm>
            <a:off x="533400" y="1485900"/>
            <a:ext cx="9429750" cy="1524000"/>
          </a:xfrm>
          <a:prstGeom prst="rect">
            <a:avLst/>
          </a:prstGeom>
          <a:noFill/>
          <a:ln w="0">
            <a:noFill/>
            <a:prstDash val="solid"/>
          </a:ln>
        </p:spPr>
        <p:txBody>
          <a:bodyPr wrap="square" lIns="0" tIns="0" rIns="0" bIns="0" anchor="t">
            <a:noAutofit/>
          </a:bodyPr>
          <a:lstStyle/>
          <a:p>
            <a:pPr algn="l">
              <a:buNone/>
              <a:defRPr sz="3600" b="1" i="0">
                <a:solidFill>
                  <a:srgbClr val="111827"/>
                </a:solidFill>
                <a:latin typeface="Arial"/>
                <a:ea typeface="Arial"/>
                <a:cs typeface="Arial"/>
              </a:defRPr>
            </a:pPr>
            <a:r>
              <a:rPr sz="3600" b="1" i="0">
                <a:solidFill>
                  <a:srgbClr val="111827"/>
                </a:solidFill>
                <a:latin typeface="Arial"/>
                <a:ea typeface="Arial"/>
                <a:cs typeface="Arial"/>
              </a:rPr>
              <a:t>The contribution is practical -</a:t>
            </a:r>
          </a:p>
          <a:p>
            <a:pPr algn="l">
              <a:buNone/>
              <a:defRPr sz="3600" b="1" i="0">
                <a:solidFill>
                  <a:srgbClr val="111827"/>
                </a:solidFill>
                <a:latin typeface="Arial"/>
                <a:ea typeface="Arial"/>
                <a:cs typeface="Arial"/>
              </a:defRPr>
            </a:pPr>
            <a:r>
              <a:rPr sz="3600" b="1" i="0">
                <a:solidFill>
                  <a:srgbClr val="111827"/>
                </a:solidFill>
                <a:latin typeface="Arial"/>
                <a:ea typeface="Arial"/>
                <a:cs typeface="Arial"/>
              </a:rPr>
              <a:t>the local generalisation claim remains preliminary</a:t>
            </a:r>
          </a:p>
        </p:txBody>
      </p:sp>
      <p:sp>
        <p:nvSpPr>
          <p:cNvPr id="5" name="closing-subtitle">
            <a:extLst>
              <a:ext uri="{FF2B5EF4-FFF2-40B4-BE49-F238E27FC236}">
                <a16:creationId xmlns:a16="http://schemas.microsoft.com/office/drawing/2014/main" id="{929E4B19-17C3-4715-A123-C5A05CCA1BA8}"/>
              </a:ext>
            </a:extLst>
          </p:cNvPr>
          <p:cNvSpPr>
            <a:spLocks noGrp="1"/>
          </p:cNvSpPr>
          <p:nvPr/>
        </p:nvSpPr>
        <p:spPr>
          <a:xfrm>
            <a:off x="533400" y="3333750"/>
            <a:ext cx="7239000" cy="419100"/>
          </a:xfrm>
          <a:prstGeom prst="rect">
            <a:avLst/>
          </a:prstGeom>
          <a:noFill/>
          <a:ln w="0">
            <a:noFill/>
            <a:prstDash val="solid"/>
          </a:ln>
        </p:spPr>
        <p:txBody>
          <a:bodyPr wrap="square" lIns="0" tIns="0" rIns="0" bIns="0" anchor="t">
            <a:noAutofit/>
          </a:bodyPr>
          <a:lstStyle/>
          <a:p>
            <a:pPr algn="l">
              <a:buNone/>
              <a:defRPr sz="1650" b="0" i="0">
                <a:solidFill>
                  <a:srgbClr val="536172"/>
                </a:solidFill>
                <a:latin typeface="Arial"/>
                <a:ea typeface="Arial"/>
                <a:cs typeface="Arial"/>
              </a:defRPr>
            </a:pPr>
            <a:r>
              <a:rPr sz="1650" b="0" i="0">
                <a:solidFill>
                  <a:srgbClr val="536172"/>
                </a:solidFill>
                <a:latin typeface="Arial"/>
                <a:ea typeface="Arial"/>
                <a:cs typeface="Arial"/>
              </a:rPr>
              <a:t>A transparent detection workflow is demonstrated; real Mauritian data is the next evidence step.</a:t>
            </a:r>
          </a:p>
        </p:txBody>
      </p:sp>
      <p:sp>
        <p:nvSpPr>
          <p:cNvPr id="6" name="rule">
            <a:extLst>
              <a:ext uri="{FF2B5EF4-FFF2-40B4-BE49-F238E27FC236}">
                <a16:creationId xmlns:a16="http://schemas.microsoft.com/office/drawing/2014/main" id="{04DEC5F7-250B-4E5C-9942-B1269BA4AD1F}"/>
              </a:ext>
            </a:extLst>
          </p:cNvPr>
          <p:cNvSpPr>
            <a:spLocks noGrp="1"/>
          </p:cNvSpPr>
          <p:nvPr/>
        </p:nvSpPr>
        <p:spPr>
          <a:xfrm>
            <a:off x="533400" y="4171950"/>
            <a:ext cx="11125200" cy="9525"/>
          </a:xfrm>
          <a:prstGeom prst="rect">
            <a:avLst/>
          </a:prstGeom>
          <a:solidFill>
            <a:srgbClr val="D6DDE5"/>
          </a:solidFill>
          <a:ln w="0">
            <a:noFill/>
            <a:prstDash val="solid"/>
          </a:ln>
        </p:spPr>
      </p:sp>
      <p:sp>
        <p:nvSpPr>
          <p:cNvPr id="7" name="adds-title">
            <a:extLst>
              <a:ext uri="{FF2B5EF4-FFF2-40B4-BE49-F238E27FC236}">
                <a16:creationId xmlns:a16="http://schemas.microsoft.com/office/drawing/2014/main" id="{A90A98A6-7A41-41A9-B93F-4422939B1356}"/>
              </a:ext>
            </a:extLst>
          </p:cNvPr>
          <p:cNvSpPr>
            <a:spLocks noGrp="1"/>
          </p:cNvSpPr>
          <p:nvPr/>
        </p:nvSpPr>
        <p:spPr>
          <a:xfrm>
            <a:off x="533400" y="4438650"/>
            <a:ext cx="2857500" cy="285750"/>
          </a:xfrm>
          <a:prstGeom prst="rect">
            <a:avLst/>
          </a:prstGeom>
          <a:noFill/>
          <a:ln w="0">
            <a:noFill/>
            <a:prstDash val="solid"/>
          </a:ln>
        </p:spPr>
        <p:txBody>
          <a:bodyPr wrap="square" lIns="0" tIns="0" rIns="0" bIns="0" anchor="t">
            <a:noAutofit/>
          </a:bodyPr>
          <a:lstStyle/>
          <a:p>
            <a:pPr algn="l">
              <a:buNone/>
              <a:defRPr sz="1650" b="1" i="0">
                <a:solidFill>
                  <a:srgbClr val="3D8DFF"/>
                </a:solidFill>
                <a:latin typeface="Arial"/>
                <a:ea typeface="Arial"/>
                <a:cs typeface="Arial"/>
              </a:defRPr>
            </a:pPr>
            <a:r>
              <a:rPr sz="1650" b="1" i="0">
                <a:solidFill>
                  <a:srgbClr val="3D8DFF"/>
                </a:solidFill>
                <a:latin typeface="Arial"/>
                <a:ea typeface="Arial"/>
                <a:cs typeface="Arial"/>
              </a:rPr>
              <a:t>What this study adds</a:t>
            </a:r>
          </a:p>
        </p:txBody>
      </p:sp>
      <p:sp>
        <p:nvSpPr>
          <p:cNvPr id="8" name="contributions">
            <a:extLst>
              <a:ext uri="{FF2B5EF4-FFF2-40B4-BE49-F238E27FC236}">
                <a16:creationId xmlns:a16="http://schemas.microsoft.com/office/drawing/2014/main" id="{86439FDE-9FC6-42D8-BEA2-26710DD644C1}"/>
              </a:ext>
            </a:extLst>
          </p:cNvPr>
          <p:cNvSpPr>
            <a:spLocks noGrp="1"/>
          </p:cNvSpPr>
          <p:nvPr/>
        </p:nvSpPr>
        <p:spPr>
          <a:xfrm>
            <a:off x="533400" y="4876800"/>
            <a:ext cx="4953000" cy="1066800"/>
          </a:xfrm>
          <a:prstGeom prst="rect">
            <a:avLst/>
          </a:prstGeom>
          <a:noFill/>
          <a:ln w="0">
            <a:noFill/>
            <a:prstDash val="solid"/>
          </a:ln>
        </p:spPr>
        <p:txBody>
          <a:bodyPr wrap="square" lIns="0" tIns="0" rIns="0" bIns="0" anchor="t">
            <a:noAutofit/>
          </a:bodyPr>
          <a:lstStyle/>
          <a:p>
            <a:pPr algn="l">
              <a:buNone/>
              <a:defRPr sz="1500" b="0" i="0">
                <a:solidFill>
                  <a:srgbClr val="111827"/>
                </a:solidFill>
                <a:latin typeface="Arial"/>
                <a:ea typeface="Arial"/>
                <a:cs typeface="Arial"/>
              </a:defRPr>
            </a:pPr>
            <a:r>
              <a:rPr sz="1500" b="0" i="0">
                <a:solidFill>
                  <a:srgbClr val="111827"/>
                </a:solidFill>
                <a:latin typeface="Arial"/>
                <a:ea typeface="Arial"/>
                <a:cs typeface="Arial"/>
              </a:rPr>
              <a:t>01  Named behavioural features</a:t>
            </a:r>
          </a:p>
          <a:p>
            <a:pPr algn="l">
              <a:buNone/>
              <a:defRPr sz="1500" b="0" i="0">
                <a:solidFill>
                  <a:srgbClr val="111827"/>
                </a:solidFill>
                <a:latin typeface="Arial"/>
                <a:ea typeface="Arial"/>
                <a:cs typeface="Arial"/>
              </a:defRPr>
            </a:pPr>
            <a:r>
              <a:rPr sz="1500" b="0" i="0">
                <a:solidFill>
                  <a:srgbClr val="111827"/>
                </a:solidFill>
                <a:latin typeface="Arial"/>
                <a:ea typeface="Arial"/>
                <a:cs typeface="Arial"/>
              </a:rPr>
              <a:t>02  SHAP plus natural-language explanations</a:t>
            </a:r>
          </a:p>
          <a:p>
            <a:pPr algn="l">
              <a:buNone/>
              <a:defRPr sz="1500" b="0" i="0">
                <a:solidFill>
                  <a:srgbClr val="111827"/>
                </a:solidFill>
                <a:latin typeface="Arial"/>
                <a:ea typeface="Arial"/>
                <a:cs typeface="Arial"/>
              </a:defRPr>
            </a:pPr>
            <a:r>
              <a:rPr sz="1500" b="0" i="0">
                <a:solidFill>
                  <a:srgbClr val="111827"/>
                </a:solidFill>
                <a:latin typeface="Arial"/>
                <a:ea typeface="Arial"/>
                <a:cs typeface="Arial"/>
              </a:rPr>
              <a:t>03  Cost-sensitive training and escalation-based decisions</a:t>
            </a:r>
          </a:p>
        </p:txBody>
      </p:sp>
      <p:sp>
        <p:nvSpPr>
          <p:cNvPr id="9" name="next-title">
            <a:extLst>
              <a:ext uri="{FF2B5EF4-FFF2-40B4-BE49-F238E27FC236}">
                <a16:creationId xmlns:a16="http://schemas.microsoft.com/office/drawing/2014/main" id="{577D1583-9BF0-42B5-ADAF-3D8AAF1A43F3}"/>
              </a:ext>
            </a:extLst>
          </p:cNvPr>
          <p:cNvSpPr>
            <a:spLocks noGrp="1"/>
          </p:cNvSpPr>
          <p:nvPr/>
        </p:nvSpPr>
        <p:spPr>
          <a:xfrm>
            <a:off x="7239000" y="4438650"/>
            <a:ext cx="2381250" cy="285750"/>
          </a:xfrm>
          <a:prstGeom prst="rect">
            <a:avLst/>
          </a:prstGeom>
          <a:noFill/>
          <a:ln w="0">
            <a:noFill/>
            <a:prstDash val="solid"/>
          </a:ln>
        </p:spPr>
        <p:txBody>
          <a:bodyPr wrap="square" lIns="0" tIns="0" rIns="0" bIns="0" anchor="t">
            <a:noAutofit/>
          </a:bodyPr>
          <a:lstStyle/>
          <a:p>
            <a:pPr algn="l">
              <a:buNone/>
              <a:defRPr sz="1650" b="1" i="0">
                <a:solidFill>
                  <a:srgbClr val="5D58E9"/>
                </a:solidFill>
                <a:latin typeface="Arial"/>
                <a:ea typeface="Arial"/>
                <a:cs typeface="Arial"/>
              </a:defRPr>
            </a:pPr>
            <a:r>
              <a:rPr sz="1650" b="1" i="0">
                <a:solidFill>
                  <a:srgbClr val="5D58E9"/>
                </a:solidFill>
                <a:latin typeface="Arial"/>
                <a:ea typeface="Arial"/>
                <a:cs typeface="Arial"/>
              </a:rPr>
              <a:t>Next research</a:t>
            </a:r>
          </a:p>
        </p:txBody>
      </p:sp>
      <p:sp>
        <p:nvSpPr>
          <p:cNvPr id="10" name="next-steps">
            <a:extLst>
              <a:ext uri="{FF2B5EF4-FFF2-40B4-BE49-F238E27FC236}">
                <a16:creationId xmlns:a16="http://schemas.microsoft.com/office/drawing/2014/main" id="{C6A8D43B-5538-4BEA-B134-D90E94025420}"/>
              </a:ext>
            </a:extLst>
          </p:cNvPr>
          <p:cNvSpPr>
            <a:spLocks noGrp="1"/>
          </p:cNvSpPr>
          <p:nvPr/>
        </p:nvSpPr>
        <p:spPr>
          <a:xfrm>
            <a:off x="7239000" y="4876800"/>
            <a:ext cx="3905250" cy="1066800"/>
          </a:xfrm>
          <a:prstGeom prst="rect">
            <a:avLst/>
          </a:prstGeom>
          <a:noFill/>
          <a:ln w="0">
            <a:noFill/>
            <a:prstDash val="solid"/>
          </a:ln>
        </p:spPr>
        <p:txBody>
          <a:bodyPr wrap="square" lIns="0" tIns="0" rIns="0" bIns="0" anchor="t">
            <a:noAutofit/>
          </a:bodyPr>
          <a:lstStyle/>
          <a:p>
            <a:pPr algn="l">
              <a:buNone/>
              <a:defRPr sz="1500" b="0" i="0">
                <a:solidFill>
                  <a:srgbClr val="111827"/>
                </a:solidFill>
                <a:latin typeface="Arial"/>
                <a:ea typeface="Arial"/>
                <a:cs typeface="Arial"/>
              </a:defRPr>
            </a:pPr>
            <a:r>
              <a:rPr sz="1500" b="0" i="0">
                <a:solidFill>
                  <a:srgbClr val="111827"/>
                </a:solidFill>
                <a:latin typeface="Arial"/>
                <a:ea typeface="Arial"/>
                <a:cs typeface="Arial"/>
              </a:rPr>
              <a:t>Real Mauritian transaction data</a:t>
            </a:r>
          </a:p>
          <a:p>
            <a:pPr algn="l">
              <a:buNone/>
              <a:defRPr sz="1500" b="0" i="0">
                <a:solidFill>
                  <a:srgbClr val="111827"/>
                </a:solidFill>
                <a:latin typeface="Arial"/>
                <a:ea typeface="Arial"/>
                <a:cs typeface="Arial"/>
              </a:defRPr>
            </a:pPr>
            <a:r>
              <a:rPr sz="1500" b="0" i="0">
                <a:solidFill>
                  <a:srgbClr val="111827"/>
                </a:solidFill>
                <a:latin typeface="Arial"/>
                <a:ea typeface="Arial"/>
                <a:cs typeface="Arial"/>
              </a:rPr>
              <a:t>Velocity and sequence features</a:t>
            </a:r>
          </a:p>
          <a:p>
            <a:pPr algn="l">
              <a:buNone/>
              <a:defRPr sz="1500" b="0" i="0">
                <a:solidFill>
                  <a:srgbClr val="111827"/>
                </a:solidFill>
                <a:latin typeface="Arial"/>
                <a:ea typeface="Arial"/>
                <a:cs typeface="Arial"/>
              </a:defRPr>
            </a:pPr>
            <a:r>
              <a:rPr sz="1500" b="0" i="0">
                <a:solidFill>
                  <a:srgbClr val="111827"/>
                </a:solidFill>
                <a:latin typeface="Arial"/>
                <a:ea typeface="Arial"/>
                <a:cs typeface="Arial"/>
              </a:rPr>
              <a:t>Threshold calibration on held-out data</a:t>
            </a:r>
          </a:p>
        </p:txBody>
      </p:sp>
      <p:sp>
        <p:nvSpPr>
          <p:cNvPr id="11" name="questions">
            <a:extLst>
              <a:ext uri="{FF2B5EF4-FFF2-40B4-BE49-F238E27FC236}">
                <a16:creationId xmlns:a16="http://schemas.microsoft.com/office/drawing/2014/main" id="{CACC2154-998A-4979-9847-676E70D36A07}"/>
              </a:ext>
            </a:extLst>
          </p:cNvPr>
          <p:cNvSpPr>
            <a:spLocks noGrp="1"/>
          </p:cNvSpPr>
          <p:nvPr/>
        </p:nvSpPr>
        <p:spPr>
          <a:xfrm>
            <a:off x="533400" y="6362700"/>
            <a:ext cx="1905000" cy="228600"/>
          </a:xfrm>
          <a:prstGeom prst="rect">
            <a:avLst/>
          </a:prstGeom>
          <a:noFill/>
          <a:ln w="0">
            <a:noFill/>
            <a:prstDash val="solid"/>
          </a:ln>
        </p:spPr>
        <p:txBody>
          <a:bodyPr wrap="square" lIns="0" tIns="0" rIns="0" bIns="0" anchor="t">
            <a:noAutofit/>
          </a:bodyPr>
          <a:lstStyle/>
          <a:p>
            <a:pPr algn="l">
              <a:buNone/>
              <a:defRPr sz="1200" b="1" i="0">
                <a:solidFill>
                  <a:srgbClr val="8190A0"/>
                </a:solidFill>
                <a:latin typeface="Arial"/>
                <a:ea typeface="Arial"/>
                <a:cs typeface="Arial"/>
              </a:defRPr>
            </a:pPr>
            <a:r>
              <a:rPr sz="1200" b="1" i="0">
                <a:solidFill>
                  <a:srgbClr val="8190A0"/>
                </a:solidFill>
                <a:latin typeface="Arial"/>
                <a:ea typeface="Arial"/>
                <a:cs typeface="Arial"/>
              </a:rPr>
              <a:t>Questions</a:t>
            </a:r>
          </a:p>
        </p:txBody>
      </p:sp>
      <p:sp>
        <p:nvSpPr>
          <p:cNvPr id="13" name="polish-title-rail-8">
            <a:extLst>
              <a:ext uri="{FF2B5EF4-FFF2-40B4-BE49-F238E27FC236}">
                <a16:creationId xmlns:a16="http://schemas.microsoft.com/office/drawing/2014/main" id="{801EB70D-CC39-44CD-97DA-134DBBD1BC9F}"/>
              </a:ext>
            </a:extLst>
          </p:cNvPr>
          <p:cNvSpPr>
            <a:spLocks noGrp="1"/>
          </p:cNvSpPr>
          <p:nvPr/>
        </p:nvSpPr>
        <p:spPr>
          <a:xfrm>
            <a:off x="323850" y="1504950"/>
            <a:ext cx="57150" cy="1504950"/>
          </a:xfrm>
          <a:prstGeom prst="roundRect">
            <a:avLst>
              <a:gd name="adj" fmla="val 50000"/>
            </a:avLst>
          </a:prstGeom>
          <a:solidFill>
            <a:srgbClr val="5D58E9"/>
          </a:solidFill>
          <a:ln w="0">
            <a:noFill/>
            <a:prstDash val="solid"/>
          </a:ln>
        </p:spPr>
      </p:sp>
      <p:sp>
        <p:nvSpPr>
          <p:cNvPr id="14" name="polish-title-underline-8">
            <a:extLst>
              <a:ext uri="{FF2B5EF4-FFF2-40B4-BE49-F238E27FC236}">
                <a16:creationId xmlns:a16="http://schemas.microsoft.com/office/drawing/2014/main" id="{345EC39B-3103-45EF-B943-7FEB520FDD4A}"/>
              </a:ext>
            </a:extLst>
          </p:cNvPr>
          <p:cNvSpPr>
            <a:spLocks noGrp="1"/>
          </p:cNvSpPr>
          <p:nvPr/>
        </p:nvSpPr>
        <p:spPr>
          <a:xfrm>
            <a:off x="533400" y="1390650"/>
            <a:ext cx="876300" cy="28575"/>
          </a:xfrm>
          <a:prstGeom prst="roundRect">
            <a:avLst>
              <a:gd name="adj" fmla="val 50000"/>
            </a:avLst>
          </a:prstGeom>
          <a:solidFill>
            <a:srgbClr val="5D58E9"/>
          </a:solidFill>
          <a:ln w="0">
            <a:noFill/>
            <a:prstDash val="solid"/>
          </a:ln>
        </p:spPr>
      </p:sp>
      <p:sp>
        <p:nvSpPr>
          <p:cNvPr id="15" name="polish-progress-8-1">
            <a:extLst>
              <a:ext uri="{FF2B5EF4-FFF2-40B4-BE49-F238E27FC236}">
                <a16:creationId xmlns:a16="http://schemas.microsoft.com/office/drawing/2014/main" id="{1020EFD1-B85C-4190-B83F-18391E1E89B7}"/>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16" name="polish-progress-8-2">
            <a:extLst>
              <a:ext uri="{FF2B5EF4-FFF2-40B4-BE49-F238E27FC236}">
                <a16:creationId xmlns:a16="http://schemas.microsoft.com/office/drawing/2014/main" id="{26BB9CD1-CC8B-4F61-A2C1-BBE6F116FB9D}"/>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17" name="polish-progress-8-3">
            <a:extLst>
              <a:ext uri="{FF2B5EF4-FFF2-40B4-BE49-F238E27FC236}">
                <a16:creationId xmlns:a16="http://schemas.microsoft.com/office/drawing/2014/main" id="{50D25FB3-BEAC-419F-9414-895DE6005EB2}"/>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18" name="polish-progress-8-4">
            <a:extLst>
              <a:ext uri="{FF2B5EF4-FFF2-40B4-BE49-F238E27FC236}">
                <a16:creationId xmlns:a16="http://schemas.microsoft.com/office/drawing/2014/main" id="{1DEB11F5-A6A1-4DF4-AF79-C2F3004BF184}"/>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19" name="polish-progress-8-5">
            <a:extLst>
              <a:ext uri="{FF2B5EF4-FFF2-40B4-BE49-F238E27FC236}">
                <a16:creationId xmlns:a16="http://schemas.microsoft.com/office/drawing/2014/main" id="{228D095E-28FA-4AED-B91C-0E8209D95F40}"/>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20" name="polish-progress-8-6">
            <a:extLst>
              <a:ext uri="{FF2B5EF4-FFF2-40B4-BE49-F238E27FC236}">
                <a16:creationId xmlns:a16="http://schemas.microsoft.com/office/drawing/2014/main" id="{5C56FDD5-6C88-4102-BA9C-C17BA4CE0663}"/>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21" name="polish-progress-8-7">
            <a:extLst>
              <a:ext uri="{FF2B5EF4-FFF2-40B4-BE49-F238E27FC236}">
                <a16:creationId xmlns:a16="http://schemas.microsoft.com/office/drawing/2014/main" id="{225D0F51-0F25-46BC-BEBB-6A2F1D6CEFAB}"/>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22" name="polish-progress-8-8">
            <a:extLst>
              <a:ext uri="{FF2B5EF4-FFF2-40B4-BE49-F238E27FC236}">
                <a16:creationId xmlns:a16="http://schemas.microsoft.com/office/drawing/2014/main" id="{CD641366-1B41-4258-8A2C-94B85751E894}"/>
              </a:ext>
            </a:extLst>
          </p:cNvPr>
          <p:cNvSpPr>
            <a:spLocks noGrp="1"/>
          </p:cNvSpPr>
          <p:nvPr/>
        </p:nvSpPr>
        <p:spPr>
          <a:xfrm>
            <a:off x="6543675" y="6572250"/>
            <a:ext cx="152400" cy="28575"/>
          </a:xfrm>
          <a:prstGeom prst="roundRect">
            <a:avLst>
              <a:gd name="adj" fmla="val 50000"/>
            </a:avLst>
          </a:prstGeom>
          <a:solidFill>
            <a:srgbClr val="5D58E9"/>
          </a:solidFill>
          <a:ln w="0">
            <a:noFill/>
            <a:prstDash val="solid"/>
          </a:ln>
        </p:spPr>
      </p:sp>
      <p:sp>
        <p:nvSpPr>
          <p:cNvPr id="23" name="polish-progress-8-9">
            <a:extLst>
              <a:ext uri="{FF2B5EF4-FFF2-40B4-BE49-F238E27FC236}">
                <a16:creationId xmlns:a16="http://schemas.microsoft.com/office/drawing/2014/main" id="{07B007C6-1B98-449A-836B-835D6DB3C8E9}"/>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24" name="polish-progress-8-10">
            <a:extLst>
              <a:ext uri="{FF2B5EF4-FFF2-40B4-BE49-F238E27FC236}">
                <a16:creationId xmlns:a16="http://schemas.microsoft.com/office/drawing/2014/main" id="{A3F3365C-2500-4200-9594-9D3B6443F748}"/>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
        <p:nvSpPr>
          <p:cNvPr id="25" name="visual-conclusion-adds-rail">
            <a:extLst>
              <a:ext uri="{FF2B5EF4-FFF2-40B4-BE49-F238E27FC236}">
                <a16:creationId xmlns:a16="http://schemas.microsoft.com/office/drawing/2014/main" id="{C06E511F-9BCF-42E6-98CA-594806FE56F4}"/>
              </a:ext>
            </a:extLst>
          </p:cNvPr>
          <p:cNvSpPr>
            <a:spLocks noGrp="1"/>
          </p:cNvSpPr>
          <p:nvPr/>
        </p:nvSpPr>
        <p:spPr>
          <a:xfrm>
            <a:off x="400050" y="4438650"/>
            <a:ext cx="47625" cy="1485900"/>
          </a:xfrm>
          <a:prstGeom prst="roundRect">
            <a:avLst>
              <a:gd name="adj" fmla="val 50000"/>
            </a:avLst>
          </a:prstGeom>
          <a:solidFill>
            <a:srgbClr val="3D8DFF"/>
          </a:solidFill>
          <a:ln w="0">
            <a:noFill/>
            <a:prstDash val="solid"/>
          </a:ln>
        </p:spPr>
      </p:sp>
      <p:sp>
        <p:nvSpPr>
          <p:cNvPr id="26" name="visual-conclusion-next-rail">
            <a:extLst>
              <a:ext uri="{FF2B5EF4-FFF2-40B4-BE49-F238E27FC236}">
                <a16:creationId xmlns:a16="http://schemas.microsoft.com/office/drawing/2014/main" id="{D0F22808-9979-4BDC-9FE5-592713F1B311}"/>
              </a:ext>
            </a:extLst>
          </p:cNvPr>
          <p:cNvSpPr>
            <a:spLocks noGrp="1"/>
          </p:cNvSpPr>
          <p:nvPr/>
        </p:nvSpPr>
        <p:spPr>
          <a:xfrm>
            <a:off x="7105650" y="4438650"/>
            <a:ext cx="47625" cy="1485900"/>
          </a:xfrm>
          <a:prstGeom prst="roundRect">
            <a:avLst>
              <a:gd name="adj" fmla="val 50000"/>
            </a:avLst>
          </a:prstGeom>
          <a:solidFill>
            <a:srgbClr val="5D58E9"/>
          </a:solidFill>
          <a:ln w="0">
            <a:noFill/>
            <a:prstDash val="solid"/>
          </a:ln>
        </p:spPr>
      </p:sp>
    </p:spTree>
    <p:extLst>
      <p:ext uri="{BB962C8B-B14F-4D97-AF65-F5344CB8AC3E}">
        <p14:creationId xmlns:p14="http://schemas.microsoft.com/office/powerpoint/2010/main" val="104682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38" name="rule">
            <a:extLst>
              <a:ext uri="{FF2B5EF4-FFF2-40B4-BE49-F238E27FC236}">
                <a16:creationId xmlns:a16="http://schemas.microsoft.com/office/drawing/2014/main" id="{15E52F42-A4E3-48D8-8F65-9A91CBFA8490}"/>
              </a:ext>
            </a:extLst>
          </p:cNvPr>
          <p:cNvSpPr>
            <a:spLocks noGrp="1"/>
          </p:cNvSpPr>
          <p:nvPr/>
        </p:nvSpPr>
        <p:spPr>
          <a:xfrm>
            <a:off x="533400" y="266700"/>
            <a:ext cx="11125200" cy="19050"/>
          </a:xfrm>
          <a:prstGeom prst="rect">
            <a:avLst/>
          </a:prstGeom>
          <a:solidFill>
            <a:srgbClr val="3D8DFF"/>
          </a:solidFill>
          <a:ln w="0">
            <a:noFill/>
            <a:prstDash val="solid"/>
          </a:ln>
        </p:spPr>
      </p:sp>
      <p:sp>
        <p:nvSpPr>
          <p:cNvPr id="2" name="section-label">
            <a:extLst>
              <a:ext uri="{FF2B5EF4-FFF2-40B4-BE49-F238E27FC236}">
                <a16:creationId xmlns:a16="http://schemas.microsoft.com/office/drawing/2014/main" id="{7A349539-CAD1-46A2-97BF-483AC0252BA1}"/>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INFERENCE FLOW</a:t>
            </a:r>
          </a:p>
        </p:txBody>
      </p:sp>
      <p:sp>
        <p:nvSpPr>
          <p:cNvPr id="3" name="page-number">
            <a:extLst>
              <a:ext uri="{FF2B5EF4-FFF2-40B4-BE49-F238E27FC236}">
                <a16:creationId xmlns:a16="http://schemas.microsoft.com/office/drawing/2014/main" id="{CC9003C2-9D70-493F-8D80-7A7B0E64C919}"/>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09</a:t>
            </a:r>
          </a:p>
        </p:txBody>
      </p:sp>
      <p:sp>
        <p:nvSpPr>
          <p:cNvPr id="4" name="slide-title">
            <a:extLst>
              <a:ext uri="{FF2B5EF4-FFF2-40B4-BE49-F238E27FC236}">
                <a16:creationId xmlns:a16="http://schemas.microsoft.com/office/drawing/2014/main" id="{96AD54A2-F101-4EE3-A11A-64D527C961E1}"/>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How one transaction moves through the system</a:t>
            </a:r>
          </a:p>
        </p:txBody>
      </p:sp>
      <p:sp>
        <p:nvSpPr>
          <p:cNvPr id="5" name="slide-subtitle">
            <a:extLst>
              <a:ext uri="{FF2B5EF4-FFF2-40B4-BE49-F238E27FC236}">
                <a16:creationId xmlns:a16="http://schemas.microsoft.com/office/drawing/2014/main" id="{8E9C0564-5434-48BA-9DE7-6B87822E8F2E}"/>
              </a:ext>
            </a:extLst>
          </p:cNvPr>
          <p:cNvSpPr>
            <a:spLocks noGrp="1"/>
          </p:cNvSpPr>
          <p:nvPr/>
        </p:nvSpPr>
        <p:spPr>
          <a:xfrm>
            <a:off x="533400" y="1295400"/>
            <a:ext cx="11049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The same decision path links behavioural features, ensemble scores and human review.</a:t>
            </a:r>
          </a:p>
        </p:txBody>
      </p:sp>
      <p:sp>
        <p:nvSpPr>
          <p:cNvPr id="6" name="flow-connector-1">
            <a:extLst>
              <a:ext uri="{FF2B5EF4-FFF2-40B4-BE49-F238E27FC236}">
                <a16:creationId xmlns:a16="http://schemas.microsoft.com/office/drawing/2014/main" id="{A1390183-D1EB-483F-BB75-69FA6EC038A8}"/>
              </a:ext>
            </a:extLst>
          </p:cNvPr>
          <p:cNvSpPr>
            <a:spLocks noGrp="1"/>
          </p:cNvSpPr>
          <p:nvPr/>
        </p:nvSpPr>
        <p:spPr>
          <a:xfrm>
            <a:off x="2438400" y="3248025"/>
            <a:ext cx="342900" cy="0"/>
          </a:xfrm>
          <a:prstGeom prst="line">
            <a:avLst/>
          </a:prstGeom>
          <a:noFill/>
          <a:ln w="19050">
            <a:solidFill>
              <a:srgbClr val="AAB5C1"/>
            </a:solidFill>
            <a:prstDash val="solid"/>
          </a:ln>
        </p:spPr>
      </p:sp>
      <p:sp>
        <p:nvSpPr>
          <p:cNvPr id="7" name="flow-connector-2">
            <a:extLst>
              <a:ext uri="{FF2B5EF4-FFF2-40B4-BE49-F238E27FC236}">
                <a16:creationId xmlns:a16="http://schemas.microsoft.com/office/drawing/2014/main" id="{D0D0B222-1418-44BB-BF66-3043748BC4FF}"/>
              </a:ext>
            </a:extLst>
          </p:cNvPr>
          <p:cNvSpPr>
            <a:spLocks noGrp="1"/>
          </p:cNvSpPr>
          <p:nvPr/>
        </p:nvSpPr>
        <p:spPr>
          <a:xfrm>
            <a:off x="4686300" y="3248025"/>
            <a:ext cx="342900" cy="0"/>
          </a:xfrm>
          <a:prstGeom prst="line">
            <a:avLst/>
          </a:prstGeom>
          <a:noFill/>
          <a:ln w="19050">
            <a:solidFill>
              <a:srgbClr val="AAB5C1"/>
            </a:solidFill>
            <a:prstDash val="solid"/>
          </a:ln>
        </p:spPr>
      </p:sp>
      <p:sp>
        <p:nvSpPr>
          <p:cNvPr id="8" name="flow-connector-3">
            <a:extLst>
              <a:ext uri="{FF2B5EF4-FFF2-40B4-BE49-F238E27FC236}">
                <a16:creationId xmlns:a16="http://schemas.microsoft.com/office/drawing/2014/main" id="{2B480C99-77F5-4C62-B618-87C0E646C473}"/>
              </a:ext>
            </a:extLst>
          </p:cNvPr>
          <p:cNvSpPr>
            <a:spLocks noGrp="1"/>
          </p:cNvSpPr>
          <p:nvPr/>
        </p:nvSpPr>
        <p:spPr>
          <a:xfrm>
            <a:off x="6934200" y="3248025"/>
            <a:ext cx="342900" cy="0"/>
          </a:xfrm>
          <a:prstGeom prst="line">
            <a:avLst/>
          </a:prstGeom>
          <a:noFill/>
          <a:ln w="19050">
            <a:solidFill>
              <a:srgbClr val="AAB5C1"/>
            </a:solidFill>
            <a:prstDash val="solid"/>
          </a:ln>
        </p:spPr>
      </p:sp>
      <p:sp>
        <p:nvSpPr>
          <p:cNvPr id="9" name="flow-connector-4">
            <a:extLst>
              <a:ext uri="{FF2B5EF4-FFF2-40B4-BE49-F238E27FC236}">
                <a16:creationId xmlns:a16="http://schemas.microsoft.com/office/drawing/2014/main" id="{37948994-C2A3-4DB2-BBF0-3D03FD9212E3}"/>
              </a:ext>
            </a:extLst>
          </p:cNvPr>
          <p:cNvSpPr>
            <a:spLocks noGrp="1"/>
          </p:cNvSpPr>
          <p:nvPr/>
        </p:nvSpPr>
        <p:spPr>
          <a:xfrm>
            <a:off x="9182100" y="3248025"/>
            <a:ext cx="342900" cy="0"/>
          </a:xfrm>
          <a:prstGeom prst="line">
            <a:avLst/>
          </a:prstGeom>
          <a:noFill/>
          <a:ln w="19050">
            <a:solidFill>
              <a:srgbClr val="AAB5C1"/>
            </a:solidFill>
            <a:prstDash val="solid"/>
          </a:ln>
        </p:spPr>
      </p:sp>
      <p:sp>
        <p:nvSpPr>
          <p:cNvPr id="10" name="flow-card-1">
            <a:extLst>
              <a:ext uri="{FF2B5EF4-FFF2-40B4-BE49-F238E27FC236}">
                <a16:creationId xmlns:a16="http://schemas.microsoft.com/office/drawing/2014/main" id="{665C3060-BC37-4830-B6F3-1A9F876A731F}"/>
              </a:ext>
            </a:extLst>
          </p:cNvPr>
          <p:cNvSpPr>
            <a:spLocks noGrp="1"/>
          </p:cNvSpPr>
          <p:nvPr/>
        </p:nvSpPr>
        <p:spPr>
          <a:xfrm>
            <a:off x="533400" y="2381250"/>
            <a:ext cx="1905000" cy="1733550"/>
          </a:xfrm>
          <a:prstGeom prst="roundRect">
            <a:avLst>
              <a:gd name="adj" fmla="val 6593"/>
            </a:avLst>
          </a:prstGeom>
          <a:solidFill>
            <a:srgbClr val="F2F4F7"/>
          </a:solidFill>
          <a:ln w="9525">
            <a:solidFill>
              <a:srgbClr val="D6DDE5"/>
            </a:solidFill>
            <a:prstDash val="solid"/>
          </a:ln>
        </p:spPr>
      </p:sp>
      <p:sp>
        <p:nvSpPr>
          <p:cNvPr id="11" name="flow-step-1">
            <a:extLst>
              <a:ext uri="{FF2B5EF4-FFF2-40B4-BE49-F238E27FC236}">
                <a16:creationId xmlns:a16="http://schemas.microsoft.com/office/drawing/2014/main" id="{F5DEBC7A-EB00-447F-9562-8C6C1D857FD3}"/>
              </a:ext>
            </a:extLst>
          </p:cNvPr>
          <p:cNvSpPr>
            <a:spLocks noGrp="1"/>
          </p:cNvSpPr>
          <p:nvPr/>
        </p:nvSpPr>
        <p:spPr>
          <a:xfrm>
            <a:off x="723900" y="2571750"/>
            <a:ext cx="304800" cy="304800"/>
          </a:xfrm>
          <a:prstGeom prst="ellipse">
            <a:avLst/>
          </a:prstGeom>
          <a:solidFill>
            <a:srgbClr val="3D8DFF"/>
          </a:solidFill>
          <a:ln w="0">
            <a:noFill/>
            <a:prstDash val="solid"/>
          </a:ln>
        </p:spPr>
      </p:sp>
      <p:sp>
        <p:nvSpPr>
          <p:cNvPr id="12" name="flow-number-1">
            <a:extLst>
              <a:ext uri="{FF2B5EF4-FFF2-40B4-BE49-F238E27FC236}">
                <a16:creationId xmlns:a16="http://schemas.microsoft.com/office/drawing/2014/main" id="{F689E22A-5579-4BD0-A437-046232FCBCFF}"/>
              </a:ext>
            </a:extLst>
          </p:cNvPr>
          <p:cNvSpPr>
            <a:spLocks noGrp="1"/>
          </p:cNvSpPr>
          <p:nvPr/>
        </p:nvSpPr>
        <p:spPr>
          <a:xfrm>
            <a:off x="723900" y="2619375"/>
            <a:ext cx="304800" cy="190500"/>
          </a:xfrm>
          <a:prstGeom prst="rect">
            <a:avLst/>
          </a:prstGeom>
          <a:noFill/>
          <a:ln w="0">
            <a:noFill/>
            <a:prstDash val="solid"/>
          </a:ln>
        </p:spPr>
        <p:txBody>
          <a:bodyPr wrap="square" lIns="0" tIns="0" rIns="0" bIns="0" anchor="ctr">
            <a:noAutofit/>
          </a:bodyPr>
          <a:lstStyle/>
          <a:p>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3" name="flow-label-1">
            <a:extLst>
              <a:ext uri="{FF2B5EF4-FFF2-40B4-BE49-F238E27FC236}">
                <a16:creationId xmlns:a16="http://schemas.microsoft.com/office/drawing/2014/main" id="{C95C1F59-A583-43A1-94AE-E3723FE3693F}"/>
              </a:ext>
            </a:extLst>
          </p:cNvPr>
          <p:cNvSpPr>
            <a:spLocks noGrp="1"/>
          </p:cNvSpPr>
          <p:nvPr/>
        </p:nvSpPr>
        <p:spPr>
          <a:xfrm>
            <a:off x="1162050" y="2628900"/>
            <a:ext cx="1143000" cy="209550"/>
          </a:xfrm>
          <a:prstGeom prst="rect">
            <a:avLst/>
          </a:prstGeom>
          <a:noFill/>
          <a:ln w="0">
            <a:noFill/>
            <a:prstDash val="solid"/>
          </a:ln>
        </p:spPr>
        <p:txBody>
          <a:bodyPr wrap="square" lIns="0" tIns="0" rIns="0" bIns="0" anchor="t">
            <a:noAutofit/>
          </a:bodyPr>
          <a:lstStyle/>
          <a:p>
            <a:pPr algn="l">
              <a:buNone/>
              <a:defRPr sz="975" b="1" i="0">
                <a:solidFill>
                  <a:srgbClr val="3D8DFF"/>
                </a:solidFill>
                <a:latin typeface="Arial"/>
                <a:ea typeface="Arial"/>
                <a:cs typeface="Arial"/>
              </a:defRPr>
            </a:pPr>
            <a:r>
              <a:rPr sz="975" b="1" i="0">
                <a:solidFill>
                  <a:srgbClr val="3D8DFF"/>
                </a:solidFill>
                <a:latin typeface="Arial"/>
                <a:ea typeface="Arial"/>
                <a:cs typeface="Arial"/>
              </a:rPr>
              <a:t>CAPTURE</a:t>
            </a:r>
          </a:p>
        </p:txBody>
      </p:sp>
      <p:sp>
        <p:nvSpPr>
          <p:cNvPr id="14" name="flow-body-1">
            <a:extLst>
              <a:ext uri="{FF2B5EF4-FFF2-40B4-BE49-F238E27FC236}">
                <a16:creationId xmlns:a16="http://schemas.microsoft.com/office/drawing/2014/main" id="{CBCAE38D-D2BB-43E4-824B-48A67BABE80F}"/>
              </a:ext>
            </a:extLst>
          </p:cNvPr>
          <p:cNvSpPr>
            <a:spLocks noGrp="1"/>
          </p:cNvSpPr>
          <p:nvPr/>
        </p:nvSpPr>
        <p:spPr>
          <a:xfrm>
            <a:off x="723900" y="3162300"/>
            <a:ext cx="1524000" cy="6667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Raw transaction</a:t>
            </a:r>
          </a:p>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context</a:t>
            </a:r>
          </a:p>
        </p:txBody>
      </p:sp>
      <p:sp>
        <p:nvSpPr>
          <p:cNvPr id="15" name="flow-card-2">
            <a:extLst>
              <a:ext uri="{FF2B5EF4-FFF2-40B4-BE49-F238E27FC236}">
                <a16:creationId xmlns:a16="http://schemas.microsoft.com/office/drawing/2014/main" id="{B4E30D23-3450-4D1E-BD5F-2E891B914863}"/>
              </a:ext>
            </a:extLst>
          </p:cNvPr>
          <p:cNvSpPr>
            <a:spLocks noGrp="1"/>
          </p:cNvSpPr>
          <p:nvPr/>
        </p:nvSpPr>
        <p:spPr>
          <a:xfrm>
            <a:off x="2781300" y="2381250"/>
            <a:ext cx="1905000" cy="1733550"/>
          </a:xfrm>
          <a:prstGeom prst="roundRect">
            <a:avLst>
              <a:gd name="adj" fmla="val 6593"/>
            </a:avLst>
          </a:prstGeom>
          <a:solidFill>
            <a:srgbClr val="F2F4F7"/>
          </a:solidFill>
          <a:ln w="9525">
            <a:solidFill>
              <a:srgbClr val="D6DDE5"/>
            </a:solidFill>
            <a:prstDash val="solid"/>
          </a:ln>
        </p:spPr>
      </p:sp>
      <p:sp>
        <p:nvSpPr>
          <p:cNvPr id="16" name="flow-step-2">
            <a:extLst>
              <a:ext uri="{FF2B5EF4-FFF2-40B4-BE49-F238E27FC236}">
                <a16:creationId xmlns:a16="http://schemas.microsoft.com/office/drawing/2014/main" id="{3427C0D8-8178-4BA4-B131-41D0B3EBBB2A}"/>
              </a:ext>
            </a:extLst>
          </p:cNvPr>
          <p:cNvSpPr>
            <a:spLocks noGrp="1"/>
          </p:cNvSpPr>
          <p:nvPr/>
        </p:nvSpPr>
        <p:spPr>
          <a:xfrm>
            <a:off x="2971800" y="2571750"/>
            <a:ext cx="304800" cy="304800"/>
          </a:xfrm>
          <a:prstGeom prst="ellipse">
            <a:avLst/>
          </a:prstGeom>
          <a:solidFill>
            <a:srgbClr val="5D58E9"/>
          </a:solidFill>
          <a:ln w="0">
            <a:noFill/>
            <a:prstDash val="solid"/>
          </a:ln>
        </p:spPr>
      </p:sp>
      <p:sp>
        <p:nvSpPr>
          <p:cNvPr id="17" name="flow-number-2">
            <a:extLst>
              <a:ext uri="{FF2B5EF4-FFF2-40B4-BE49-F238E27FC236}">
                <a16:creationId xmlns:a16="http://schemas.microsoft.com/office/drawing/2014/main" id="{8E9FCDF5-FFC5-4FB4-B12C-FAD6EDA3AB20}"/>
              </a:ext>
            </a:extLst>
          </p:cNvPr>
          <p:cNvSpPr>
            <a:spLocks noGrp="1"/>
          </p:cNvSpPr>
          <p:nvPr/>
        </p:nvSpPr>
        <p:spPr>
          <a:xfrm>
            <a:off x="2971800" y="2619375"/>
            <a:ext cx="304800" cy="190500"/>
          </a:xfrm>
          <a:prstGeom prst="rect">
            <a:avLst/>
          </a:prstGeom>
          <a:noFill/>
          <a:ln w="0">
            <a:noFill/>
            <a:prstDash val="solid"/>
          </a:ln>
        </p:spPr>
        <p:txBody>
          <a:bodyPr wrap="square" lIns="0" tIns="0" rIns="0" bIns="0" anchor="ctr">
            <a:noAutofit/>
          </a:bodyPr>
          <a:lstStyle/>
          <a:p>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8" name="flow-label-2">
            <a:extLst>
              <a:ext uri="{FF2B5EF4-FFF2-40B4-BE49-F238E27FC236}">
                <a16:creationId xmlns:a16="http://schemas.microsoft.com/office/drawing/2014/main" id="{A08BDB4A-2A18-4941-A71C-70EB5A386AA0}"/>
              </a:ext>
            </a:extLst>
          </p:cNvPr>
          <p:cNvSpPr>
            <a:spLocks noGrp="1"/>
          </p:cNvSpPr>
          <p:nvPr/>
        </p:nvSpPr>
        <p:spPr>
          <a:xfrm>
            <a:off x="3409950" y="2628900"/>
            <a:ext cx="1143000" cy="209550"/>
          </a:xfrm>
          <a:prstGeom prst="rect">
            <a:avLst/>
          </a:prstGeom>
          <a:noFill/>
          <a:ln w="0">
            <a:noFill/>
            <a:prstDash val="solid"/>
          </a:ln>
        </p:spPr>
        <p:txBody>
          <a:bodyPr wrap="square" lIns="0" tIns="0" rIns="0" bIns="0" anchor="t">
            <a:noAutofit/>
          </a:bodyPr>
          <a:lstStyle/>
          <a:p>
            <a:pPr algn="l">
              <a:buNone/>
              <a:defRPr sz="975" b="1" i="0">
                <a:solidFill>
                  <a:srgbClr val="5D58E9"/>
                </a:solidFill>
                <a:latin typeface="Arial"/>
                <a:ea typeface="Arial"/>
                <a:cs typeface="Arial"/>
              </a:defRPr>
            </a:pPr>
            <a:r>
              <a:rPr sz="975" b="1" i="0">
                <a:solidFill>
                  <a:srgbClr val="5D58E9"/>
                </a:solidFill>
                <a:latin typeface="Arial"/>
                <a:ea typeface="Arial"/>
                <a:cs typeface="Arial"/>
              </a:rPr>
              <a:t>ENGINEER</a:t>
            </a:r>
          </a:p>
        </p:txBody>
      </p:sp>
      <p:sp>
        <p:nvSpPr>
          <p:cNvPr id="19" name="flow-body-2">
            <a:extLst>
              <a:ext uri="{FF2B5EF4-FFF2-40B4-BE49-F238E27FC236}">
                <a16:creationId xmlns:a16="http://schemas.microsoft.com/office/drawing/2014/main" id="{24876703-F7F0-49F4-9637-08043D79EC15}"/>
              </a:ext>
            </a:extLst>
          </p:cNvPr>
          <p:cNvSpPr>
            <a:spLocks noGrp="1"/>
          </p:cNvSpPr>
          <p:nvPr/>
        </p:nvSpPr>
        <p:spPr>
          <a:xfrm>
            <a:off x="2971800" y="3162300"/>
            <a:ext cx="1524000" cy="6667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Hour · age ·</a:t>
            </a:r>
          </a:p>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distance · z-score</a:t>
            </a:r>
          </a:p>
        </p:txBody>
      </p:sp>
      <p:sp>
        <p:nvSpPr>
          <p:cNvPr id="20" name="flow-card-3">
            <a:extLst>
              <a:ext uri="{FF2B5EF4-FFF2-40B4-BE49-F238E27FC236}">
                <a16:creationId xmlns:a16="http://schemas.microsoft.com/office/drawing/2014/main" id="{B7842F4E-ADB5-452C-ACD0-EF5C32732247}"/>
              </a:ext>
            </a:extLst>
          </p:cNvPr>
          <p:cNvSpPr>
            <a:spLocks noGrp="1"/>
          </p:cNvSpPr>
          <p:nvPr/>
        </p:nvSpPr>
        <p:spPr>
          <a:xfrm>
            <a:off x="5029200" y="2381250"/>
            <a:ext cx="1905000" cy="1733550"/>
          </a:xfrm>
          <a:prstGeom prst="roundRect">
            <a:avLst>
              <a:gd name="adj" fmla="val 6593"/>
            </a:avLst>
          </a:prstGeom>
          <a:solidFill>
            <a:srgbClr val="F2F4F7"/>
          </a:solidFill>
          <a:ln w="9525">
            <a:solidFill>
              <a:srgbClr val="D6DDE5"/>
            </a:solidFill>
            <a:prstDash val="solid"/>
          </a:ln>
        </p:spPr>
      </p:sp>
      <p:sp>
        <p:nvSpPr>
          <p:cNvPr id="21" name="flow-step-3">
            <a:extLst>
              <a:ext uri="{FF2B5EF4-FFF2-40B4-BE49-F238E27FC236}">
                <a16:creationId xmlns:a16="http://schemas.microsoft.com/office/drawing/2014/main" id="{D8E04EF2-2090-4411-B223-1EDC4539AE84}"/>
              </a:ext>
            </a:extLst>
          </p:cNvPr>
          <p:cNvSpPr>
            <a:spLocks noGrp="1"/>
          </p:cNvSpPr>
          <p:nvPr/>
        </p:nvSpPr>
        <p:spPr>
          <a:xfrm>
            <a:off x="5219700" y="2571750"/>
            <a:ext cx="304800" cy="304800"/>
          </a:xfrm>
          <a:prstGeom prst="ellipse">
            <a:avLst/>
          </a:prstGeom>
          <a:solidFill>
            <a:srgbClr val="6DCBF4"/>
          </a:solidFill>
          <a:ln w="0">
            <a:noFill/>
            <a:prstDash val="solid"/>
          </a:ln>
        </p:spPr>
      </p:sp>
      <p:sp>
        <p:nvSpPr>
          <p:cNvPr id="22" name="flow-number-3">
            <a:extLst>
              <a:ext uri="{FF2B5EF4-FFF2-40B4-BE49-F238E27FC236}">
                <a16:creationId xmlns:a16="http://schemas.microsoft.com/office/drawing/2014/main" id="{3DBE668D-6DCC-4AFB-9957-581B2AAB29D1}"/>
              </a:ext>
            </a:extLst>
          </p:cNvPr>
          <p:cNvSpPr>
            <a:spLocks noGrp="1"/>
          </p:cNvSpPr>
          <p:nvPr/>
        </p:nvSpPr>
        <p:spPr>
          <a:xfrm>
            <a:off x="5219700" y="2619375"/>
            <a:ext cx="304800" cy="190500"/>
          </a:xfrm>
          <a:prstGeom prst="rect">
            <a:avLst/>
          </a:prstGeom>
          <a:noFill/>
          <a:ln w="0">
            <a:noFill/>
            <a:prstDash val="solid"/>
          </a:ln>
        </p:spPr>
        <p:txBody>
          <a:bodyPr wrap="square" lIns="0" tIns="0" rIns="0" bIns="0" anchor="ctr">
            <a:noAutofit/>
          </a:bodyPr>
          <a:lstStyle/>
          <a:p>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flow-label-3">
            <a:extLst>
              <a:ext uri="{FF2B5EF4-FFF2-40B4-BE49-F238E27FC236}">
                <a16:creationId xmlns:a16="http://schemas.microsoft.com/office/drawing/2014/main" id="{C723ADF0-7E9B-437E-BDE4-E4DF45CC5A07}"/>
              </a:ext>
            </a:extLst>
          </p:cNvPr>
          <p:cNvSpPr>
            <a:spLocks noGrp="1"/>
          </p:cNvSpPr>
          <p:nvPr/>
        </p:nvSpPr>
        <p:spPr>
          <a:xfrm>
            <a:off x="5657850" y="2628900"/>
            <a:ext cx="1143000" cy="209550"/>
          </a:xfrm>
          <a:prstGeom prst="rect">
            <a:avLst/>
          </a:prstGeom>
          <a:noFill/>
          <a:ln w="0">
            <a:noFill/>
            <a:prstDash val="solid"/>
          </a:ln>
        </p:spPr>
        <p:txBody>
          <a:bodyPr wrap="square" lIns="0" tIns="0" rIns="0" bIns="0" anchor="t">
            <a:noAutofit/>
          </a:bodyPr>
          <a:lstStyle/>
          <a:p>
            <a:pPr algn="l">
              <a:buNone/>
              <a:defRPr sz="975" b="1" i="0">
                <a:solidFill>
                  <a:srgbClr val="6DCBF4"/>
                </a:solidFill>
                <a:latin typeface="Arial"/>
                <a:ea typeface="Arial"/>
                <a:cs typeface="Arial"/>
              </a:defRPr>
            </a:pPr>
            <a:r>
              <a:rPr sz="975" b="1" i="0">
                <a:solidFill>
                  <a:srgbClr val="6DCBF4"/>
                </a:solidFill>
                <a:latin typeface="Arial"/>
                <a:ea typeface="Arial"/>
                <a:cs typeface="Arial"/>
              </a:rPr>
              <a:t>SCORE</a:t>
            </a:r>
          </a:p>
        </p:txBody>
      </p:sp>
      <p:sp>
        <p:nvSpPr>
          <p:cNvPr id="24" name="flow-body-3">
            <a:extLst>
              <a:ext uri="{FF2B5EF4-FFF2-40B4-BE49-F238E27FC236}">
                <a16:creationId xmlns:a16="http://schemas.microsoft.com/office/drawing/2014/main" id="{528E8BD5-0BF7-425B-8B6A-1755D4058E53}"/>
              </a:ext>
            </a:extLst>
          </p:cNvPr>
          <p:cNvSpPr>
            <a:spLocks noGrp="1"/>
          </p:cNvSpPr>
          <p:nvPr/>
        </p:nvSpPr>
        <p:spPr>
          <a:xfrm>
            <a:off x="5219700" y="3162300"/>
            <a:ext cx="1524000" cy="6667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LR · RF · XGB</a:t>
            </a:r>
          </a:p>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fraud probabilities</a:t>
            </a:r>
          </a:p>
        </p:txBody>
      </p:sp>
      <p:sp>
        <p:nvSpPr>
          <p:cNvPr id="25" name="flow-card-4">
            <a:extLst>
              <a:ext uri="{FF2B5EF4-FFF2-40B4-BE49-F238E27FC236}">
                <a16:creationId xmlns:a16="http://schemas.microsoft.com/office/drawing/2014/main" id="{F4A4AAA6-75A2-469F-8535-483C6C9C9117}"/>
              </a:ext>
            </a:extLst>
          </p:cNvPr>
          <p:cNvSpPr>
            <a:spLocks noGrp="1"/>
          </p:cNvSpPr>
          <p:nvPr/>
        </p:nvSpPr>
        <p:spPr>
          <a:xfrm>
            <a:off x="7277100" y="2381250"/>
            <a:ext cx="1905000" cy="1733550"/>
          </a:xfrm>
          <a:prstGeom prst="roundRect">
            <a:avLst>
              <a:gd name="adj" fmla="val 6593"/>
            </a:avLst>
          </a:prstGeom>
          <a:solidFill>
            <a:srgbClr val="F2F4F7"/>
          </a:solidFill>
          <a:ln w="9525">
            <a:solidFill>
              <a:srgbClr val="D6DDE5"/>
            </a:solidFill>
            <a:prstDash val="solid"/>
          </a:ln>
        </p:spPr>
      </p:sp>
      <p:sp>
        <p:nvSpPr>
          <p:cNvPr id="26" name="flow-step-4">
            <a:extLst>
              <a:ext uri="{FF2B5EF4-FFF2-40B4-BE49-F238E27FC236}">
                <a16:creationId xmlns:a16="http://schemas.microsoft.com/office/drawing/2014/main" id="{AA27B3BB-D5A5-446E-9666-273AE4559D3A}"/>
              </a:ext>
            </a:extLst>
          </p:cNvPr>
          <p:cNvSpPr>
            <a:spLocks noGrp="1"/>
          </p:cNvSpPr>
          <p:nvPr/>
        </p:nvSpPr>
        <p:spPr>
          <a:xfrm>
            <a:off x="7467600" y="2571750"/>
            <a:ext cx="304800" cy="304800"/>
          </a:xfrm>
          <a:prstGeom prst="ellipse">
            <a:avLst/>
          </a:prstGeom>
          <a:solidFill>
            <a:srgbClr val="279A73"/>
          </a:solidFill>
          <a:ln w="0">
            <a:noFill/>
            <a:prstDash val="solid"/>
          </a:ln>
        </p:spPr>
      </p:sp>
      <p:sp>
        <p:nvSpPr>
          <p:cNvPr id="27" name="flow-number-4">
            <a:extLst>
              <a:ext uri="{FF2B5EF4-FFF2-40B4-BE49-F238E27FC236}">
                <a16:creationId xmlns:a16="http://schemas.microsoft.com/office/drawing/2014/main" id="{1B19AC01-A4C2-48F6-B372-8CFD64C313A2}"/>
              </a:ext>
            </a:extLst>
          </p:cNvPr>
          <p:cNvSpPr>
            <a:spLocks noGrp="1"/>
          </p:cNvSpPr>
          <p:nvPr/>
        </p:nvSpPr>
        <p:spPr>
          <a:xfrm>
            <a:off x="7467600" y="2619375"/>
            <a:ext cx="304800" cy="190500"/>
          </a:xfrm>
          <a:prstGeom prst="rect">
            <a:avLst/>
          </a:prstGeom>
          <a:noFill/>
          <a:ln w="0">
            <a:noFill/>
            <a:prstDash val="solid"/>
          </a:ln>
        </p:spPr>
        <p:txBody>
          <a:bodyPr wrap="square" lIns="0" tIns="0" rIns="0" bIns="0" anchor="ctr">
            <a:noAutofit/>
          </a:bodyPr>
          <a:lstStyle/>
          <a:p>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8" name="flow-label-4">
            <a:extLst>
              <a:ext uri="{FF2B5EF4-FFF2-40B4-BE49-F238E27FC236}">
                <a16:creationId xmlns:a16="http://schemas.microsoft.com/office/drawing/2014/main" id="{C4EF13F2-B8C2-40A8-9A75-A7ACDBCD7D79}"/>
              </a:ext>
            </a:extLst>
          </p:cNvPr>
          <p:cNvSpPr>
            <a:spLocks noGrp="1"/>
          </p:cNvSpPr>
          <p:nvPr/>
        </p:nvSpPr>
        <p:spPr>
          <a:xfrm>
            <a:off x="7905750" y="2628900"/>
            <a:ext cx="1143000" cy="209550"/>
          </a:xfrm>
          <a:prstGeom prst="rect">
            <a:avLst/>
          </a:prstGeom>
          <a:noFill/>
          <a:ln w="0">
            <a:noFill/>
            <a:prstDash val="solid"/>
          </a:ln>
        </p:spPr>
        <p:txBody>
          <a:bodyPr wrap="square" lIns="0" tIns="0" rIns="0" bIns="0" anchor="t">
            <a:noAutofit/>
          </a:bodyPr>
          <a:lstStyle/>
          <a:p>
            <a:pPr algn="l">
              <a:buNone/>
              <a:defRPr sz="975" b="1" i="0">
                <a:solidFill>
                  <a:srgbClr val="279A73"/>
                </a:solidFill>
                <a:latin typeface="Arial"/>
                <a:ea typeface="Arial"/>
                <a:cs typeface="Arial"/>
              </a:defRPr>
            </a:pPr>
            <a:r>
              <a:rPr sz="975" b="1" i="0">
                <a:solidFill>
                  <a:srgbClr val="279A73"/>
                </a:solidFill>
                <a:latin typeface="Arial"/>
                <a:ea typeface="Arial"/>
                <a:cs typeface="Arial"/>
              </a:rPr>
              <a:t>EXPLAIN</a:t>
            </a:r>
          </a:p>
        </p:txBody>
      </p:sp>
      <p:sp>
        <p:nvSpPr>
          <p:cNvPr id="29" name="flow-body-4">
            <a:extLst>
              <a:ext uri="{FF2B5EF4-FFF2-40B4-BE49-F238E27FC236}">
                <a16:creationId xmlns:a16="http://schemas.microsoft.com/office/drawing/2014/main" id="{D6F1F5A2-318F-40AC-9BEE-2536950F6895}"/>
              </a:ext>
            </a:extLst>
          </p:cNvPr>
          <p:cNvSpPr>
            <a:spLocks noGrp="1"/>
          </p:cNvSpPr>
          <p:nvPr/>
        </p:nvSpPr>
        <p:spPr>
          <a:xfrm>
            <a:off x="7467600" y="3162300"/>
            <a:ext cx="1524000" cy="666750"/>
          </a:xfrm>
          <a:prstGeom prst="rect">
            <a:avLst/>
          </a:prstGeom>
          <a:noFill/>
          <a:ln w="0">
            <a:noFill/>
            <a:prstDash val="solid"/>
          </a:ln>
        </p:spPr>
        <p:txBody>
          <a:bodyPr wrap="square" lIns="0" tIns="0" rIns="0" bIns="0" anchor="t">
            <a:noAutofit/>
          </a:bodyPr>
          <a:lstStyle/>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SHAP factors</a:t>
            </a:r>
          </a:p>
          <a:p>
            <a:pPr algn="l">
              <a:buNone/>
              <a:defRPr sz="1350" b="0" i="0">
                <a:solidFill>
                  <a:srgbClr val="111827"/>
                </a:solidFill>
                <a:latin typeface="Arial"/>
                <a:ea typeface="Arial"/>
                <a:cs typeface="Arial"/>
              </a:defRPr>
            </a:pPr>
            <a:r>
              <a:rPr sz="1350" b="0" i="0">
                <a:solidFill>
                  <a:srgbClr val="111827"/>
                </a:solidFill>
                <a:latin typeface="Arial"/>
                <a:ea typeface="Arial"/>
                <a:cs typeface="Arial"/>
              </a:rPr>
              <a:t>analyst message</a:t>
            </a:r>
          </a:p>
        </p:txBody>
      </p:sp>
      <p:sp>
        <p:nvSpPr>
          <p:cNvPr id="30" name="flow-card-5">
            <a:extLst>
              <a:ext uri="{FF2B5EF4-FFF2-40B4-BE49-F238E27FC236}">
                <a16:creationId xmlns:a16="http://schemas.microsoft.com/office/drawing/2014/main" id="{A597498A-B7F0-45B8-BC9B-3EC306B5F6E7}"/>
              </a:ext>
            </a:extLst>
          </p:cNvPr>
          <p:cNvSpPr>
            <a:spLocks noGrp="1"/>
          </p:cNvSpPr>
          <p:nvPr/>
        </p:nvSpPr>
        <p:spPr>
          <a:xfrm>
            <a:off x="9525000" y="2381250"/>
            <a:ext cx="1905000" cy="1733550"/>
          </a:xfrm>
          <a:prstGeom prst="roundRect">
            <a:avLst>
              <a:gd name="adj" fmla="val 6593"/>
            </a:avLst>
          </a:prstGeom>
          <a:solidFill>
            <a:srgbClr val="EAF5FB"/>
          </a:solidFill>
          <a:ln w="9525">
            <a:solidFill>
              <a:srgbClr val="D6DDE5"/>
            </a:solidFill>
            <a:prstDash val="solid"/>
          </a:ln>
        </p:spPr>
      </p:sp>
      <p:sp>
        <p:nvSpPr>
          <p:cNvPr id="31" name="flow-step-5">
            <a:extLst>
              <a:ext uri="{FF2B5EF4-FFF2-40B4-BE49-F238E27FC236}">
                <a16:creationId xmlns:a16="http://schemas.microsoft.com/office/drawing/2014/main" id="{77FE8D11-D9D5-4CA9-83A4-0A7B6EE501C1}"/>
              </a:ext>
            </a:extLst>
          </p:cNvPr>
          <p:cNvSpPr>
            <a:spLocks noGrp="1"/>
          </p:cNvSpPr>
          <p:nvPr/>
        </p:nvSpPr>
        <p:spPr>
          <a:xfrm>
            <a:off x="9715500" y="2571750"/>
            <a:ext cx="304800" cy="304800"/>
          </a:xfrm>
          <a:prstGeom prst="ellipse">
            <a:avLst/>
          </a:prstGeom>
          <a:solidFill>
            <a:srgbClr val="E7864F"/>
          </a:solidFill>
          <a:ln w="0">
            <a:noFill/>
            <a:prstDash val="solid"/>
          </a:ln>
        </p:spPr>
      </p:sp>
      <p:sp>
        <p:nvSpPr>
          <p:cNvPr id="32" name="flow-number-5">
            <a:extLst>
              <a:ext uri="{FF2B5EF4-FFF2-40B4-BE49-F238E27FC236}">
                <a16:creationId xmlns:a16="http://schemas.microsoft.com/office/drawing/2014/main" id="{65C18DD6-E23E-4AF0-AD94-0F732EB3C74B}"/>
              </a:ext>
            </a:extLst>
          </p:cNvPr>
          <p:cNvSpPr>
            <a:spLocks noGrp="1"/>
          </p:cNvSpPr>
          <p:nvPr/>
        </p:nvSpPr>
        <p:spPr>
          <a:xfrm>
            <a:off x="9715500" y="2619375"/>
            <a:ext cx="304800" cy="190500"/>
          </a:xfrm>
          <a:prstGeom prst="rect">
            <a:avLst/>
          </a:prstGeom>
          <a:noFill/>
          <a:ln w="0">
            <a:noFill/>
            <a:prstDash val="solid"/>
          </a:ln>
        </p:spPr>
        <p:txBody>
          <a:bodyPr wrap="square" lIns="0" tIns="0" rIns="0" bIns="0" anchor="ctr">
            <a:noAutofit/>
          </a:bodyPr>
          <a:lstStyle/>
          <a:p>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3" name="flow-label-5">
            <a:extLst>
              <a:ext uri="{FF2B5EF4-FFF2-40B4-BE49-F238E27FC236}">
                <a16:creationId xmlns:a16="http://schemas.microsoft.com/office/drawing/2014/main" id="{F2804D22-400E-452B-BB04-3CFE9531EDD6}"/>
              </a:ext>
            </a:extLst>
          </p:cNvPr>
          <p:cNvSpPr>
            <a:spLocks noGrp="1"/>
          </p:cNvSpPr>
          <p:nvPr/>
        </p:nvSpPr>
        <p:spPr>
          <a:xfrm>
            <a:off x="10153650" y="2628900"/>
            <a:ext cx="1143000" cy="209550"/>
          </a:xfrm>
          <a:prstGeom prst="rect">
            <a:avLst/>
          </a:prstGeom>
          <a:noFill/>
          <a:ln w="0">
            <a:noFill/>
            <a:prstDash val="solid"/>
          </a:ln>
        </p:spPr>
        <p:txBody>
          <a:bodyPr wrap="square" lIns="0" tIns="0" rIns="0" bIns="0" anchor="t">
            <a:noAutofit/>
          </a:bodyPr>
          <a:lstStyle/>
          <a:p>
            <a:pPr algn="l">
              <a:buNone/>
              <a:defRPr sz="975" b="1" i="0">
                <a:solidFill>
                  <a:srgbClr val="E7864F"/>
                </a:solidFill>
                <a:latin typeface="Arial"/>
                <a:ea typeface="Arial"/>
                <a:cs typeface="Arial"/>
              </a:defRPr>
            </a:pPr>
            <a:r>
              <a:rPr sz="975" b="1" i="0">
                <a:solidFill>
                  <a:srgbClr val="E7864F"/>
                </a:solidFill>
                <a:latin typeface="Arial"/>
                <a:ea typeface="Arial"/>
                <a:cs typeface="Arial"/>
              </a:rPr>
              <a:t>DECIDE</a:t>
            </a:r>
          </a:p>
        </p:txBody>
      </p:sp>
      <p:sp>
        <p:nvSpPr>
          <p:cNvPr id="34" name="flow-body-5">
            <a:extLst>
              <a:ext uri="{FF2B5EF4-FFF2-40B4-BE49-F238E27FC236}">
                <a16:creationId xmlns:a16="http://schemas.microsoft.com/office/drawing/2014/main" id="{25A4E255-2C39-4DC7-A4E8-EA769D03C63E}"/>
              </a:ext>
            </a:extLst>
          </p:cNvPr>
          <p:cNvSpPr>
            <a:spLocks noGrp="1"/>
          </p:cNvSpPr>
          <p:nvPr/>
        </p:nvSpPr>
        <p:spPr>
          <a:xfrm>
            <a:off x="9715500" y="3162300"/>
            <a:ext cx="1524000" cy="666750"/>
          </a:xfrm>
          <a:prstGeom prst="rect">
            <a:avLst/>
          </a:prstGeom>
          <a:noFill/>
          <a:ln w="0">
            <a:noFill/>
            <a:prstDash val="solid"/>
          </a:ln>
        </p:spPr>
        <p:txBody>
          <a:bodyPr wrap="square" lIns="0" tIns="0" rIns="0" bIns="0" anchor="t">
            <a:noAutofit/>
          </a:bodyPr>
          <a:lstStyle/>
          <a:p>
            <a:pPr algn="l">
              <a:buNone/>
              <a:defRPr sz="1350" b="1" i="0">
                <a:solidFill>
                  <a:srgbClr val="111827"/>
                </a:solidFill>
                <a:latin typeface="Arial"/>
                <a:ea typeface="Arial"/>
                <a:cs typeface="Arial"/>
              </a:defRPr>
            </a:pPr>
            <a:r>
              <a:rPr sz="1350" b="1" i="0">
                <a:solidFill>
                  <a:srgbClr val="111827"/>
                </a:solidFill>
                <a:latin typeface="Arial"/>
                <a:ea typeface="Arial"/>
                <a:cs typeface="Arial"/>
              </a:rPr>
              <a:t>Approved · Review</a:t>
            </a:r>
          </a:p>
          <a:p>
            <a:pPr algn="l">
              <a:buNone/>
              <a:defRPr sz="1350" b="1" i="0">
                <a:solidFill>
                  <a:srgbClr val="111827"/>
                </a:solidFill>
                <a:latin typeface="Arial"/>
                <a:ea typeface="Arial"/>
                <a:cs typeface="Arial"/>
              </a:defRPr>
            </a:pPr>
            <a:r>
              <a:rPr sz="1350" b="1" i="0">
                <a:solidFill>
                  <a:srgbClr val="111827"/>
                </a:solidFill>
                <a:latin typeface="Arial"/>
                <a:ea typeface="Arial"/>
                <a:cs typeface="Arial"/>
              </a:rPr>
              <a:t>Fraud blocked</a:t>
            </a:r>
          </a:p>
        </p:txBody>
      </p:sp>
      <p:sp>
        <p:nvSpPr>
          <p:cNvPr id="35" name="traceability-callout">
            <a:extLst>
              <a:ext uri="{FF2B5EF4-FFF2-40B4-BE49-F238E27FC236}">
                <a16:creationId xmlns:a16="http://schemas.microsoft.com/office/drawing/2014/main" id="{697B9D77-6D49-496F-9F40-3B3A7D354BB7}"/>
              </a:ext>
            </a:extLst>
          </p:cNvPr>
          <p:cNvSpPr>
            <a:spLocks noGrp="1"/>
          </p:cNvSpPr>
          <p:nvPr/>
        </p:nvSpPr>
        <p:spPr>
          <a:xfrm>
            <a:off x="533400" y="4857750"/>
            <a:ext cx="11125200" cy="762000"/>
          </a:xfrm>
          <a:prstGeom prst="roundRect">
            <a:avLst>
              <a:gd name="adj" fmla="val 15000"/>
            </a:avLst>
          </a:prstGeom>
          <a:solidFill>
            <a:srgbClr val="EAF5FB"/>
          </a:solidFill>
          <a:ln w="9525">
            <a:solidFill>
              <a:srgbClr val="D6DDE5"/>
            </a:solidFill>
            <a:prstDash val="solid"/>
          </a:ln>
        </p:spPr>
      </p:sp>
      <p:sp>
        <p:nvSpPr>
          <p:cNvPr id="36" name="callout-label">
            <a:extLst>
              <a:ext uri="{FF2B5EF4-FFF2-40B4-BE49-F238E27FC236}">
                <a16:creationId xmlns:a16="http://schemas.microsoft.com/office/drawing/2014/main" id="{09AEE03A-F397-4221-B290-584D9532CEA9}"/>
              </a:ext>
            </a:extLst>
          </p:cNvPr>
          <p:cNvSpPr>
            <a:spLocks noGrp="1"/>
          </p:cNvSpPr>
          <p:nvPr/>
        </p:nvSpPr>
        <p:spPr>
          <a:xfrm>
            <a:off x="742950" y="5048250"/>
            <a:ext cx="1619250" cy="209550"/>
          </a:xfrm>
          <a:prstGeom prst="rect">
            <a:avLst/>
          </a:prstGeom>
          <a:noFill/>
          <a:ln w="0">
            <a:noFill/>
            <a:prstDash val="solid"/>
          </a:ln>
        </p:spPr>
        <p:txBody>
          <a:bodyPr wrap="square" lIns="0" tIns="0" rIns="0" bIns="0" anchor="t">
            <a:noAutofit/>
          </a:bodyPr>
          <a:lstStyle/>
          <a:p>
            <a:pPr algn="l">
              <a:buNone/>
              <a:defRPr sz="900" b="1" i="0">
                <a:solidFill>
                  <a:srgbClr val="3D8DFF"/>
                </a:solidFill>
                <a:latin typeface="Arial"/>
                <a:ea typeface="Arial"/>
                <a:cs typeface="Arial"/>
              </a:defRPr>
            </a:pPr>
            <a:r>
              <a:rPr sz="900" b="1" i="0">
                <a:solidFill>
                  <a:srgbClr val="3D8DFF"/>
                </a:solidFill>
                <a:latin typeface="Arial"/>
                <a:ea typeface="Arial"/>
                <a:cs typeface="Arial"/>
              </a:rPr>
              <a:t>DESIGN PRINCIPLE</a:t>
            </a:r>
          </a:p>
        </p:txBody>
      </p:sp>
      <p:sp>
        <p:nvSpPr>
          <p:cNvPr id="37" name="callout-text">
            <a:extLst>
              <a:ext uri="{FF2B5EF4-FFF2-40B4-BE49-F238E27FC236}">
                <a16:creationId xmlns:a16="http://schemas.microsoft.com/office/drawing/2014/main" id="{F74343EF-0C5A-4BDA-A129-0862F2C52490}"/>
              </a:ext>
            </a:extLst>
          </p:cNvPr>
          <p:cNvSpPr>
            <a:spLocks noGrp="1"/>
          </p:cNvSpPr>
          <p:nvPr/>
        </p:nvSpPr>
        <p:spPr>
          <a:xfrm>
            <a:off x="2590800" y="5000625"/>
            <a:ext cx="8667750" cy="342900"/>
          </a:xfrm>
          <a:prstGeom prst="rect">
            <a:avLst/>
          </a:prstGeom>
          <a:noFill/>
          <a:ln w="0">
            <a:noFill/>
            <a:prstDash val="solid"/>
          </a:ln>
        </p:spPr>
        <p:txBody>
          <a:bodyPr wrap="square" lIns="0" tIns="0" rIns="0" bIns="0" anchor="t">
            <a:noAutofit/>
          </a:bodyPr>
          <a:lstStyle/>
          <a:p>
            <a:pPr algn="l">
              <a:buNone/>
              <a:defRPr sz="1575" b="1" i="0">
                <a:solidFill>
                  <a:srgbClr val="111827"/>
                </a:solidFill>
                <a:latin typeface="Arial"/>
                <a:ea typeface="Arial"/>
                <a:cs typeface="Arial"/>
              </a:defRPr>
            </a:pPr>
            <a:r>
              <a:rPr sz="1575" b="1" i="0">
                <a:solidFill>
                  <a:srgbClr val="111827"/>
                </a:solidFill>
                <a:latin typeface="Arial"/>
                <a:ea typeface="Arial"/>
                <a:cs typeface="Arial"/>
              </a:rPr>
              <a:t>Traceability is the product feature: every verdict can be reviewed and explained.</a:t>
            </a:r>
          </a:p>
        </p:txBody>
      </p:sp>
      <p:sp>
        <p:nvSpPr>
          <p:cNvPr id="39" name="polish-title-rail-9">
            <a:extLst>
              <a:ext uri="{FF2B5EF4-FFF2-40B4-BE49-F238E27FC236}">
                <a16:creationId xmlns:a16="http://schemas.microsoft.com/office/drawing/2014/main" id="{D86ED2CF-D234-4C2C-9B48-54DB097CEB5A}"/>
              </a:ext>
            </a:extLst>
          </p:cNvPr>
          <p:cNvSpPr>
            <a:spLocks noGrp="1"/>
          </p:cNvSpPr>
          <p:nvPr/>
        </p:nvSpPr>
        <p:spPr>
          <a:xfrm>
            <a:off x="323850" y="762000"/>
            <a:ext cx="57150" cy="552450"/>
          </a:xfrm>
          <a:prstGeom prst="roundRect">
            <a:avLst>
              <a:gd name="adj" fmla="val 50000"/>
            </a:avLst>
          </a:prstGeom>
          <a:solidFill>
            <a:srgbClr val="3D8DFF"/>
          </a:solidFill>
          <a:ln w="0">
            <a:noFill/>
            <a:prstDash val="solid"/>
          </a:ln>
        </p:spPr>
      </p:sp>
      <p:sp>
        <p:nvSpPr>
          <p:cNvPr id="40" name="polish-title-underline-9">
            <a:extLst>
              <a:ext uri="{FF2B5EF4-FFF2-40B4-BE49-F238E27FC236}">
                <a16:creationId xmlns:a16="http://schemas.microsoft.com/office/drawing/2014/main" id="{138C58B6-F7A2-417B-930E-DA8CD90463E8}"/>
              </a:ext>
            </a:extLst>
          </p:cNvPr>
          <p:cNvSpPr>
            <a:spLocks noGrp="1"/>
          </p:cNvSpPr>
          <p:nvPr/>
        </p:nvSpPr>
        <p:spPr>
          <a:xfrm>
            <a:off x="533400" y="647700"/>
            <a:ext cx="876300" cy="28575"/>
          </a:xfrm>
          <a:prstGeom prst="roundRect">
            <a:avLst>
              <a:gd name="adj" fmla="val 50000"/>
            </a:avLst>
          </a:prstGeom>
          <a:solidFill>
            <a:srgbClr val="3D8DFF"/>
          </a:solidFill>
          <a:ln w="0">
            <a:noFill/>
            <a:prstDash val="solid"/>
          </a:ln>
        </p:spPr>
      </p:sp>
      <p:sp>
        <p:nvSpPr>
          <p:cNvPr id="41" name="polish-progress-9-1">
            <a:extLst>
              <a:ext uri="{FF2B5EF4-FFF2-40B4-BE49-F238E27FC236}">
                <a16:creationId xmlns:a16="http://schemas.microsoft.com/office/drawing/2014/main" id="{B2FD8A17-734F-4177-8732-107D18C5601A}"/>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42" name="polish-progress-9-2">
            <a:extLst>
              <a:ext uri="{FF2B5EF4-FFF2-40B4-BE49-F238E27FC236}">
                <a16:creationId xmlns:a16="http://schemas.microsoft.com/office/drawing/2014/main" id="{8BCD5466-5978-44DA-B073-81E8D27AB422}"/>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43" name="polish-progress-9-3">
            <a:extLst>
              <a:ext uri="{FF2B5EF4-FFF2-40B4-BE49-F238E27FC236}">
                <a16:creationId xmlns:a16="http://schemas.microsoft.com/office/drawing/2014/main" id="{EF274649-8739-4DB1-870F-B0DF3BA2F647}"/>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44" name="polish-progress-9-4">
            <a:extLst>
              <a:ext uri="{FF2B5EF4-FFF2-40B4-BE49-F238E27FC236}">
                <a16:creationId xmlns:a16="http://schemas.microsoft.com/office/drawing/2014/main" id="{CF663BB9-295F-433A-8F6F-BB2DB421EA7E}"/>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45" name="polish-progress-9-5">
            <a:extLst>
              <a:ext uri="{FF2B5EF4-FFF2-40B4-BE49-F238E27FC236}">
                <a16:creationId xmlns:a16="http://schemas.microsoft.com/office/drawing/2014/main" id="{246B0351-9A9D-4D95-91E6-86DB2D889038}"/>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46" name="polish-progress-9-6">
            <a:extLst>
              <a:ext uri="{FF2B5EF4-FFF2-40B4-BE49-F238E27FC236}">
                <a16:creationId xmlns:a16="http://schemas.microsoft.com/office/drawing/2014/main" id="{E2BA5A3A-77D7-4E3F-B348-B598FCAD3430}"/>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47" name="polish-progress-9-7">
            <a:extLst>
              <a:ext uri="{FF2B5EF4-FFF2-40B4-BE49-F238E27FC236}">
                <a16:creationId xmlns:a16="http://schemas.microsoft.com/office/drawing/2014/main" id="{88A89878-2965-4A97-A6DA-FBE436BAF81C}"/>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48" name="polish-progress-9-8">
            <a:extLst>
              <a:ext uri="{FF2B5EF4-FFF2-40B4-BE49-F238E27FC236}">
                <a16:creationId xmlns:a16="http://schemas.microsoft.com/office/drawing/2014/main" id="{7A0478DD-2B50-44ED-8695-47193711C03C}"/>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49" name="polish-progress-9-9">
            <a:extLst>
              <a:ext uri="{FF2B5EF4-FFF2-40B4-BE49-F238E27FC236}">
                <a16:creationId xmlns:a16="http://schemas.microsoft.com/office/drawing/2014/main" id="{FFA1220C-1D68-4C84-9CD4-25EA0F463447}"/>
              </a:ext>
            </a:extLst>
          </p:cNvPr>
          <p:cNvSpPr>
            <a:spLocks noGrp="1"/>
          </p:cNvSpPr>
          <p:nvPr/>
        </p:nvSpPr>
        <p:spPr>
          <a:xfrm>
            <a:off x="6753225" y="6572250"/>
            <a:ext cx="152400" cy="28575"/>
          </a:xfrm>
          <a:prstGeom prst="roundRect">
            <a:avLst>
              <a:gd name="adj" fmla="val 50000"/>
            </a:avLst>
          </a:prstGeom>
          <a:solidFill>
            <a:srgbClr val="3D8DFF"/>
          </a:solidFill>
          <a:ln w="0">
            <a:noFill/>
            <a:prstDash val="solid"/>
          </a:ln>
        </p:spPr>
      </p:sp>
      <p:sp>
        <p:nvSpPr>
          <p:cNvPr id="50" name="polish-progress-9-10">
            <a:extLst>
              <a:ext uri="{FF2B5EF4-FFF2-40B4-BE49-F238E27FC236}">
                <a16:creationId xmlns:a16="http://schemas.microsoft.com/office/drawing/2014/main" id="{838F5CBD-7416-47BA-9AAA-8D8D9F0AE074}"/>
              </a:ext>
            </a:extLst>
          </p:cNvPr>
          <p:cNvSpPr>
            <a:spLocks noGrp="1"/>
          </p:cNvSpPr>
          <p:nvPr/>
        </p:nvSpPr>
        <p:spPr>
          <a:xfrm>
            <a:off x="6962775" y="6572250"/>
            <a:ext cx="152400" cy="28575"/>
          </a:xfrm>
          <a:prstGeom prst="roundRect">
            <a:avLst>
              <a:gd name="adj" fmla="val 50000"/>
            </a:avLst>
          </a:prstGeom>
          <a:solidFill>
            <a:srgbClr val="E5EAF0"/>
          </a:solidFill>
          <a:ln w="0">
            <a:noFill/>
            <a:prstDash val="solid"/>
          </a:ln>
        </p:spPr>
      </p:sp>
    </p:spTree>
    <p:extLst>
      <p:ext uri="{BB962C8B-B14F-4D97-AF65-F5344CB8AC3E}">
        <p14:creationId xmlns:p14="http://schemas.microsoft.com/office/powerpoint/2010/main" val="1822941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9" name="rule">
            <a:extLst>
              <a:ext uri="{FF2B5EF4-FFF2-40B4-BE49-F238E27FC236}">
                <a16:creationId xmlns:a16="http://schemas.microsoft.com/office/drawing/2014/main" id="{552B6C45-F959-4AB8-8118-62825D2157A0}"/>
              </a:ext>
            </a:extLst>
          </p:cNvPr>
          <p:cNvSpPr>
            <a:spLocks noGrp="1"/>
          </p:cNvSpPr>
          <p:nvPr/>
        </p:nvSpPr>
        <p:spPr>
          <a:xfrm>
            <a:off x="533400" y="266700"/>
            <a:ext cx="11125200" cy="19050"/>
          </a:xfrm>
          <a:prstGeom prst="rect">
            <a:avLst/>
          </a:prstGeom>
          <a:solidFill>
            <a:srgbClr val="3D8DFF"/>
          </a:solidFill>
          <a:ln w="0">
            <a:noFill/>
            <a:prstDash val="solid"/>
          </a:ln>
        </p:spPr>
      </p:sp>
      <p:sp>
        <p:nvSpPr>
          <p:cNvPr id="2" name="section-label">
            <a:extLst>
              <a:ext uri="{FF2B5EF4-FFF2-40B4-BE49-F238E27FC236}">
                <a16:creationId xmlns:a16="http://schemas.microsoft.com/office/drawing/2014/main" id="{4283E677-828F-4BD2-9BC1-CEECF3FA615B}"/>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ANSWERS</a:t>
            </a:r>
          </a:p>
        </p:txBody>
      </p:sp>
      <p:sp>
        <p:nvSpPr>
          <p:cNvPr id="3" name="page-number">
            <a:extLst>
              <a:ext uri="{FF2B5EF4-FFF2-40B4-BE49-F238E27FC236}">
                <a16:creationId xmlns:a16="http://schemas.microsoft.com/office/drawing/2014/main" id="{6BBF6E91-0BA1-4C0E-B619-160916AA96D9}"/>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buNone/>
              <a:defRPr sz="975" b="0" i="0">
                <a:solidFill>
                  <a:srgbClr val="8190A0"/>
                </a:solidFill>
                <a:latin typeface="Arial"/>
                <a:ea typeface="Arial"/>
                <a:cs typeface="Arial"/>
              </a:defRPr>
            </a:pPr>
            <a:r>
              <a:rPr sz="975" b="0" i="0">
                <a:solidFill>
                  <a:srgbClr val="8190A0"/>
                </a:solidFill>
                <a:latin typeface="Arial"/>
                <a:ea typeface="Arial"/>
                <a:cs typeface="Arial"/>
              </a:rPr>
              <a:t>10</a:t>
            </a:r>
          </a:p>
        </p:txBody>
      </p:sp>
      <p:sp>
        <p:nvSpPr>
          <p:cNvPr id="4" name="slide-title">
            <a:extLst>
              <a:ext uri="{FF2B5EF4-FFF2-40B4-BE49-F238E27FC236}">
                <a16:creationId xmlns:a16="http://schemas.microsoft.com/office/drawing/2014/main" id="{75F2CBA6-E99F-4B98-A9B7-0E17EC7B6767}"/>
              </a:ext>
            </a:extLst>
          </p:cNvPr>
          <p:cNvSpPr>
            <a:spLocks noGrp="1"/>
          </p:cNvSpPr>
          <p:nvPr/>
        </p:nvSpPr>
        <p:spPr>
          <a:xfrm>
            <a:off x="533400" y="742950"/>
            <a:ext cx="11125200" cy="571500"/>
          </a:xfrm>
          <a:prstGeom prst="rect">
            <a:avLst/>
          </a:prstGeom>
          <a:noFill/>
          <a:ln w="0">
            <a:noFill/>
            <a:prstDash val="solid"/>
          </a:ln>
        </p:spPr>
        <p:txBody>
          <a:bodyPr wrap="square" lIns="0" tIns="0" rIns="0" bIns="0" anchor="t">
            <a:noAutofit/>
          </a:bodyPr>
          <a:lstStyle/>
          <a:p>
            <a:pPr algn="l">
              <a:buNone/>
              <a:defRPr sz="2700" b="1" i="0">
                <a:solidFill>
                  <a:srgbClr val="111827"/>
                </a:solidFill>
                <a:latin typeface="Arial"/>
                <a:ea typeface="Arial"/>
                <a:cs typeface="Arial"/>
              </a:defRPr>
            </a:pPr>
            <a:r>
              <a:rPr sz="2700" b="1" i="0">
                <a:solidFill>
                  <a:srgbClr val="111827"/>
                </a:solidFill>
                <a:latin typeface="Arial"/>
                <a:ea typeface="Arial"/>
                <a:cs typeface="Arial"/>
              </a:rPr>
              <a:t>Three research questions, three answers</a:t>
            </a:r>
          </a:p>
        </p:txBody>
      </p:sp>
      <p:sp>
        <p:nvSpPr>
          <p:cNvPr id="5" name="slide-subtitle">
            <a:extLst>
              <a:ext uri="{FF2B5EF4-FFF2-40B4-BE49-F238E27FC236}">
                <a16:creationId xmlns:a16="http://schemas.microsoft.com/office/drawing/2014/main" id="{63E4E154-E1A2-4987-8B91-3EDD3ACD9C65}"/>
              </a:ext>
            </a:extLst>
          </p:cNvPr>
          <p:cNvSpPr>
            <a:spLocks noGrp="1"/>
          </p:cNvSpPr>
          <p:nvPr/>
        </p:nvSpPr>
        <p:spPr>
          <a:xfrm>
            <a:off x="533400" y="1295400"/>
            <a:ext cx="11049000" cy="304800"/>
          </a:xfrm>
          <a:prstGeom prst="rect">
            <a:avLst/>
          </a:prstGeom>
          <a:noFill/>
          <a:ln w="0">
            <a:noFill/>
            <a:prstDash val="solid"/>
          </a:ln>
        </p:spPr>
        <p:txBody>
          <a:bodyPr wrap="square" lIns="0" tIns="0" rIns="0" bIns="0" anchor="t">
            <a:noAutofit/>
          </a:bodyPr>
          <a:lstStyle/>
          <a:p>
            <a:pPr algn="l">
              <a:buNone/>
              <a:defRPr sz="1350" b="0" i="0">
                <a:solidFill>
                  <a:srgbClr val="536172"/>
                </a:solidFill>
                <a:latin typeface="Arial"/>
                <a:ea typeface="Arial"/>
                <a:cs typeface="Arial"/>
              </a:defRPr>
            </a:pPr>
            <a:r>
              <a:rPr sz="1350" b="0" i="0">
                <a:solidFill>
                  <a:srgbClr val="536172"/>
                </a:solidFill>
                <a:latin typeface="Arial"/>
                <a:ea typeface="Arial"/>
                <a:cs typeface="Arial"/>
              </a:rPr>
              <a:t>Evidence supports the prototype; local generalisation remains preliminary.</a:t>
            </a:r>
          </a:p>
        </p:txBody>
      </p:sp>
      <p:sp>
        <p:nvSpPr>
          <p:cNvPr id="6" name="rq-header">
            <a:extLst>
              <a:ext uri="{FF2B5EF4-FFF2-40B4-BE49-F238E27FC236}">
                <a16:creationId xmlns:a16="http://schemas.microsoft.com/office/drawing/2014/main" id="{8B8983CF-F770-4F2C-A4CF-BE189BC60513}"/>
              </a:ext>
            </a:extLst>
          </p:cNvPr>
          <p:cNvSpPr>
            <a:spLocks noGrp="1"/>
          </p:cNvSpPr>
          <p:nvPr/>
        </p:nvSpPr>
        <p:spPr>
          <a:xfrm>
            <a:off x="1714500" y="1752600"/>
            <a:ext cx="36195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RESEARCH QUESTION</a:t>
            </a:r>
          </a:p>
        </p:txBody>
      </p:sp>
      <p:sp>
        <p:nvSpPr>
          <p:cNvPr id="7" name="answer-header">
            <a:extLst>
              <a:ext uri="{FF2B5EF4-FFF2-40B4-BE49-F238E27FC236}">
                <a16:creationId xmlns:a16="http://schemas.microsoft.com/office/drawing/2014/main" id="{E2653822-037A-4923-9602-1F6973E7BD6D}"/>
              </a:ext>
            </a:extLst>
          </p:cNvPr>
          <p:cNvSpPr>
            <a:spLocks noGrp="1"/>
          </p:cNvSpPr>
          <p:nvPr/>
        </p:nvSpPr>
        <p:spPr>
          <a:xfrm>
            <a:off x="5810250" y="1752600"/>
            <a:ext cx="4000500" cy="209550"/>
          </a:xfrm>
          <a:prstGeom prst="rect">
            <a:avLst/>
          </a:prstGeom>
          <a:noFill/>
          <a:ln w="0">
            <a:noFill/>
            <a:prstDash val="solid"/>
          </a:ln>
        </p:spPr>
        <p:txBody>
          <a:bodyPr wrap="square" lIns="0" tIns="0" rIns="0" bIns="0" anchor="t">
            <a:noAutofit/>
          </a:bodyPr>
          <a:lstStyle/>
          <a:p>
            <a:pPr algn="l">
              <a:buNone/>
              <a:defRPr sz="900" b="1" i="0">
                <a:solidFill>
                  <a:srgbClr val="8190A0"/>
                </a:solidFill>
                <a:latin typeface="Arial"/>
                <a:ea typeface="Arial"/>
                <a:cs typeface="Arial"/>
              </a:defRPr>
            </a:pPr>
            <a:r>
              <a:rPr sz="900" b="1" i="0">
                <a:solidFill>
                  <a:srgbClr val="8190A0"/>
                </a:solidFill>
                <a:latin typeface="Arial"/>
                <a:ea typeface="Arial"/>
                <a:cs typeface="Arial"/>
              </a:rPr>
              <a:t>EVIDENCE / ANSWER</a:t>
            </a:r>
          </a:p>
        </p:txBody>
      </p:sp>
      <p:sp>
        <p:nvSpPr>
          <p:cNvPr id="8" name="rq-row-1">
            <a:extLst>
              <a:ext uri="{FF2B5EF4-FFF2-40B4-BE49-F238E27FC236}">
                <a16:creationId xmlns:a16="http://schemas.microsoft.com/office/drawing/2014/main" id="{B2452208-16FB-4DF8-BF58-AD2256CB3E61}"/>
              </a:ext>
            </a:extLst>
          </p:cNvPr>
          <p:cNvSpPr>
            <a:spLocks noGrp="1"/>
          </p:cNvSpPr>
          <p:nvPr/>
        </p:nvSpPr>
        <p:spPr>
          <a:xfrm>
            <a:off x="533400" y="2076450"/>
            <a:ext cx="11125200" cy="895350"/>
          </a:xfrm>
          <a:prstGeom prst="roundRect">
            <a:avLst>
              <a:gd name="adj" fmla="val 8511"/>
            </a:avLst>
          </a:prstGeom>
          <a:solidFill>
            <a:srgbClr val="F7F9FB"/>
          </a:solidFill>
          <a:ln w="9525">
            <a:solidFill>
              <a:srgbClr val="D6DDE5"/>
            </a:solidFill>
            <a:prstDash val="solid"/>
          </a:ln>
        </p:spPr>
      </p:sp>
      <p:sp>
        <p:nvSpPr>
          <p:cNvPr id="9" name="rq-label-1">
            <a:extLst>
              <a:ext uri="{FF2B5EF4-FFF2-40B4-BE49-F238E27FC236}">
                <a16:creationId xmlns:a16="http://schemas.microsoft.com/office/drawing/2014/main" id="{DBA78A60-E2F1-4069-A85A-325080C18C32}"/>
              </a:ext>
            </a:extLst>
          </p:cNvPr>
          <p:cNvSpPr>
            <a:spLocks noGrp="1"/>
          </p:cNvSpPr>
          <p:nvPr/>
        </p:nvSpPr>
        <p:spPr>
          <a:xfrm>
            <a:off x="742950" y="2390775"/>
            <a:ext cx="742950" cy="228600"/>
          </a:xfrm>
          <a:prstGeom prst="rect">
            <a:avLst/>
          </a:prstGeom>
          <a:noFill/>
          <a:ln w="0">
            <a:noFill/>
            <a:prstDash val="solid"/>
          </a:ln>
        </p:spPr>
        <p:txBody>
          <a:bodyPr wrap="square" lIns="0" tIns="0" rIns="0" bIns="0" anchor="t">
            <a:noAutofit/>
          </a:bodyPr>
          <a:lstStyle/>
          <a:p>
            <a:pPr algn="l">
              <a:buNone/>
              <a:defRPr sz="1275" b="1" i="0">
                <a:solidFill>
                  <a:srgbClr val="279A73"/>
                </a:solidFill>
                <a:latin typeface="Arial"/>
                <a:ea typeface="Arial"/>
                <a:cs typeface="Arial"/>
              </a:defRPr>
            </a:pPr>
            <a:r>
              <a:rPr sz="1275" b="1" i="0">
                <a:solidFill>
                  <a:srgbClr val="279A73"/>
                </a:solidFill>
                <a:latin typeface="Arial"/>
                <a:ea typeface="Arial"/>
                <a:cs typeface="Arial"/>
              </a:rPr>
              <a:t>RQ1</a:t>
            </a:r>
          </a:p>
        </p:txBody>
      </p:sp>
      <p:sp>
        <p:nvSpPr>
          <p:cNvPr id="10" name="rq-question-1">
            <a:extLst>
              <a:ext uri="{FF2B5EF4-FFF2-40B4-BE49-F238E27FC236}">
                <a16:creationId xmlns:a16="http://schemas.microsoft.com/office/drawing/2014/main" id="{B5DA54E3-5073-4D6E-960C-686314826999}"/>
              </a:ext>
            </a:extLst>
          </p:cNvPr>
          <p:cNvSpPr>
            <a:spLocks noGrp="1"/>
          </p:cNvSpPr>
          <p:nvPr/>
        </p:nvSpPr>
        <p:spPr>
          <a:xfrm>
            <a:off x="1714500" y="2209800"/>
            <a:ext cx="3714750" cy="628650"/>
          </a:xfrm>
          <a:prstGeom prst="rect">
            <a:avLst/>
          </a:prstGeom>
          <a:noFill/>
          <a:ln w="0">
            <a:noFill/>
            <a:prstDash val="solid"/>
          </a:ln>
        </p:spPr>
        <p:txBody>
          <a:bodyPr wrap="square" lIns="0" tIns="0" rIns="0" bIns="0" anchor="t">
            <a:noAutofit/>
          </a:bodyPr>
          <a:lstStyle/>
          <a:p>
            <a:pPr algn="l">
              <a:buNone/>
              <a:defRPr sz="1200" b="0" i="0">
                <a:solidFill>
                  <a:srgbClr val="111827"/>
                </a:solidFill>
                <a:latin typeface="Arial"/>
                <a:ea typeface="Arial"/>
                <a:cs typeface="Arial"/>
              </a:defRPr>
            </a:pPr>
            <a:r>
              <a:rPr sz="1200" b="0" i="0">
                <a:solidFill>
                  <a:srgbClr val="111827"/>
                </a:solidFill>
                <a:latin typeface="Arial"/>
                <a:ea typeface="Arial"/>
                <a:cs typeface="Arial"/>
              </a:rPr>
              <a:t>Can supervised models detect CNP fraud under severe imbalance?</a:t>
            </a:r>
          </a:p>
        </p:txBody>
      </p:sp>
      <p:sp>
        <p:nvSpPr>
          <p:cNvPr id="11" name="rq-verdict-1">
            <a:extLst>
              <a:ext uri="{FF2B5EF4-FFF2-40B4-BE49-F238E27FC236}">
                <a16:creationId xmlns:a16="http://schemas.microsoft.com/office/drawing/2014/main" id="{93AF5877-A49A-4E4D-88B1-B61FF20E071E}"/>
              </a:ext>
            </a:extLst>
          </p:cNvPr>
          <p:cNvSpPr>
            <a:spLocks noGrp="1"/>
          </p:cNvSpPr>
          <p:nvPr/>
        </p:nvSpPr>
        <p:spPr>
          <a:xfrm>
            <a:off x="5810250" y="2400300"/>
            <a:ext cx="704850" cy="266700"/>
          </a:xfrm>
          <a:prstGeom prst="roundRect">
            <a:avLst>
              <a:gd name="adj" fmla="val 28571"/>
            </a:avLst>
          </a:prstGeom>
          <a:solidFill>
            <a:srgbClr val="279A73"/>
          </a:solidFill>
          <a:ln w="0">
            <a:noFill/>
            <a:prstDash val="solid"/>
          </a:ln>
        </p:spPr>
      </p:sp>
      <p:sp>
        <p:nvSpPr>
          <p:cNvPr id="12" name="rq-verdict-text-1">
            <a:extLst>
              <a:ext uri="{FF2B5EF4-FFF2-40B4-BE49-F238E27FC236}">
                <a16:creationId xmlns:a16="http://schemas.microsoft.com/office/drawing/2014/main" id="{53F666D4-3AEB-403F-B1F3-D0A2E4669C93}"/>
              </a:ext>
            </a:extLst>
          </p:cNvPr>
          <p:cNvSpPr>
            <a:spLocks noGrp="1"/>
          </p:cNvSpPr>
          <p:nvPr/>
        </p:nvSpPr>
        <p:spPr>
          <a:xfrm>
            <a:off x="5810250" y="2457450"/>
            <a:ext cx="704850" cy="171450"/>
          </a:xfrm>
          <a:prstGeom prst="rect">
            <a:avLst/>
          </a:prstGeom>
          <a:noFill/>
          <a:ln w="0">
            <a:noFill/>
            <a:prstDash val="solid"/>
          </a:ln>
        </p:spPr>
        <p:txBody>
          <a:bodyPr wrap="square" lIns="0" tIns="0" rIns="0" bIns="0" anchor="t">
            <a:noAutofit/>
          </a:bodyPr>
          <a:lstStyle/>
          <a:p>
            <a:pPr algn="ctr">
              <a:buNone/>
              <a:defRPr sz="825" b="1" i="0">
                <a:solidFill>
                  <a:srgbClr val="FFFFFF"/>
                </a:solidFill>
                <a:latin typeface="Arial"/>
                <a:ea typeface="Arial"/>
                <a:cs typeface="Arial"/>
              </a:defRPr>
            </a:pPr>
            <a:r>
              <a:rPr sz="825" b="1" i="0">
                <a:solidFill>
                  <a:srgbClr val="FFFFFF"/>
                </a:solidFill>
                <a:latin typeface="Arial"/>
                <a:ea typeface="Arial"/>
                <a:cs typeface="Arial"/>
              </a:rPr>
              <a:t>YES</a:t>
            </a:r>
          </a:p>
        </p:txBody>
      </p:sp>
      <p:sp>
        <p:nvSpPr>
          <p:cNvPr id="13" name="rq-answer-1">
            <a:extLst>
              <a:ext uri="{FF2B5EF4-FFF2-40B4-BE49-F238E27FC236}">
                <a16:creationId xmlns:a16="http://schemas.microsoft.com/office/drawing/2014/main" id="{7968FF41-1438-4A31-B414-9F8EAD9EF773}"/>
              </a:ext>
            </a:extLst>
          </p:cNvPr>
          <p:cNvSpPr>
            <a:spLocks noGrp="1"/>
          </p:cNvSpPr>
          <p:nvPr/>
        </p:nvSpPr>
        <p:spPr>
          <a:xfrm>
            <a:off x="6705600" y="2219325"/>
            <a:ext cx="4762500" cy="609600"/>
          </a:xfrm>
          <a:prstGeom prst="rect">
            <a:avLst/>
          </a:prstGeom>
          <a:noFill/>
          <a:ln w="0">
            <a:noFill/>
            <a:prstDash val="solid"/>
          </a:ln>
        </p:spPr>
        <p:txBody>
          <a:bodyPr wrap="square" lIns="0" tIns="0" rIns="0" bIns="0" anchor="t">
            <a:noAutofit/>
          </a:bodyPr>
          <a:lstStyle/>
          <a:p>
            <a:pPr algn="l">
              <a:buNone/>
              <a:defRPr sz="1200" b="0" i="0">
                <a:solidFill>
                  <a:srgbClr val="111827"/>
                </a:solidFill>
                <a:latin typeface="Arial"/>
                <a:ea typeface="Arial"/>
                <a:cs typeface="Arial"/>
              </a:defRPr>
            </a:pPr>
            <a:r>
              <a:rPr sz="1200" b="0" i="0">
                <a:solidFill>
                  <a:srgbClr val="111827"/>
                </a:solidFill>
                <a:latin typeface="Arial"/>
                <a:ea typeface="Arial"/>
                <a:cs typeface="Arial"/>
              </a:rPr>
              <a:t>XGBoost achieved 92.63% precision and 97.60% PR-AUC; Random Forest was close.</a:t>
            </a:r>
          </a:p>
        </p:txBody>
      </p:sp>
      <p:sp>
        <p:nvSpPr>
          <p:cNvPr id="14" name="rq-row-2">
            <a:extLst>
              <a:ext uri="{FF2B5EF4-FFF2-40B4-BE49-F238E27FC236}">
                <a16:creationId xmlns:a16="http://schemas.microsoft.com/office/drawing/2014/main" id="{F526DF77-496F-4868-9C67-4739443C6829}"/>
              </a:ext>
            </a:extLst>
          </p:cNvPr>
          <p:cNvSpPr>
            <a:spLocks noGrp="1"/>
          </p:cNvSpPr>
          <p:nvPr/>
        </p:nvSpPr>
        <p:spPr>
          <a:xfrm>
            <a:off x="533400" y="3105150"/>
            <a:ext cx="11125200" cy="895350"/>
          </a:xfrm>
          <a:prstGeom prst="roundRect">
            <a:avLst>
              <a:gd name="adj" fmla="val 8511"/>
            </a:avLst>
          </a:prstGeom>
          <a:solidFill>
            <a:srgbClr val="FFFFFF"/>
          </a:solidFill>
          <a:ln w="9525">
            <a:solidFill>
              <a:srgbClr val="D6DDE5"/>
            </a:solidFill>
            <a:prstDash val="solid"/>
          </a:ln>
        </p:spPr>
      </p:sp>
      <p:sp>
        <p:nvSpPr>
          <p:cNvPr id="15" name="rq-label-2">
            <a:extLst>
              <a:ext uri="{FF2B5EF4-FFF2-40B4-BE49-F238E27FC236}">
                <a16:creationId xmlns:a16="http://schemas.microsoft.com/office/drawing/2014/main" id="{640C44E0-A89B-4E2E-ADD6-761F32C070D6}"/>
              </a:ext>
            </a:extLst>
          </p:cNvPr>
          <p:cNvSpPr>
            <a:spLocks noGrp="1"/>
          </p:cNvSpPr>
          <p:nvPr/>
        </p:nvSpPr>
        <p:spPr>
          <a:xfrm>
            <a:off x="742950" y="3419475"/>
            <a:ext cx="742950" cy="228600"/>
          </a:xfrm>
          <a:prstGeom prst="rect">
            <a:avLst/>
          </a:prstGeom>
          <a:noFill/>
          <a:ln w="0">
            <a:noFill/>
            <a:prstDash val="solid"/>
          </a:ln>
        </p:spPr>
        <p:txBody>
          <a:bodyPr wrap="square" lIns="0" tIns="0" rIns="0" bIns="0" anchor="t">
            <a:noAutofit/>
          </a:bodyPr>
          <a:lstStyle/>
          <a:p>
            <a:pPr algn="l">
              <a:buNone/>
              <a:defRPr sz="1275" b="1" i="0">
                <a:solidFill>
                  <a:srgbClr val="5D58E9"/>
                </a:solidFill>
                <a:latin typeface="Arial"/>
                <a:ea typeface="Arial"/>
                <a:cs typeface="Arial"/>
              </a:defRPr>
            </a:pPr>
            <a:r>
              <a:rPr sz="1275" b="1" i="0">
                <a:solidFill>
                  <a:srgbClr val="5D58E9"/>
                </a:solidFill>
                <a:latin typeface="Arial"/>
                <a:ea typeface="Arial"/>
                <a:cs typeface="Arial"/>
              </a:rPr>
              <a:t>RQ2</a:t>
            </a:r>
          </a:p>
        </p:txBody>
      </p:sp>
      <p:sp>
        <p:nvSpPr>
          <p:cNvPr id="16" name="rq-question-2">
            <a:extLst>
              <a:ext uri="{FF2B5EF4-FFF2-40B4-BE49-F238E27FC236}">
                <a16:creationId xmlns:a16="http://schemas.microsoft.com/office/drawing/2014/main" id="{A7726207-E8D5-4025-A996-A0F8EEE79401}"/>
              </a:ext>
            </a:extLst>
          </p:cNvPr>
          <p:cNvSpPr>
            <a:spLocks noGrp="1"/>
          </p:cNvSpPr>
          <p:nvPr/>
        </p:nvSpPr>
        <p:spPr>
          <a:xfrm>
            <a:off x="1714500" y="3238500"/>
            <a:ext cx="3714750" cy="628650"/>
          </a:xfrm>
          <a:prstGeom prst="rect">
            <a:avLst/>
          </a:prstGeom>
          <a:noFill/>
          <a:ln w="0">
            <a:noFill/>
            <a:prstDash val="solid"/>
          </a:ln>
        </p:spPr>
        <p:txBody>
          <a:bodyPr wrap="square" lIns="0" tIns="0" rIns="0" bIns="0" anchor="t">
            <a:noAutofit/>
          </a:bodyPr>
          <a:lstStyle/>
          <a:p>
            <a:pPr algn="l">
              <a:buNone/>
              <a:defRPr sz="1200" b="0" i="0">
                <a:solidFill>
                  <a:srgbClr val="111827"/>
                </a:solidFill>
                <a:latin typeface="Arial"/>
                <a:ea typeface="Arial"/>
                <a:cs typeface="Arial"/>
              </a:defRPr>
            </a:pPr>
            <a:r>
              <a:rPr sz="1200" b="0" i="0">
                <a:solidFill>
                  <a:srgbClr val="111827"/>
                </a:solidFill>
                <a:latin typeface="Arial"/>
                <a:ea typeface="Arial"/>
                <a:cs typeface="Arial"/>
              </a:rPr>
              <a:t>Can explanations and escalation make decisions more reviewable?</a:t>
            </a:r>
          </a:p>
        </p:txBody>
      </p:sp>
      <p:sp>
        <p:nvSpPr>
          <p:cNvPr id="17" name="rq-verdict-2">
            <a:extLst>
              <a:ext uri="{FF2B5EF4-FFF2-40B4-BE49-F238E27FC236}">
                <a16:creationId xmlns:a16="http://schemas.microsoft.com/office/drawing/2014/main" id="{F978E177-0C79-4CD3-B884-C2F91F6BCA3A}"/>
              </a:ext>
            </a:extLst>
          </p:cNvPr>
          <p:cNvSpPr>
            <a:spLocks noGrp="1"/>
          </p:cNvSpPr>
          <p:nvPr/>
        </p:nvSpPr>
        <p:spPr>
          <a:xfrm>
            <a:off x="5810250" y="3429000"/>
            <a:ext cx="704850" cy="266700"/>
          </a:xfrm>
          <a:prstGeom prst="roundRect">
            <a:avLst>
              <a:gd name="adj" fmla="val 28571"/>
            </a:avLst>
          </a:prstGeom>
          <a:solidFill>
            <a:srgbClr val="5D58E9"/>
          </a:solidFill>
          <a:ln w="0">
            <a:noFill/>
            <a:prstDash val="solid"/>
          </a:ln>
        </p:spPr>
      </p:sp>
      <p:sp>
        <p:nvSpPr>
          <p:cNvPr id="18" name="rq-verdict-text-2">
            <a:extLst>
              <a:ext uri="{FF2B5EF4-FFF2-40B4-BE49-F238E27FC236}">
                <a16:creationId xmlns:a16="http://schemas.microsoft.com/office/drawing/2014/main" id="{A1632BF3-5374-451C-A5C5-8F746C7721EA}"/>
              </a:ext>
            </a:extLst>
          </p:cNvPr>
          <p:cNvSpPr>
            <a:spLocks noGrp="1"/>
          </p:cNvSpPr>
          <p:nvPr/>
        </p:nvSpPr>
        <p:spPr>
          <a:xfrm>
            <a:off x="5810250" y="3486150"/>
            <a:ext cx="704850" cy="171450"/>
          </a:xfrm>
          <a:prstGeom prst="rect">
            <a:avLst/>
          </a:prstGeom>
          <a:noFill/>
          <a:ln w="0">
            <a:noFill/>
            <a:prstDash val="solid"/>
          </a:ln>
        </p:spPr>
        <p:txBody>
          <a:bodyPr wrap="square" lIns="0" tIns="0" rIns="0" bIns="0" anchor="t">
            <a:noAutofit/>
          </a:bodyPr>
          <a:lstStyle/>
          <a:p>
            <a:pPr algn="ctr">
              <a:buNone/>
              <a:defRPr sz="825" b="1" i="0">
                <a:solidFill>
                  <a:srgbClr val="FFFFFF"/>
                </a:solidFill>
                <a:latin typeface="Arial"/>
                <a:ea typeface="Arial"/>
                <a:cs typeface="Arial"/>
              </a:defRPr>
            </a:pPr>
            <a:r>
              <a:rPr sz="825" b="1" i="0">
                <a:solidFill>
                  <a:srgbClr val="FFFFFF"/>
                </a:solidFill>
                <a:latin typeface="Arial"/>
                <a:ea typeface="Arial"/>
                <a:cs typeface="Arial"/>
              </a:rPr>
              <a:t>YES</a:t>
            </a:r>
          </a:p>
        </p:txBody>
      </p:sp>
      <p:sp>
        <p:nvSpPr>
          <p:cNvPr id="19" name="rq-answer-2">
            <a:extLst>
              <a:ext uri="{FF2B5EF4-FFF2-40B4-BE49-F238E27FC236}">
                <a16:creationId xmlns:a16="http://schemas.microsoft.com/office/drawing/2014/main" id="{9E81B2CF-73D3-45D3-983C-43BD4022D18E}"/>
              </a:ext>
            </a:extLst>
          </p:cNvPr>
          <p:cNvSpPr>
            <a:spLocks noGrp="1"/>
          </p:cNvSpPr>
          <p:nvPr/>
        </p:nvSpPr>
        <p:spPr>
          <a:xfrm>
            <a:off x="6705600" y="3248025"/>
            <a:ext cx="4762500" cy="609600"/>
          </a:xfrm>
          <a:prstGeom prst="rect">
            <a:avLst/>
          </a:prstGeom>
          <a:noFill/>
          <a:ln w="0">
            <a:noFill/>
            <a:prstDash val="solid"/>
          </a:ln>
        </p:spPr>
        <p:txBody>
          <a:bodyPr wrap="square" lIns="0" tIns="0" rIns="0" bIns="0" anchor="t">
            <a:noAutofit/>
          </a:bodyPr>
          <a:lstStyle/>
          <a:p>
            <a:pPr algn="l">
              <a:buNone/>
              <a:defRPr sz="1200" b="0" i="0">
                <a:solidFill>
                  <a:srgbClr val="111827"/>
                </a:solidFill>
                <a:latin typeface="Arial"/>
                <a:ea typeface="Arial"/>
                <a:cs typeface="Arial"/>
              </a:defRPr>
            </a:pPr>
            <a:r>
              <a:rPr sz="1200" b="0" i="0">
                <a:solidFill>
                  <a:srgbClr val="111827"/>
                </a:solidFill>
                <a:latin typeface="Arial"/>
                <a:ea typeface="Arial"/>
                <a:cs typeface="Arial"/>
              </a:rPr>
              <a:t>SHAP exposes the drivers, while the most severe model verdict is escalated for review.</a:t>
            </a:r>
          </a:p>
        </p:txBody>
      </p:sp>
      <p:sp>
        <p:nvSpPr>
          <p:cNvPr id="20" name="rq-row-3">
            <a:extLst>
              <a:ext uri="{FF2B5EF4-FFF2-40B4-BE49-F238E27FC236}">
                <a16:creationId xmlns:a16="http://schemas.microsoft.com/office/drawing/2014/main" id="{49D222B4-30A4-414B-8CA9-AC3C6ACE94AC}"/>
              </a:ext>
            </a:extLst>
          </p:cNvPr>
          <p:cNvSpPr>
            <a:spLocks noGrp="1"/>
          </p:cNvSpPr>
          <p:nvPr/>
        </p:nvSpPr>
        <p:spPr>
          <a:xfrm>
            <a:off x="533400" y="4133850"/>
            <a:ext cx="11125200" cy="895350"/>
          </a:xfrm>
          <a:prstGeom prst="roundRect">
            <a:avLst>
              <a:gd name="adj" fmla="val 8511"/>
            </a:avLst>
          </a:prstGeom>
          <a:solidFill>
            <a:srgbClr val="F7F9FB"/>
          </a:solidFill>
          <a:ln w="9525">
            <a:solidFill>
              <a:srgbClr val="D6DDE5"/>
            </a:solidFill>
            <a:prstDash val="solid"/>
          </a:ln>
        </p:spPr>
      </p:sp>
      <p:sp>
        <p:nvSpPr>
          <p:cNvPr id="21" name="rq-label-3">
            <a:extLst>
              <a:ext uri="{FF2B5EF4-FFF2-40B4-BE49-F238E27FC236}">
                <a16:creationId xmlns:a16="http://schemas.microsoft.com/office/drawing/2014/main" id="{734C04D9-AD3A-4FEC-A7C6-B9E086E81389}"/>
              </a:ext>
            </a:extLst>
          </p:cNvPr>
          <p:cNvSpPr>
            <a:spLocks noGrp="1"/>
          </p:cNvSpPr>
          <p:nvPr/>
        </p:nvSpPr>
        <p:spPr>
          <a:xfrm>
            <a:off x="742950" y="4448175"/>
            <a:ext cx="742950" cy="228600"/>
          </a:xfrm>
          <a:prstGeom prst="rect">
            <a:avLst/>
          </a:prstGeom>
          <a:noFill/>
          <a:ln w="0">
            <a:noFill/>
            <a:prstDash val="solid"/>
          </a:ln>
        </p:spPr>
        <p:txBody>
          <a:bodyPr wrap="square" lIns="0" tIns="0" rIns="0" bIns="0" anchor="t">
            <a:noAutofit/>
          </a:bodyPr>
          <a:lstStyle/>
          <a:p>
            <a:pPr algn="l">
              <a:buNone/>
              <a:defRPr sz="1275" b="1" i="0">
                <a:solidFill>
                  <a:srgbClr val="E7864F"/>
                </a:solidFill>
                <a:latin typeface="Arial"/>
                <a:ea typeface="Arial"/>
                <a:cs typeface="Arial"/>
              </a:defRPr>
            </a:pPr>
            <a:r>
              <a:rPr sz="1275" b="1" i="0">
                <a:solidFill>
                  <a:srgbClr val="E7864F"/>
                </a:solidFill>
                <a:latin typeface="Arial"/>
                <a:ea typeface="Arial"/>
                <a:cs typeface="Arial"/>
              </a:rPr>
              <a:t>RQ3</a:t>
            </a:r>
          </a:p>
        </p:txBody>
      </p:sp>
      <p:sp>
        <p:nvSpPr>
          <p:cNvPr id="22" name="rq-question-3">
            <a:extLst>
              <a:ext uri="{FF2B5EF4-FFF2-40B4-BE49-F238E27FC236}">
                <a16:creationId xmlns:a16="http://schemas.microsoft.com/office/drawing/2014/main" id="{AE484975-51E2-4C6E-B566-CCFB4633665E}"/>
              </a:ext>
            </a:extLst>
          </p:cNvPr>
          <p:cNvSpPr>
            <a:spLocks noGrp="1"/>
          </p:cNvSpPr>
          <p:nvPr/>
        </p:nvSpPr>
        <p:spPr>
          <a:xfrm>
            <a:off x="1714500" y="4267200"/>
            <a:ext cx="3714750" cy="628650"/>
          </a:xfrm>
          <a:prstGeom prst="rect">
            <a:avLst/>
          </a:prstGeom>
          <a:noFill/>
          <a:ln w="0">
            <a:noFill/>
            <a:prstDash val="solid"/>
          </a:ln>
        </p:spPr>
        <p:txBody>
          <a:bodyPr wrap="square" lIns="0" tIns="0" rIns="0" bIns="0" anchor="t">
            <a:noAutofit/>
          </a:bodyPr>
          <a:lstStyle/>
          <a:p>
            <a:pPr algn="l">
              <a:buNone/>
              <a:defRPr sz="1200" b="0" i="0">
                <a:solidFill>
                  <a:srgbClr val="111827"/>
                </a:solidFill>
                <a:latin typeface="Arial"/>
                <a:ea typeface="Arial"/>
                <a:cs typeface="Arial"/>
              </a:defRPr>
            </a:pPr>
            <a:r>
              <a:rPr sz="1200" b="0" i="0">
                <a:solidFill>
                  <a:srgbClr val="111827"/>
                </a:solidFill>
                <a:latin typeface="Arial"/>
                <a:ea typeface="Arial"/>
                <a:cs typeface="Arial"/>
              </a:rPr>
              <a:t>Does the prototype generalise to Mauritius?</a:t>
            </a:r>
          </a:p>
        </p:txBody>
      </p:sp>
      <p:sp>
        <p:nvSpPr>
          <p:cNvPr id="23" name="rq-verdict-3">
            <a:extLst>
              <a:ext uri="{FF2B5EF4-FFF2-40B4-BE49-F238E27FC236}">
                <a16:creationId xmlns:a16="http://schemas.microsoft.com/office/drawing/2014/main" id="{87484D8E-445A-459A-B35F-6214E9BEE155}"/>
              </a:ext>
            </a:extLst>
          </p:cNvPr>
          <p:cNvSpPr>
            <a:spLocks noGrp="1"/>
          </p:cNvSpPr>
          <p:nvPr/>
        </p:nvSpPr>
        <p:spPr>
          <a:xfrm>
            <a:off x="5810250" y="4457700"/>
            <a:ext cx="1066800" cy="266700"/>
          </a:xfrm>
          <a:prstGeom prst="roundRect">
            <a:avLst>
              <a:gd name="adj" fmla="val 28571"/>
            </a:avLst>
          </a:prstGeom>
          <a:solidFill>
            <a:srgbClr val="E7864F"/>
          </a:solidFill>
          <a:ln w="0">
            <a:noFill/>
            <a:prstDash val="solid"/>
          </a:ln>
        </p:spPr>
      </p:sp>
      <p:sp>
        <p:nvSpPr>
          <p:cNvPr id="24" name="rq-verdict-text-3">
            <a:extLst>
              <a:ext uri="{FF2B5EF4-FFF2-40B4-BE49-F238E27FC236}">
                <a16:creationId xmlns:a16="http://schemas.microsoft.com/office/drawing/2014/main" id="{AC549A8A-4FC5-4DAA-B808-122BBE57D08F}"/>
              </a:ext>
            </a:extLst>
          </p:cNvPr>
          <p:cNvSpPr>
            <a:spLocks noGrp="1"/>
          </p:cNvSpPr>
          <p:nvPr/>
        </p:nvSpPr>
        <p:spPr>
          <a:xfrm>
            <a:off x="5810250" y="4514850"/>
            <a:ext cx="1066800" cy="171450"/>
          </a:xfrm>
          <a:prstGeom prst="rect">
            <a:avLst/>
          </a:prstGeom>
          <a:noFill/>
          <a:ln w="0">
            <a:noFill/>
            <a:prstDash val="solid"/>
          </a:ln>
        </p:spPr>
        <p:txBody>
          <a:bodyPr wrap="square" lIns="0" tIns="0" rIns="0" bIns="0" anchor="t">
            <a:noAutofit/>
          </a:bodyPr>
          <a:lstStyle/>
          <a:p>
            <a:pPr algn="ctr">
              <a:buNone/>
              <a:defRPr sz="825" b="1" i="0">
                <a:solidFill>
                  <a:srgbClr val="FFFFFF"/>
                </a:solidFill>
                <a:latin typeface="Arial"/>
                <a:ea typeface="Arial"/>
                <a:cs typeface="Arial"/>
              </a:defRPr>
            </a:pPr>
            <a:r>
              <a:rPr sz="825" b="1" i="0">
                <a:solidFill>
                  <a:srgbClr val="FFFFFF"/>
                </a:solidFill>
                <a:latin typeface="Arial"/>
                <a:ea typeface="Arial"/>
                <a:cs typeface="Arial"/>
              </a:rPr>
              <a:t>PRELIMINARY</a:t>
            </a:r>
          </a:p>
        </p:txBody>
      </p:sp>
      <p:sp>
        <p:nvSpPr>
          <p:cNvPr id="25" name="rq-answer-3">
            <a:extLst>
              <a:ext uri="{FF2B5EF4-FFF2-40B4-BE49-F238E27FC236}">
                <a16:creationId xmlns:a16="http://schemas.microsoft.com/office/drawing/2014/main" id="{28C39304-2F32-41FF-A4B7-60A0992D4FEE}"/>
              </a:ext>
            </a:extLst>
          </p:cNvPr>
          <p:cNvSpPr>
            <a:spLocks noGrp="1"/>
          </p:cNvSpPr>
          <p:nvPr/>
        </p:nvSpPr>
        <p:spPr>
          <a:xfrm>
            <a:off x="7067550" y="4276725"/>
            <a:ext cx="4191000" cy="609600"/>
          </a:xfrm>
          <a:prstGeom prst="rect">
            <a:avLst/>
          </a:prstGeom>
          <a:noFill/>
          <a:ln w="0">
            <a:noFill/>
            <a:prstDash val="solid"/>
          </a:ln>
        </p:spPr>
        <p:txBody>
          <a:bodyPr wrap="square" lIns="0" tIns="0" rIns="0" bIns="0" anchor="t">
            <a:noAutofit/>
          </a:bodyPr>
          <a:lstStyle/>
          <a:p>
            <a:pPr algn="l">
              <a:buNone/>
              <a:defRPr sz="1200" b="0" i="0">
                <a:solidFill>
                  <a:srgbClr val="111827"/>
                </a:solidFill>
                <a:latin typeface="Arial"/>
                <a:ea typeface="Arial"/>
                <a:cs typeface="Arial"/>
              </a:defRPr>
            </a:pPr>
            <a:r>
              <a:rPr sz="1200" b="0" i="0">
                <a:solidFill>
                  <a:srgbClr val="111827"/>
                </a:solidFill>
                <a:latin typeface="Arial"/>
                <a:ea typeface="Arial"/>
                <a:cs typeface="Arial"/>
              </a:rPr>
              <a:t>Two of three MUR benchmarks matched intent; real local data is still needed.</a:t>
            </a:r>
          </a:p>
        </p:txBody>
      </p:sp>
      <p:sp>
        <p:nvSpPr>
          <p:cNvPr id="26" name="overall-callout">
            <a:extLst>
              <a:ext uri="{FF2B5EF4-FFF2-40B4-BE49-F238E27FC236}">
                <a16:creationId xmlns:a16="http://schemas.microsoft.com/office/drawing/2014/main" id="{6AFBA85F-9367-47EA-8876-4085FDCA5C1C}"/>
              </a:ext>
            </a:extLst>
          </p:cNvPr>
          <p:cNvSpPr>
            <a:spLocks noGrp="1"/>
          </p:cNvSpPr>
          <p:nvPr/>
        </p:nvSpPr>
        <p:spPr>
          <a:xfrm>
            <a:off x="533400" y="5334000"/>
            <a:ext cx="11125200" cy="685800"/>
          </a:xfrm>
          <a:prstGeom prst="roundRect">
            <a:avLst>
              <a:gd name="adj" fmla="val 16667"/>
            </a:avLst>
          </a:prstGeom>
          <a:solidFill>
            <a:srgbClr val="EAF5FB"/>
          </a:solidFill>
          <a:ln w="9525">
            <a:solidFill>
              <a:srgbClr val="D6DDE5"/>
            </a:solidFill>
            <a:prstDash val="solid"/>
          </a:ln>
        </p:spPr>
      </p:sp>
      <p:sp>
        <p:nvSpPr>
          <p:cNvPr id="27" name="overall-label">
            <a:extLst>
              <a:ext uri="{FF2B5EF4-FFF2-40B4-BE49-F238E27FC236}">
                <a16:creationId xmlns:a16="http://schemas.microsoft.com/office/drawing/2014/main" id="{59D1650B-EDCC-48DA-A09C-9DC6E5AE5C58}"/>
              </a:ext>
            </a:extLst>
          </p:cNvPr>
          <p:cNvSpPr>
            <a:spLocks noGrp="1"/>
          </p:cNvSpPr>
          <p:nvPr/>
        </p:nvSpPr>
        <p:spPr>
          <a:xfrm>
            <a:off x="742950" y="5562600"/>
            <a:ext cx="1790700" cy="209550"/>
          </a:xfrm>
          <a:prstGeom prst="rect">
            <a:avLst/>
          </a:prstGeom>
          <a:noFill/>
          <a:ln w="0">
            <a:noFill/>
            <a:prstDash val="solid"/>
          </a:ln>
        </p:spPr>
        <p:txBody>
          <a:bodyPr wrap="square" lIns="0" tIns="0" rIns="0" bIns="0" anchor="t">
            <a:noAutofit/>
          </a:bodyPr>
          <a:lstStyle/>
          <a:p>
            <a:pPr algn="l">
              <a:buNone/>
              <a:defRPr sz="900" b="1" i="0">
                <a:solidFill>
                  <a:srgbClr val="3D8DFF"/>
                </a:solidFill>
                <a:latin typeface="Arial"/>
                <a:ea typeface="Arial"/>
                <a:cs typeface="Arial"/>
              </a:defRPr>
            </a:pPr>
            <a:r>
              <a:rPr sz="900" b="1" i="0">
                <a:solidFill>
                  <a:srgbClr val="3D8DFF"/>
                </a:solidFill>
                <a:latin typeface="Arial"/>
                <a:ea typeface="Arial"/>
                <a:cs typeface="Arial"/>
              </a:rPr>
              <a:t>OVERALL TAKEAWAY</a:t>
            </a:r>
          </a:p>
        </p:txBody>
      </p:sp>
      <p:sp>
        <p:nvSpPr>
          <p:cNvPr id="28" name="overall-text">
            <a:extLst>
              <a:ext uri="{FF2B5EF4-FFF2-40B4-BE49-F238E27FC236}">
                <a16:creationId xmlns:a16="http://schemas.microsoft.com/office/drawing/2014/main" id="{891069BA-9C28-49D8-A73E-E85457487FB0}"/>
              </a:ext>
            </a:extLst>
          </p:cNvPr>
          <p:cNvSpPr>
            <a:spLocks noGrp="1"/>
          </p:cNvSpPr>
          <p:nvPr/>
        </p:nvSpPr>
        <p:spPr>
          <a:xfrm>
            <a:off x="2743200" y="5495925"/>
            <a:ext cx="8572500" cy="323850"/>
          </a:xfrm>
          <a:prstGeom prst="rect">
            <a:avLst/>
          </a:prstGeom>
          <a:noFill/>
          <a:ln w="0">
            <a:noFill/>
            <a:prstDash val="solid"/>
          </a:ln>
        </p:spPr>
        <p:txBody>
          <a:bodyPr wrap="square" lIns="0" tIns="0" rIns="0" bIns="0" anchor="t">
            <a:noAutofit/>
          </a:bodyPr>
          <a:lstStyle/>
          <a:p>
            <a:pPr algn="l">
              <a:buNone/>
              <a:defRPr sz="1500" b="1" i="0">
                <a:solidFill>
                  <a:srgbClr val="111827"/>
                </a:solidFill>
                <a:latin typeface="Arial"/>
                <a:ea typeface="Arial"/>
                <a:cs typeface="Arial"/>
              </a:defRPr>
            </a:pPr>
            <a:r>
              <a:rPr sz="1500" b="1" i="0">
                <a:solidFill>
                  <a:srgbClr val="111827"/>
                </a:solidFill>
                <a:latin typeface="Arial"/>
                <a:ea typeface="Arial"/>
                <a:cs typeface="Arial"/>
              </a:rPr>
              <a:t>Accurate and explainable prototype; local generalisation remains an open question.</a:t>
            </a:r>
          </a:p>
        </p:txBody>
      </p:sp>
      <p:sp>
        <p:nvSpPr>
          <p:cNvPr id="30" name="polish-title-rail-10">
            <a:extLst>
              <a:ext uri="{FF2B5EF4-FFF2-40B4-BE49-F238E27FC236}">
                <a16:creationId xmlns:a16="http://schemas.microsoft.com/office/drawing/2014/main" id="{5CFD2D6B-8973-4966-A3FD-0D1EC312F95A}"/>
              </a:ext>
            </a:extLst>
          </p:cNvPr>
          <p:cNvSpPr>
            <a:spLocks noGrp="1"/>
          </p:cNvSpPr>
          <p:nvPr/>
        </p:nvSpPr>
        <p:spPr>
          <a:xfrm>
            <a:off x="323850" y="762000"/>
            <a:ext cx="57150" cy="552450"/>
          </a:xfrm>
          <a:prstGeom prst="roundRect">
            <a:avLst>
              <a:gd name="adj" fmla="val 50000"/>
            </a:avLst>
          </a:prstGeom>
          <a:solidFill>
            <a:srgbClr val="E7864F"/>
          </a:solidFill>
          <a:ln w="0">
            <a:noFill/>
            <a:prstDash val="solid"/>
          </a:ln>
        </p:spPr>
      </p:sp>
      <p:sp>
        <p:nvSpPr>
          <p:cNvPr id="31" name="polish-title-underline-10">
            <a:extLst>
              <a:ext uri="{FF2B5EF4-FFF2-40B4-BE49-F238E27FC236}">
                <a16:creationId xmlns:a16="http://schemas.microsoft.com/office/drawing/2014/main" id="{1F95A3B8-1B5D-425D-BCF0-A8B5D94670E1}"/>
              </a:ext>
            </a:extLst>
          </p:cNvPr>
          <p:cNvSpPr>
            <a:spLocks noGrp="1"/>
          </p:cNvSpPr>
          <p:nvPr/>
        </p:nvSpPr>
        <p:spPr>
          <a:xfrm>
            <a:off x="533400" y="647700"/>
            <a:ext cx="876300" cy="28575"/>
          </a:xfrm>
          <a:prstGeom prst="roundRect">
            <a:avLst>
              <a:gd name="adj" fmla="val 50000"/>
            </a:avLst>
          </a:prstGeom>
          <a:solidFill>
            <a:srgbClr val="E7864F"/>
          </a:solidFill>
          <a:ln w="0">
            <a:noFill/>
            <a:prstDash val="solid"/>
          </a:ln>
        </p:spPr>
      </p:sp>
      <p:sp>
        <p:nvSpPr>
          <p:cNvPr id="32" name="polish-progress-10-1">
            <a:extLst>
              <a:ext uri="{FF2B5EF4-FFF2-40B4-BE49-F238E27FC236}">
                <a16:creationId xmlns:a16="http://schemas.microsoft.com/office/drawing/2014/main" id="{22E24E30-14AA-4AEE-BCA2-49FD074759CF}"/>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33" name="polish-progress-10-2">
            <a:extLst>
              <a:ext uri="{FF2B5EF4-FFF2-40B4-BE49-F238E27FC236}">
                <a16:creationId xmlns:a16="http://schemas.microsoft.com/office/drawing/2014/main" id="{9F3773F4-A3F1-4C22-872A-0527895C037A}"/>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34" name="polish-progress-10-3">
            <a:extLst>
              <a:ext uri="{FF2B5EF4-FFF2-40B4-BE49-F238E27FC236}">
                <a16:creationId xmlns:a16="http://schemas.microsoft.com/office/drawing/2014/main" id="{F916C23D-EAE5-482C-A9AA-CD35F224EDD7}"/>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35" name="polish-progress-10-4">
            <a:extLst>
              <a:ext uri="{FF2B5EF4-FFF2-40B4-BE49-F238E27FC236}">
                <a16:creationId xmlns:a16="http://schemas.microsoft.com/office/drawing/2014/main" id="{052277DF-4A51-4C81-8CAA-F0CA6DBEC687}"/>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36" name="polish-progress-10-5">
            <a:extLst>
              <a:ext uri="{FF2B5EF4-FFF2-40B4-BE49-F238E27FC236}">
                <a16:creationId xmlns:a16="http://schemas.microsoft.com/office/drawing/2014/main" id="{2CCD6794-7DC1-4FC2-99AE-48EB9DF3CC66}"/>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37" name="polish-progress-10-6">
            <a:extLst>
              <a:ext uri="{FF2B5EF4-FFF2-40B4-BE49-F238E27FC236}">
                <a16:creationId xmlns:a16="http://schemas.microsoft.com/office/drawing/2014/main" id="{9FEEFDBC-9340-4117-88FA-18FAD9F57F8A}"/>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38" name="polish-progress-10-7">
            <a:extLst>
              <a:ext uri="{FF2B5EF4-FFF2-40B4-BE49-F238E27FC236}">
                <a16:creationId xmlns:a16="http://schemas.microsoft.com/office/drawing/2014/main" id="{1FA15183-8BC8-46AB-A249-6C34AD5C662B}"/>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39" name="polish-progress-10-8">
            <a:extLst>
              <a:ext uri="{FF2B5EF4-FFF2-40B4-BE49-F238E27FC236}">
                <a16:creationId xmlns:a16="http://schemas.microsoft.com/office/drawing/2014/main" id="{E277C9FD-8AA4-4FD4-99E9-A89B9C67001A}"/>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40" name="polish-progress-10-9">
            <a:extLst>
              <a:ext uri="{FF2B5EF4-FFF2-40B4-BE49-F238E27FC236}">
                <a16:creationId xmlns:a16="http://schemas.microsoft.com/office/drawing/2014/main" id="{85E5CC66-FEEA-4EB3-8D04-022D033189E5}"/>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41" name="polish-progress-10-10">
            <a:extLst>
              <a:ext uri="{FF2B5EF4-FFF2-40B4-BE49-F238E27FC236}">
                <a16:creationId xmlns:a16="http://schemas.microsoft.com/office/drawing/2014/main" id="{C748F7BB-A9B3-4D7F-A077-E4ACB6C23DCF}"/>
              </a:ext>
            </a:extLst>
          </p:cNvPr>
          <p:cNvSpPr>
            <a:spLocks noGrp="1"/>
          </p:cNvSpPr>
          <p:nvPr/>
        </p:nvSpPr>
        <p:spPr>
          <a:xfrm>
            <a:off x="6962775" y="6572250"/>
            <a:ext cx="152400" cy="28575"/>
          </a:xfrm>
          <a:prstGeom prst="roundRect">
            <a:avLst>
              <a:gd name="adj" fmla="val 50000"/>
            </a:avLst>
          </a:prstGeom>
          <a:solidFill>
            <a:srgbClr val="E7864F"/>
          </a:solidFill>
          <a:ln w="0">
            <a:noFill/>
            <a:prstDash val="solid"/>
          </a:ln>
        </p:spPr>
      </p:sp>
    </p:spTree>
    <p:extLst>
      <p:ext uri="{BB962C8B-B14F-4D97-AF65-F5344CB8AC3E}">
        <p14:creationId xmlns:p14="http://schemas.microsoft.com/office/powerpoint/2010/main" val="442565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4" name="thanks-top-rule">
            <a:extLst>
              <a:ext uri="{FF2B5EF4-FFF2-40B4-BE49-F238E27FC236}">
                <a16:creationId xmlns:a16="http://schemas.microsoft.com/office/drawing/2014/main" id="{A52FF73F-81DE-40F0-B316-B68F2DB9BCC6}"/>
              </a:ext>
            </a:extLst>
          </p:cNvPr>
          <p:cNvSpPr>
            <a:spLocks noGrp="1"/>
          </p:cNvSpPr>
          <p:nvPr/>
        </p:nvSpPr>
        <p:spPr>
          <a:xfrm>
            <a:off x="533400" y="266700"/>
            <a:ext cx="11125200" cy="19050"/>
          </a:xfrm>
          <a:prstGeom prst="rect">
            <a:avLst/>
          </a:prstGeom>
          <a:solidFill>
            <a:srgbClr val="3D8DFF"/>
          </a:solidFill>
          <a:ln w="0">
            <a:noFill/>
            <a:prstDash val="solid"/>
          </a:ln>
        </p:spPr>
      </p:sp>
      <p:sp>
        <p:nvSpPr>
          <p:cNvPr id="2" name="thanks-section-label">
            <a:extLst>
              <a:ext uri="{FF2B5EF4-FFF2-40B4-BE49-F238E27FC236}">
                <a16:creationId xmlns:a16="http://schemas.microsoft.com/office/drawing/2014/main" id="{241A9F05-FD31-4A8D-99DC-DFC1016064EC}"/>
              </a:ext>
            </a:extLst>
          </p:cNvPr>
          <p:cNvSpPr>
            <a:spLocks noGrp="1"/>
          </p:cNvSpPr>
          <p:nvPr/>
        </p:nvSpPr>
        <p:spPr>
          <a:xfrm>
            <a:off x="533400" y="400050"/>
            <a:ext cx="4191000" cy="209550"/>
          </a:xfrm>
          <a:prstGeom prst="rect">
            <a:avLst/>
          </a:prstGeom>
          <a:noFill/>
          <a:ln w="0">
            <a:noFill/>
            <a:prstDash val="solid"/>
          </a:ln>
        </p:spPr>
        <p:txBody>
          <a:bodyPr wrap="square" lIns="0" tIns="0" rIns="0" bIns="0" anchor="t">
            <a:noAutofit/>
          </a:bodyPr>
          <a:lstStyle/>
          <a:p>
            <a:pPr algn="l">
              <a:defRPr sz="975" b="1">
                <a:solidFill>
                  <a:srgbClr val="8190A0"/>
                </a:solidFill>
                <a:latin typeface="Arial"/>
                <a:ea typeface="Arial"/>
                <a:cs typeface="Arial"/>
              </a:defRPr>
            </a:pPr>
            <a:r>
              <a:rPr sz="975" b="1">
                <a:solidFill>
                  <a:srgbClr val="8190A0"/>
                </a:solidFill>
                <a:latin typeface="Arial"/>
                <a:ea typeface="Arial"/>
                <a:cs typeface="Arial"/>
              </a:rPr>
              <a:t>CLOSING</a:t>
            </a:r>
          </a:p>
        </p:txBody>
      </p:sp>
      <p:sp>
        <p:nvSpPr>
          <p:cNvPr id="3" name="thanks-title-rail">
            <a:extLst>
              <a:ext uri="{FF2B5EF4-FFF2-40B4-BE49-F238E27FC236}">
                <a16:creationId xmlns:a16="http://schemas.microsoft.com/office/drawing/2014/main" id="{F53E73B6-276B-4155-B78A-111C3FB6CAAD}"/>
              </a:ext>
            </a:extLst>
          </p:cNvPr>
          <p:cNvSpPr>
            <a:spLocks noGrp="1"/>
          </p:cNvSpPr>
          <p:nvPr/>
        </p:nvSpPr>
        <p:spPr>
          <a:xfrm>
            <a:off x="323850" y="2000250"/>
            <a:ext cx="57150" cy="1466850"/>
          </a:xfrm>
          <a:prstGeom prst="roundRect">
            <a:avLst>
              <a:gd name="adj" fmla="val 50000"/>
            </a:avLst>
          </a:prstGeom>
          <a:solidFill>
            <a:srgbClr val="3D8DFF"/>
          </a:solidFill>
          <a:ln w="0">
            <a:noFill/>
            <a:prstDash val="solid"/>
          </a:ln>
        </p:spPr>
      </p:sp>
      <p:sp>
        <p:nvSpPr>
          <p:cNvPr id="4" name="thanks-title-underline">
            <a:extLst>
              <a:ext uri="{FF2B5EF4-FFF2-40B4-BE49-F238E27FC236}">
                <a16:creationId xmlns:a16="http://schemas.microsoft.com/office/drawing/2014/main" id="{CD331204-CCD4-4A94-915D-6B1081270D74}"/>
              </a:ext>
            </a:extLst>
          </p:cNvPr>
          <p:cNvSpPr>
            <a:spLocks noGrp="1"/>
          </p:cNvSpPr>
          <p:nvPr/>
        </p:nvSpPr>
        <p:spPr>
          <a:xfrm>
            <a:off x="533400" y="1885950"/>
            <a:ext cx="1104900" cy="28575"/>
          </a:xfrm>
          <a:prstGeom prst="roundRect">
            <a:avLst>
              <a:gd name="adj" fmla="val 50000"/>
            </a:avLst>
          </a:prstGeom>
          <a:solidFill>
            <a:srgbClr val="5D58E9"/>
          </a:solidFill>
          <a:ln w="0">
            <a:noFill/>
            <a:prstDash val="solid"/>
          </a:ln>
        </p:spPr>
      </p:sp>
      <p:sp>
        <p:nvSpPr>
          <p:cNvPr id="5" name="thanks-title">
            <a:extLst>
              <a:ext uri="{FF2B5EF4-FFF2-40B4-BE49-F238E27FC236}">
                <a16:creationId xmlns:a16="http://schemas.microsoft.com/office/drawing/2014/main" id="{BD5A60DD-96FB-442A-BCF6-505184C52A5D}"/>
              </a:ext>
            </a:extLst>
          </p:cNvPr>
          <p:cNvSpPr>
            <a:spLocks noGrp="1"/>
          </p:cNvSpPr>
          <p:nvPr/>
        </p:nvSpPr>
        <p:spPr>
          <a:xfrm>
            <a:off x="533400" y="2133600"/>
            <a:ext cx="6286500" cy="685800"/>
          </a:xfrm>
          <a:prstGeom prst="rect">
            <a:avLst/>
          </a:prstGeom>
          <a:noFill/>
          <a:ln w="0">
            <a:noFill/>
            <a:prstDash val="solid"/>
          </a:ln>
        </p:spPr>
        <p:txBody>
          <a:bodyPr wrap="square" lIns="0" tIns="0" rIns="0" bIns="0" anchor="t">
            <a:noAutofit/>
          </a:bodyPr>
          <a:lstStyle/>
          <a:p>
            <a:pPr algn="l">
              <a:defRPr sz="3900" b="1">
                <a:solidFill>
                  <a:srgbClr val="111827"/>
                </a:solidFill>
                <a:latin typeface="Arial"/>
                <a:ea typeface="Arial"/>
                <a:cs typeface="Arial"/>
              </a:defRPr>
            </a:pPr>
            <a:r>
              <a:rPr sz="3900" b="1">
                <a:solidFill>
                  <a:srgbClr val="111827"/>
                </a:solidFill>
                <a:latin typeface="Arial"/>
                <a:ea typeface="Arial"/>
                <a:cs typeface="Arial"/>
              </a:rPr>
              <a:t>Thank you</a:t>
            </a:r>
          </a:p>
        </p:txBody>
      </p:sp>
      <p:sp>
        <p:nvSpPr>
          <p:cNvPr id="6" name="thanks-subtitle">
            <a:extLst>
              <a:ext uri="{FF2B5EF4-FFF2-40B4-BE49-F238E27FC236}">
                <a16:creationId xmlns:a16="http://schemas.microsoft.com/office/drawing/2014/main" id="{E19A7204-8FA7-49DA-A54F-1329B4CD1D8F}"/>
              </a:ext>
            </a:extLst>
          </p:cNvPr>
          <p:cNvSpPr>
            <a:spLocks noGrp="1"/>
          </p:cNvSpPr>
          <p:nvPr/>
        </p:nvSpPr>
        <p:spPr>
          <a:xfrm>
            <a:off x="533400" y="3028950"/>
            <a:ext cx="6286500" cy="381000"/>
          </a:xfrm>
          <a:prstGeom prst="rect">
            <a:avLst/>
          </a:prstGeom>
          <a:noFill/>
          <a:ln w="0">
            <a:noFill/>
            <a:prstDash val="solid"/>
          </a:ln>
        </p:spPr>
        <p:txBody>
          <a:bodyPr wrap="square" lIns="0" tIns="0" rIns="0" bIns="0" anchor="t">
            <a:noAutofit/>
          </a:bodyPr>
          <a:lstStyle/>
          <a:p>
            <a:pPr algn="l">
              <a:defRPr sz="1800" b="0">
                <a:solidFill>
                  <a:srgbClr val="536172"/>
                </a:solidFill>
                <a:latin typeface="Arial"/>
                <a:ea typeface="Arial"/>
                <a:cs typeface="Arial"/>
              </a:defRPr>
            </a:pPr>
            <a:r>
              <a:rPr sz="1800" b="0">
                <a:solidFill>
                  <a:srgbClr val="536172"/>
                </a:solidFill>
                <a:latin typeface="Arial"/>
                <a:ea typeface="Arial"/>
                <a:cs typeface="Arial"/>
              </a:rPr>
              <a:t>Questions and discussion</a:t>
            </a:r>
          </a:p>
        </p:txBody>
      </p:sp>
      <p:sp>
        <p:nvSpPr>
          <p:cNvPr id="7" name="thanks-project-label">
            <a:extLst>
              <a:ext uri="{FF2B5EF4-FFF2-40B4-BE49-F238E27FC236}">
                <a16:creationId xmlns:a16="http://schemas.microsoft.com/office/drawing/2014/main" id="{9C8DF47A-43A1-4801-A017-F836571BB133}"/>
              </a:ext>
            </a:extLst>
          </p:cNvPr>
          <p:cNvSpPr>
            <a:spLocks noGrp="1"/>
          </p:cNvSpPr>
          <p:nvPr/>
        </p:nvSpPr>
        <p:spPr>
          <a:xfrm>
            <a:off x="533400" y="3676650"/>
            <a:ext cx="5715000" cy="285750"/>
          </a:xfrm>
          <a:prstGeom prst="rect">
            <a:avLst/>
          </a:prstGeom>
          <a:noFill/>
          <a:ln w="0">
            <a:noFill/>
            <a:prstDash val="solid"/>
          </a:ln>
        </p:spPr>
        <p:txBody>
          <a:bodyPr wrap="square" lIns="0" tIns="0" rIns="0" bIns="0" anchor="t">
            <a:noAutofit/>
          </a:bodyPr>
          <a:lstStyle/>
          <a:p>
            <a:pPr algn="l">
              <a:defRPr sz="1350" b="0">
                <a:solidFill>
                  <a:srgbClr val="8190A0"/>
                </a:solidFill>
                <a:latin typeface="Arial"/>
                <a:ea typeface="Arial"/>
                <a:cs typeface="Arial"/>
              </a:defRPr>
            </a:pPr>
            <a:r>
              <a:rPr sz="1350" b="0">
                <a:solidFill>
                  <a:srgbClr val="8190A0"/>
                </a:solidFill>
                <a:latin typeface="Arial"/>
                <a:ea typeface="Arial"/>
                <a:cs typeface="Arial"/>
              </a:rPr>
              <a:t>Interpretable ML for CNP fraud detection</a:t>
            </a:r>
          </a:p>
        </p:txBody>
      </p:sp>
      <p:sp>
        <p:nvSpPr>
          <p:cNvPr id="8" name="thanks-discussion-panel">
            <a:extLst>
              <a:ext uri="{FF2B5EF4-FFF2-40B4-BE49-F238E27FC236}">
                <a16:creationId xmlns:a16="http://schemas.microsoft.com/office/drawing/2014/main" id="{E34BE745-DC4A-4B25-8D27-4D1BD49E85AD}"/>
              </a:ext>
            </a:extLst>
          </p:cNvPr>
          <p:cNvSpPr>
            <a:spLocks noGrp="1"/>
          </p:cNvSpPr>
          <p:nvPr/>
        </p:nvSpPr>
        <p:spPr>
          <a:xfrm>
            <a:off x="7543800" y="1676400"/>
            <a:ext cx="3429000" cy="3143250"/>
          </a:xfrm>
          <a:prstGeom prst="roundRect">
            <a:avLst>
              <a:gd name="adj" fmla="val 3636"/>
            </a:avLst>
          </a:prstGeom>
          <a:solidFill>
            <a:srgbClr val="EAF5FB"/>
          </a:solidFill>
          <a:ln w="9525">
            <a:solidFill>
              <a:srgbClr val="D6DDE5"/>
            </a:solidFill>
            <a:prstDash val="solid"/>
          </a:ln>
        </p:spPr>
      </p:sp>
      <p:sp>
        <p:nvSpPr>
          <p:cNvPr id="9" name="thanks-discussion-label">
            <a:extLst>
              <a:ext uri="{FF2B5EF4-FFF2-40B4-BE49-F238E27FC236}">
                <a16:creationId xmlns:a16="http://schemas.microsoft.com/office/drawing/2014/main" id="{2C615297-0926-428E-8ECA-3B17C48087F8}"/>
              </a:ext>
            </a:extLst>
          </p:cNvPr>
          <p:cNvSpPr>
            <a:spLocks noGrp="1"/>
          </p:cNvSpPr>
          <p:nvPr/>
        </p:nvSpPr>
        <p:spPr>
          <a:xfrm>
            <a:off x="8020050" y="1924050"/>
            <a:ext cx="2476500" cy="228600"/>
          </a:xfrm>
          <a:prstGeom prst="rect">
            <a:avLst/>
          </a:prstGeom>
          <a:noFill/>
          <a:ln w="0">
            <a:noFill/>
            <a:prstDash val="solid"/>
          </a:ln>
        </p:spPr>
        <p:txBody>
          <a:bodyPr wrap="square" lIns="0" tIns="0" rIns="0" bIns="0" anchor="t">
            <a:noAutofit/>
          </a:bodyPr>
          <a:lstStyle/>
          <a:p>
            <a:pPr algn="ctr">
              <a:defRPr sz="1200" b="1">
                <a:solidFill>
                  <a:srgbClr val="5D58E9"/>
                </a:solidFill>
                <a:latin typeface="Arial"/>
                <a:ea typeface="Arial"/>
                <a:cs typeface="Arial"/>
              </a:defRPr>
            </a:pPr>
            <a:r>
              <a:rPr sz="1200" b="1">
                <a:solidFill>
                  <a:srgbClr val="5D58E9"/>
                </a:solidFill>
                <a:latin typeface="Arial"/>
                <a:ea typeface="Arial"/>
                <a:cs typeface="Arial"/>
              </a:rPr>
              <a:t>OPEN DISCUSSION</a:t>
            </a:r>
          </a:p>
        </p:txBody>
      </p:sp>
      <p:sp>
        <p:nvSpPr>
          <p:cNvPr id="10" name="thanks-question-circle">
            <a:extLst>
              <a:ext uri="{FF2B5EF4-FFF2-40B4-BE49-F238E27FC236}">
                <a16:creationId xmlns:a16="http://schemas.microsoft.com/office/drawing/2014/main" id="{47348CAE-DA03-4ABE-A23A-28DB2773F8CD}"/>
              </a:ext>
            </a:extLst>
          </p:cNvPr>
          <p:cNvSpPr>
            <a:spLocks noGrp="1"/>
          </p:cNvSpPr>
          <p:nvPr/>
        </p:nvSpPr>
        <p:spPr>
          <a:xfrm>
            <a:off x="8629650" y="2381250"/>
            <a:ext cx="1257300" cy="1257300"/>
          </a:xfrm>
          <a:prstGeom prst="ellipse">
            <a:avLst/>
          </a:prstGeom>
          <a:solidFill>
            <a:srgbClr val="3D8DFF"/>
          </a:solidFill>
          <a:ln w="0">
            <a:noFill/>
            <a:prstDash val="solid"/>
          </a:ln>
        </p:spPr>
      </p:sp>
      <p:sp>
        <p:nvSpPr>
          <p:cNvPr id="11" name="thanks-question-mark">
            <a:extLst>
              <a:ext uri="{FF2B5EF4-FFF2-40B4-BE49-F238E27FC236}">
                <a16:creationId xmlns:a16="http://schemas.microsoft.com/office/drawing/2014/main" id="{0CD6F08B-4350-4E24-9AE2-7F55FDCC6A8A}"/>
              </a:ext>
            </a:extLst>
          </p:cNvPr>
          <p:cNvSpPr>
            <a:spLocks noGrp="1"/>
          </p:cNvSpPr>
          <p:nvPr/>
        </p:nvSpPr>
        <p:spPr>
          <a:xfrm>
            <a:off x="8629650" y="2514600"/>
            <a:ext cx="1257300" cy="952500"/>
          </a:xfrm>
          <a:prstGeom prst="rect">
            <a:avLst/>
          </a:prstGeom>
          <a:noFill/>
          <a:ln w="0">
            <a:noFill/>
            <a:prstDash val="solid"/>
          </a:ln>
        </p:spPr>
        <p:txBody>
          <a:bodyPr wrap="square" lIns="0" tIns="0" rIns="0" bIns="0" anchor="ctr">
            <a:noAutofit/>
          </a:bodyPr>
          <a:lstStyle/>
          <a:p>
            <a:pPr algn="ctr">
              <a:defRPr sz="5400" b="1">
                <a:solidFill>
                  <a:srgbClr val="FFFFFF"/>
                </a:solidFill>
                <a:latin typeface="Arial"/>
                <a:ea typeface="Arial"/>
                <a:cs typeface="Arial"/>
              </a:defRPr>
            </a:pPr>
            <a:r>
              <a:rPr sz="5400" b="1">
                <a:solidFill>
                  <a:srgbClr val="FFFFFF"/>
                </a:solidFill>
                <a:latin typeface="Arial"/>
                <a:ea typeface="Arial"/>
                <a:cs typeface="Arial"/>
              </a:rPr>
              <a:t>?</a:t>
            </a:r>
          </a:p>
        </p:txBody>
      </p:sp>
      <p:sp>
        <p:nvSpPr>
          <p:cNvPr id="12" name="thanks-theme-line">
            <a:extLst>
              <a:ext uri="{FF2B5EF4-FFF2-40B4-BE49-F238E27FC236}">
                <a16:creationId xmlns:a16="http://schemas.microsoft.com/office/drawing/2014/main" id="{F46773B2-F44E-43BD-9020-98E1437BBFCB}"/>
              </a:ext>
            </a:extLst>
          </p:cNvPr>
          <p:cNvSpPr>
            <a:spLocks noGrp="1"/>
          </p:cNvSpPr>
          <p:nvPr/>
        </p:nvSpPr>
        <p:spPr>
          <a:xfrm>
            <a:off x="7924800" y="4057650"/>
            <a:ext cx="2667000" cy="228600"/>
          </a:xfrm>
          <a:prstGeom prst="rect">
            <a:avLst/>
          </a:prstGeom>
          <a:noFill/>
          <a:ln w="0">
            <a:noFill/>
            <a:prstDash val="solid"/>
          </a:ln>
        </p:spPr>
        <p:txBody>
          <a:bodyPr wrap="square" lIns="0" tIns="0" rIns="0" bIns="0" anchor="t">
            <a:noAutofit/>
          </a:bodyPr>
          <a:lstStyle/>
          <a:p>
            <a:pPr algn="ctr">
              <a:defRPr sz="1200" b="1">
                <a:solidFill>
                  <a:srgbClr val="279A73"/>
                </a:solidFill>
                <a:latin typeface="Arial"/>
                <a:ea typeface="Arial"/>
                <a:cs typeface="Arial"/>
              </a:defRPr>
            </a:pPr>
            <a:r>
              <a:rPr sz="1200" b="1">
                <a:solidFill>
                  <a:srgbClr val="279A73"/>
                </a:solidFill>
                <a:latin typeface="Arial"/>
                <a:ea typeface="Arial"/>
                <a:cs typeface="Arial"/>
              </a:rPr>
              <a:t>DETECT  •  EXPLAIN  •  REVIEW</a:t>
            </a:r>
          </a:p>
        </p:txBody>
      </p:sp>
      <p:sp>
        <p:nvSpPr>
          <p:cNvPr id="13" name="thanks-progress-1">
            <a:extLst>
              <a:ext uri="{FF2B5EF4-FFF2-40B4-BE49-F238E27FC236}">
                <a16:creationId xmlns:a16="http://schemas.microsoft.com/office/drawing/2014/main" id="{BEAD4886-3A85-4CA2-AFC0-70D18CA8C361}"/>
              </a:ext>
            </a:extLst>
          </p:cNvPr>
          <p:cNvSpPr>
            <a:spLocks noGrp="1"/>
          </p:cNvSpPr>
          <p:nvPr/>
        </p:nvSpPr>
        <p:spPr>
          <a:xfrm>
            <a:off x="5076825" y="6572250"/>
            <a:ext cx="152400" cy="28575"/>
          </a:xfrm>
          <a:prstGeom prst="roundRect">
            <a:avLst>
              <a:gd name="adj" fmla="val 50000"/>
            </a:avLst>
          </a:prstGeom>
          <a:solidFill>
            <a:srgbClr val="E5EAF0"/>
          </a:solidFill>
          <a:ln w="0">
            <a:noFill/>
            <a:prstDash val="solid"/>
          </a:ln>
        </p:spPr>
      </p:sp>
      <p:sp>
        <p:nvSpPr>
          <p:cNvPr id="14" name="thanks-progress-2">
            <a:extLst>
              <a:ext uri="{FF2B5EF4-FFF2-40B4-BE49-F238E27FC236}">
                <a16:creationId xmlns:a16="http://schemas.microsoft.com/office/drawing/2014/main" id="{3372ABC5-4607-4754-898D-681E130E2DEF}"/>
              </a:ext>
            </a:extLst>
          </p:cNvPr>
          <p:cNvSpPr>
            <a:spLocks noGrp="1"/>
          </p:cNvSpPr>
          <p:nvPr/>
        </p:nvSpPr>
        <p:spPr>
          <a:xfrm>
            <a:off x="5286375" y="6572250"/>
            <a:ext cx="152400" cy="28575"/>
          </a:xfrm>
          <a:prstGeom prst="roundRect">
            <a:avLst>
              <a:gd name="adj" fmla="val 50000"/>
            </a:avLst>
          </a:prstGeom>
          <a:solidFill>
            <a:srgbClr val="E5EAF0"/>
          </a:solidFill>
          <a:ln w="0">
            <a:noFill/>
            <a:prstDash val="solid"/>
          </a:ln>
        </p:spPr>
      </p:sp>
      <p:sp>
        <p:nvSpPr>
          <p:cNvPr id="15" name="thanks-progress-3">
            <a:extLst>
              <a:ext uri="{FF2B5EF4-FFF2-40B4-BE49-F238E27FC236}">
                <a16:creationId xmlns:a16="http://schemas.microsoft.com/office/drawing/2014/main" id="{EB23E0AF-10C0-4D3A-9C6E-632652755524}"/>
              </a:ext>
            </a:extLst>
          </p:cNvPr>
          <p:cNvSpPr>
            <a:spLocks noGrp="1"/>
          </p:cNvSpPr>
          <p:nvPr/>
        </p:nvSpPr>
        <p:spPr>
          <a:xfrm>
            <a:off x="5495925" y="6572250"/>
            <a:ext cx="152400" cy="28575"/>
          </a:xfrm>
          <a:prstGeom prst="roundRect">
            <a:avLst>
              <a:gd name="adj" fmla="val 50000"/>
            </a:avLst>
          </a:prstGeom>
          <a:solidFill>
            <a:srgbClr val="E5EAF0"/>
          </a:solidFill>
          <a:ln w="0">
            <a:noFill/>
            <a:prstDash val="solid"/>
          </a:ln>
        </p:spPr>
      </p:sp>
      <p:sp>
        <p:nvSpPr>
          <p:cNvPr id="16" name="thanks-progress-4">
            <a:extLst>
              <a:ext uri="{FF2B5EF4-FFF2-40B4-BE49-F238E27FC236}">
                <a16:creationId xmlns:a16="http://schemas.microsoft.com/office/drawing/2014/main" id="{099ECAC7-5BA9-4391-B9D5-9B5D1A682567}"/>
              </a:ext>
            </a:extLst>
          </p:cNvPr>
          <p:cNvSpPr>
            <a:spLocks noGrp="1"/>
          </p:cNvSpPr>
          <p:nvPr/>
        </p:nvSpPr>
        <p:spPr>
          <a:xfrm>
            <a:off x="5705475" y="6572250"/>
            <a:ext cx="152400" cy="28575"/>
          </a:xfrm>
          <a:prstGeom prst="roundRect">
            <a:avLst>
              <a:gd name="adj" fmla="val 50000"/>
            </a:avLst>
          </a:prstGeom>
          <a:solidFill>
            <a:srgbClr val="E5EAF0"/>
          </a:solidFill>
          <a:ln w="0">
            <a:noFill/>
            <a:prstDash val="solid"/>
          </a:ln>
        </p:spPr>
      </p:sp>
      <p:sp>
        <p:nvSpPr>
          <p:cNvPr id="17" name="thanks-progress-5">
            <a:extLst>
              <a:ext uri="{FF2B5EF4-FFF2-40B4-BE49-F238E27FC236}">
                <a16:creationId xmlns:a16="http://schemas.microsoft.com/office/drawing/2014/main" id="{58E6B9C3-F4B6-40F1-9396-31A6E9B3AAFF}"/>
              </a:ext>
            </a:extLst>
          </p:cNvPr>
          <p:cNvSpPr>
            <a:spLocks noGrp="1"/>
          </p:cNvSpPr>
          <p:nvPr/>
        </p:nvSpPr>
        <p:spPr>
          <a:xfrm>
            <a:off x="5915025" y="6572250"/>
            <a:ext cx="152400" cy="28575"/>
          </a:xfrm>
          <a:prstGeom prst="roundRect">
            <a:avLst>
              <a:gd name="adj" fmla="val 50000"/>
            </a:avLst>
          </a:prstGeom>
          <a:solidFill>
            <a:srgbClr val="E5EAF0"/>
          </a:solidFill>
          <a:ln w="0">
            <a:noFill/>
            <a:prstDash val="solid"/>
          </a:ln>
        </p:spPr>
      </p:sp>
      <p:sp>
        <p:nvSpPr>
          <p:cNvPr id="18" name="thanks-progress-6">
            <a:extLst>
              <a:ext uri="{FF2B5EF4-FFF2-40B4-BE49-F238E27FC236}">
                <a16:creationId xmlns:a16="http://schemas.microsoft.com/office/drawing/2014/main" id="{B751078D-CA08-4EF8-BC12-B1E9B1D6341F}"/>
              </a:ext>
            </a:extLst>
          </p:cNvPr>
          <p:cNvSpPr>
            <a:spLocks noGrp="1"/>
          </p:cNvSpPr>
          <p:nvPr/>
        </p:nvSpPr>
        <p:spPr>
          <a:xfrm>
            <a:off x="6124575" y="6572250"/>
            <a:ext cx="152400" cy="28575"/>
          </a:xfrm>
          <a:prstGeom prst="roundRect">
            <a:avLst>
              <a:gd name="adj" fmla="val 50000"/>
            </a:avLst>
          </a:prstGeom>
          <a:solidFill>
            <a:srgbClr val="E5EAF0"/>
          </a:solidFill>
          <a:ln w="0">
            <a:noFill/>
            <a:prstDash val="solid"/>
          </a:ln>
        </p:spPr>
      </p:sp>
      <p:sp>
        <p:nvSpPr>
          <p:cNvPr id="19" name="thanks-progress-7">
            <a:extLst>
              <a:ext uri="{FF2B5EF4-FFF2-40B4-BE49-F238E27FC236}">
                <a16:creationId xmlns:a16="http://schemas.microsoft.com/office/drawing/2014/main" id="{2A4A3D69-0310-46D9-90E6-50FE435C5A03}"/>
              </a:ext>
            </a:extLst>
          </p:cNvPr>
          <p:cNvSpPr>
            <a:spLocks noGrp="1"/>
          </p:cNvSpPr>
          <p:nvPr/>
        </p:nvSpPr>
        <p:spPr>
          <a:xfrm>
            <a:off x="6334125" y="6572250"/>
            <a:ext cx="152400" cy="28575"/>
          </a:xfrm>
          <a:prstGeom prst="roundRect">
            <a:avLst>
              <a:gd name="adj" fmla="val 50000"/>
            </a:avLst>
          </a:prstGeom>
          <a:solidFill>
            <a:srgbClr val="E5EAF0"/>
          </a:solidFill>
          <a:ln w="0">
            <a:noFill/>
            <a:prstDash val="solid"/>
          </a:ln>
        </p:spPr>
      </p:sp>
      <p:sp>
        <p:nvSpPr>
          <p:cNvPr id="20" name="thanks-progress-8">
            <a:extLst>
              <a:ext uri="{FF2B5EF4-FFF2-40B4-BE49-F238E27FC236}">
                <a16:creationId xmlns:a16="http://schemas.microsoft.com/office/drawing/2014/main" id="{F7EFD2F7-D2D4-46F5-8729-48EEAA135092}"/>
              </a:ext>
            </a:extLst>
          </p:cNvPr>
          <p:cNvSpPr>
            <a:spLocks noGrp="1"/>
          </p:cNvSpPr>
          <p:nvPr/>
        </p:nvSpPr>
        <p:spPr>
          <a:xfrm>
            <a:off x="6543675" y="6572250"/>
            <a:ext cx="152400" cy="28575"/>
          </a:xfrm>
          <a:prstGeom prst="roundRect">
            <a:avLst>
              <a:gd name="adj" fmla="val 50000"/>
            </a:avLst>
          </a:prstGeom>
          <a:solidFill>
            <a:srgbClr val="E5EAF0"/>
          </a:solidFill>
          <a:ln w="0">
            <a:noFill/>
            <a:prstDash val="solid"/>
          </a:ln>
        </p:spPr>
      </p:sp>
      <p:sp>
        <p:nvSpPr>
          <p:cNvPr id="21" name="thanks-progress-9">
            <a:extLst>
              <a:ext uri="{FF2B5EF4-FFF2-40B4-BE49-F238E27FC236}">
                <a16:creationId xmlns:a16="http://schemas.microsoft.com/office/drawing/2014/main" id="{180113A3-B341-4A97-AD3C-EE652EF8AC33}"/>
              </a:ext>
            </a:extLst>
          </p:cNvPr>
          <p:cNvSpPr>
            <a:spLocks noGrp="1"/>
          </p:cNvSpPr>
          <p:nvPr/>
        </p:nvSpPr>
        <p:spPr>
          <a:xfrm>
            <a:off x="6753225" y="6572250"/>
            <a:ext cx="152400" cy="28575"/>
          </a:xfrm>
          <a:prstGeom prst="roundRect">
            <a:avLst>
              <a:gd name="adj" fmla="val 50000"/>
            </a:avLst>
          </a:prstGeom>
          <a:solidFill>
            <a:srgbClr val="E5EAF0"/>
          </a:solidFill>
          <a:ln w="0">
            <a:noFill/>
            <a:prstDash val="solid"/>
          </a:ln>
        </p:spPr>
      </p:sp>
      <p:sp>
        <p:nvSpPr>
          <p:cNvPr id="22" name="thanks-progress-10">
            <a:extLst>
              <a:ext uri="{FF2B5EF4-FFF2-40B4-BE49-F238E27FC236}">
                <a16:creationId xmlns:a16="http://schemas.microsoft.com/office/drawing/2014/main" id="{D22A7A80-4CAA-49F5-A199-26C28E7E9460}"/>
              </a:ext>
            </a:extLst>
          </p:cNvPr>
          <p:cNvSpPr>
            <a:spLocks noGrp="1"/>
          </p:cNvSpPr>
          <p:nvPr/>
        </p:nvSpPr>
        <p:spPr>
          <a:xfrm>
            <a:off x="6962775" y="6572250"/>
            <a:ext cx="152400" cy="28575"/>
          </a:xfrm>
          <a:prstGeom prst="roundRect">
            <a:avLst>
              <a:gd name="adj" fmla="val 50000"/>
            </a:avLst>
          </a:prstGeom>
          <a:solidFill>
            <a:srgbClr val="5D58E9"/>
          </a:solidFill>
          <a:ln w="0">
            <a:noFill/>
            <a:prstDash val="solid"/>
          </a:ln>
        </p:spPr>
      </p:sp>
      <p:sp>
        <p:nvSpPr>
          <p:cNvPr id="23" name="thanks-page-number">
            <a:extLst>
              <a:ext uri="{FF2B5EF4-FFF2-40B4-BE49-F238E27FC236}">
                <a16:creationId xmlns:a16="http://schemas.microsoft.com/office/drawing/2014/main" id="{4094EAE4-2381-459D-A527-84E8638C19D2}"/>
              </a:ext>
            </a:extLst>
          </p:cNvPr>
          <p:cNvSpPr>
            <a:spLocks noGrp="1"/>
          </p:cNvSpPr>
          <p:nvPr/>
        </p:nvSpPr>
        <p:spPr>
          <a:xfrm>
            <a:off x="11239500" y="6438900"/>
            <a:ext cx="514350" cy="209550"/>
          </a:xfrm>
          <a:prstGeom prst="rect">
            <a:avLst/>
          </a:prstGeom>
          <a:noFill/>
          <a:ln w="0">
            <a:noFill/>
            <a:prstDash val="solid"/>
          </a:ln>
        </p:spPr>
        <p:txBody>
          <a:bodyPr wrap="square" lIns="0" tIns="0" rIns="0" bIns="0" anchor="t">
            <a:noAutofit/>
          </a:bodyPr>
          <a:lstStyle/>
          <a:p>
            <a:pPr algn="r">
              <a:defRPr sz="975" b="0">
                <a:solidFill>
                  <a:srgbClr val="8190A0"/>
                </a:solidFill>
                <a:latin typeface="Arial"/>
                <a:ea typeface="Arial"/>
                <a:cs typeface="Arial"/>
              </a:defRPr>
            </a:pPr>
            <a:r>
              <a:rPr sz="975" b="0">
                <a:solidFill>
                  <a:srgbClr val="8190A0"/>
                </a:solidFill>
                <a:latin typeface="Arial"/>
                <a:ea typeface="Arial"/>
                <a:cs typeface="Arial"/>
              </a:rPr>
              <a:t>11</a:t>
            </a:r>
          </a:p>
        </p:txBody>
      </p:sp>
    </p:spTree>
    <p:extLst>
      <p:ext uri="{BB962C8B-B14F-4D97-AF65-F5344CB8AC3E}">
        <p14:creationId xmlns:p14="http://schemas.microsoft.com/office/powerpoint/2010/main" val="189934465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1861</Words>
  <Application>Microsoft Office PowerPoint</Application>
  <DocSecurity>0</DocSecurity>
  <PresentationFormat>Widescreen</PresentationFormat>
  <Paragraphs>259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ismael Ally hossen</cp:lastModifiedBy>
  <cp:revision>4</cp:revision>
  <dcterms:created xsi:type="dcterms:W3CDTF">2026-08-31T17:31:21Z</dcterms:created>
  <dcterms:modified xsi:type="dcterms:W3CDTF">2026-08-31T17:38:30Z</dcterms:modified>
</cp:coreProperties>
</file>