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4" r:id="rId8"/>
    <p:sldId id="262" r:id="rId9"/>
    <p:sldId id="265" r:id="rId10"/>
    <p:sldId id="263"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066" autoAdjust="0"/>
  </p:normalViewPr>
  <p:slideViewPr>
    <p:cSldViewPr snapToGrid="0">
      <p:cViewPr varScale="1">
        <p:scale>
          <a:sx n="97" d="100"/>
          <a:sy n="97" d="100"/>
        </p:scale>
        <p:origin x="26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LR</c:v>
          </c:tx>
          <c:spPr>
            <a:solidFill>
              <a:srgbClr val="A9B5C5"/>
            </a:solidFill>
          </c:spPr>
          <c:invertIfNegative val="1"/>
          <c:dLbls>
            <c:spPr>
              <a:noFill/>
              <a:ln>
                <a:noFill/>
              </a:ln>
            </c:spPr>
            <c:txPr>
              <a:bodyPr anchorCtr="1"/>
              <a:lstStyle/>
              <a:p>
                <a:pPr>
                  <a:defRPr sz="825" b="1">
                    <a:solidFill>
                      <a:srgbClr val="1118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Precision</c:v>
              </c:pt>
              <c:pt idx="1">
                <c:v>Recall</c:v>
              </c:pt>
              <c:pt idx="2">
                <c:v>F1</c:v>
              </c:pt>
              <c:pt idx="3">
                <c:v>PR-AUC</c:v>
              </c:pt>
            </c:strLit>
          </c:cat>
          <c:val>
            <c:numLit>
              <c:formatCode>0%</c:formatCode>
              <c:ptCount val="4"/>
              <c:pt idx="0">
                <c:v>0.47810000000000002</c:v>
              </c:pt>
              <c:pt idx="1">
                <c:v>0.90280000000000005</c:v>
              </c:pt>
              <c:pt idx="2">
                <c:v>0.62519999999999998</c:v>
              </c:pt>
              <c:pt idx="3">
                <c:v>0.3836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1D-4684-9F63-05116D1F2563}"/>
            </c:ext>
          </c:extLst>
        </c:ser>
        <c:ser>
          <c:idx val="1"/>
          <c:order val="1"/>
          <c:tx>
            <c:v>RF</c:v>
          </c:tx>
          <c:spPr>
            <a:solidFill>
              <a:srgbClr val="6DCBF4"/>
            </a:solidFill>
          </c:spPr>
          <c:invertIfNegative val="1"/>
          <c:dLbls>
            <c:spPr>
              <a:noFill/>
              <a:ln>
                <a:noFill/>
              </a:ln>
            </c:spPr>
            <c:txPr>
              <a:bodyPr anchorCtr="1"/>
              <a:lstStyle/>
              <a:p>
                <a:pPr>
                  <a:defRPr sz="825" b="1">
                    <a:solidFill>
                      <a:srgbClr val="1118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Precision</c:v>
              </c:pt>
              <c:pt idx="1">
                <c:v>Recall</c:v>
              </c:pt>
              <c:pt idx="2">
                <c:v>F1</c:v>
              </c:pt>
              <c:pt idx="3">
                <c:v>PR-AUC</c:v>
              </c:pt>
            </c:strLit>
          </c:cat>
          <c:val>
            <c:numLit>
              <c:formatCode>0%</c:formatCode>
              <c:ptCount val="4"/>
              <c:pt idx="0">
                <c:v>0.90310000000000001</c:v>
              </c:pt>
              <c:pt idx="1">
                <c:v>0.92290000000000005</c:v>
              </c:pt>
              <c:pt idx="2">
                <c:v>0.91290000000000004</c:v>
              </c:pt>
              <c:pt idx="3">
                <c:v>0.96230000000000004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91D-4684-9F63-05116D1F2563}"/>
            </c:ext>
          </c:extLst>
        </c:ser>
        <c:ser>
          <c:idx val="2"/>
          <c:order val="2"/>
          <c:tx>
            <c:v>XGB</c:v>
          </c:tx>
          <c:spPr>
            <a:solidFill>
              <a:srgbClr val="3D8DFF"/>
            </a:solidFill>
          </c:spPr>
          <c:invertIfNegative val="1"/>
          <c:dLbls>
            <c:spPr>
              <a:noFill/>
              <a:ln>
                <a:noFill/>
              </a:ln>
            </c:spPr>
            <c:txPr>
              <a:bodyPr anchorCtr="1"/>
              <a:lstStyle/>
              <a:p>
                <a:pPr>
                  <a:defRPr sz="825" b="1">
                    <a:solidFill>
                      <a:srgbClr val="1118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Precision</c:v>
              </c:pt>
              <c:pt idx="1">
                <c:v>Recall</c:v>
              </c:pt>
              <c:pt idx="2">
                <c:v>F1</c:v>
              </c:pt>
              <c:pt idx="3">
                <c:v>PR-AUC</c:v>
              </c:pt>
            </c:strLit>
          </c:cat>
          <c:val>
            <c:numLit>
              <c:formatCode>0%</c:formatCode>
              <c:ptCount val="4"/>
              <c:pt idx="0">
                <c:v>0.92630000000000001</c:v>
              </c:pt>
              <c:pt idx="1">
                <c:v>0.92290000000000005</c:v>
              </c:pt>
              <c:pt idx="2">
                <c:v>0.92459999999999998</c:v>
              </c:pt>
              <c:pt idx="3">
                <c:v>0.97599999999999998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91D-4684-9F63-05116D1F2563}"/>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AB5C1"/>
            </a:solidFill>
            <a:prstDash val="solid"/>
          </a:ln>
        </c:spPr>
        <c:txPr>
          <a:bodyPr anchorCtr="1"/>
          <a:lstStyle/>
          <a:p>
            <a:pPr>
              <a:defRPr sz="1050">
                <a:solidFill>
                  <a:srgbClr val="111827"/>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6DDE5"/>
              </a:solidFill>
              <a:prstDash val="solid"/>
            </a:ln>
          </c:spPr>
        </c:majorGridlines>
        <c:numFmt formatCode="0%" sourceLinked="1"/>
        <c:majorTickMark val="none"/>
        <c:minorTickMark val="none"/>
        <c:tickLblPos val="nextTo"/>
        <c:spPr>
          <a:ln w="0">
            <a:solidFill>
              <a:srgbClr val="FFFFFF"/>
            </a:solidFill>
            <a:prstDash val="solid"/>
          </a:ln>
        </c:spPr>
        <c:txPr>
          <a:bodyPr anchorCtr="1"/>
          <a:lstStyle/>
          <a:p>
            <a:pPr>
              <a:defRPr sz="975">
                <a:solidFill>
                  <a:srgbClr val="536172"/>
                </a:solidFill>
                <a:latin typeface="Arial"/>
                <a:ea typeface="Arial"/>
                <a:cs typeface="Arial"/>
              </a:defRPr>
            </a:pPr>
            <a:endParaRPr lang="en-US"/>
          </a:p>
        </c:txPr>
        <c:crossAx val="48650112"/>
        <c:crosses val="autoZero"/>
        <c:crossBetween val="between"/>
        <c:majorUnit val="0.2"/>
      </c:valAx>
      <c:spPr>
        <a:noFill/>
        <a:ln w="0">
          <a:solidFill>
            <a:srgbClr val="FFFFFF"/>
          </a:solidFill>
          <a:prstDash val="solid"/>
        </a:ln>
      </c:spPr>
    </c:plotArea>
    <c:legend>
      <c:legendPos val="b"/>
      <c:overlay val="0"/>
      <c:txPr>
        <a:bodyPr anchorCtr="1"/>
        <a:lstStyle/>
        <a:p>
          <a:pPr>
            <a:defRPr sz="1125">
              <a:solidFill>
                <a:srgbClr val="536172"/>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project finds online card fraud, and it shows why. Then walk through the data, the three models, the results, and the 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fraud is only 1.21% of payments. That is one fraud in 81. So accuracy is a bad headline. I use precision, recall, F1 and PR-AUC. The aim is a detector people can review, and that we can test in Mauritius.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kept only online shop types. 294,854 payments. Seven simple facts. Train on older payments. Test on later ones. Like real life.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Say: same features go into three models. Logistic Regression is the simple baseline. Random Forest learns rules. </a:t>
            </a:r>
            <a:r>
              <a:rPr dirty="0" err="1"/>
              <a:t>XGBoost</a:t>
            </a:r>
            <a:r>
              <a:rPr dirty="0"/>
              <a:t> is the strongest. No fake fraud rows. Extra weight on real fraud. Final labels are approve, review, or 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ignore 99% accuracy. XGBoost is best: about 93% precision and 98% PR-AUC. Random Forest is very close. Logistic Regression finds more odd cases but raises more false alarms.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only this. Point to the three boxes. Logistic Regression says 100 percent fraud. Random Forest and XGBoost say approve. We do not vote. We take the strictest answer. So we block. That catches almost all fraud. Some genuine payments get blocked too.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one payment goes through five steps. Capture. Add extra facts. Score with three models. Explain. Decide. A person can check every step.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is a real app. E1 looks normal and is approved. E3 looks extreme and is blocked. E2 did not match the first plan after the online-only filter. SHAP showed why. These are demos, not a full Mauritius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question 1 yes, models can find rare fraud. Question 2 yes, we can show reasons and still block on the strongest warning. Question 3 too soon for Mauritius. We need real local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built a working, explainable detector. I have not proved Mauritius with real bank data yet. Next: real local data, more time features, and better cut-offs.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audience. Invite questions. If needed, repeat: the system works, and Mauritius proof is still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three models because they fail on different cases. We do not average. If any model blocks, we block. The 500,000 rupee case was caught by Logistic Regression. The late-night far-away small payment was caught by Random Forest.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Logistic Regression is the safety net for extreme amounts. Random Forest is the everyday model for mixed clues. XGBoost has the best test scores. I keep all three so one blind spot cannot hide fraud.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percentages were correct. The red HIGH FRAUD lines are extra rules in the text, not always SHAP. Trust the score and the verdict. On the extreme case, XGBoost still approved, but Logistic Regression blocked, so the app blocked.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ule">
            <a:extLst>
              <a:ext uri="{FF2B5EF4-FFF2-40B4-BE49-F238E27FC236}">
                <a16:creationId xmlns:a16="http://schemas.microsoft.com/office/drawing/2014/main" id="{3AE31D9C-27B7-420E-8562-091DD0AF8E64}"/>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institution">
            <a:extLst>
              <a:ext uri="{FF2B5EF4-FFF2-40B4-BE49-F238E27FC236}">
                <a16:creationId xmlns:a16="http://schemas.microsoft.com/office/drawing/2014/main" id="{0879AD86-A1B3-480A-B53C-3547A07D3DB7}"/>
              </a:ext>
            </a:extLst>
          </p:cNvPr>
          <p:cNvSpPr>
            <a:spLocks noGrp="1"/>
          </p:cNvSpPr>
          <p:nvPr/>
        </p:nvSpPr>
        <p:spPr>
          <a:xfrm>
            <a:off x="533400" y="438150"/>
            <a:ext cx="4953000" cy="228600"/>
          </a:xfrm>
          <a:prstGeom prst="rect">
            <a:avLst/>
          </a:prstGeom>
          <a:noFill/>
          <a:ln w="0">
            <a:noFill/>
            <a:prstDash val="solid"/>
          </a:ln>
        </p:spPr>
        <p:txBody>
          <a:bodyPr wrap="square" lIns="0" tIns="0" rIns="0" bIns="0" anchor="t">
            <a:noAutofit/>
          </a:bodyPr>
          <a:lstStyle/>
          <a:p>
            <a:pPr algn="l">
              <a:buNone/>
              <a:defRPr sz="975" b="1" i="0">
                <a:solidFill>
                  <a:srgbClr val="8190A0"/>
                </a:solidFill>
                <a:latin typeface="Arial"/>
                <a:ea typeface="Arial"/>
                <a:cs typeface="Arial"/>
              </a:defRPr>
            </a:pPr>
            <a:r>
              <a:rPr sz="975" b="1" i="0">
                <a:solidFill>
                  <a:srgbClr val="8190A0"/>
                </a:solidFill>
                <a:latin typeface="Arial"/>
                <a:ea typeface="Arial"/>
                <a:cs typeface="Arial"/>
              </a:rPr>
              <a:t>UNIVERSITY OF TECHNOLOGY, MAURITIUS</a:t>
            </a:r>
          </a:p>
        </p:txBody>
      </p:sp>
      <p:sp>
        <p:nvSpPr>
          <p:cNvPr id="3" name="cover-title">
            <a:extLst>
              <a:ext uri="{FF2B5EF4-FFF2-40B4-BE49-F238E27FC236}">
                <a16:creationId xmlns:a16="http://schemas.microsoft.com/office/drawing/2014/main" id="{EF430AFC-2AD1-4A20-9C0F-DCCBB043319E}"/>
              </a:ext>
            </a:extLst>
          </p:cNvPr>
          <p:cNvSpPr>
            <a:spLocks noGrp="1"/>
          </p:cNvSpPr>
          <p:nvPr/>
        </p:nvSpPr>
        <p:spPr>
          <a:xfrm>
            <a:off x="533400" y="1828800"/>
            <a:ext cx="5334000" cy="1238250"/>
          </a:xfrm>
          <a:prstGeom prst="rect">
            <a:avLst/>
          </a:prstGeom>
          <a:noFill/>
          <a:ln w="0">
            <a:noFill/>
            <a:prstDash val="solid"/>
          </a:ln>
        </p:spPr>
        <p:txBody>
          <a:bodyPr wrap="square" lIns="0" tIns="0" rIns="0" bIns="0" anchor="t">
            <a:noAutofit/>
          </a:bodyPr>
          <a:lstStyle/>
          <a:p>
            <a:pPr algn="l">
              <a:buNone/>
              <a:defRPr sz="3900" b="1" i="0">
                <a:solidFill>
                  <a:srgbClr val="111827"/>
                </a:solidFill>
                <a:latin typeface="Arial"/>
                <a:ea typeface="Arial"/>
                <a:cs typeface="Arial"/>
              </a:defRPr>
            </a:pPr>
            <a:r>
              <a:rPr sz="3900" b="1" i="0">
                <a:solidFill>
                  <a:srgbClr val="111827"/>
                </a:solidFill>
                <a:latin typeface="Arial"/>
                <a:ea typeface="Arial"/>
                <a:cs typeface="Arial"/>
              </a:rPr>
              <a:t>Interpretable ML for</a:t>
            </a:r>
          </a:p>
          <a:p>
            <a:pPr algn="l">
              <a:buNone/>
              <a:defRPr sz="3900" b="1" i="0">
                <a:solidFill>
                  <a:srgbClr val="111827"/>
                </a:solidFill>
                <a:latin typeface="Arial"/>
                <a:ea typeface="Arial"/>
                <a:cs typeface="Arial"/>
              </a:defRPr>
            </a:pPr>
            <a:r>
              <a:rPr sz="3900" b="1" i="0">
                <a:solidFill>
                  <a:srgbClr val="111827"/>
                </a:solidFill>
                <a:latin typeface="Arial"/>
                <a:ea typeface="Arial"/>
                <a:cs typeface="Arial"/>
              </a:rPr>
              <a:t>CNP fraud detection</a:t>
            </a:r>
          </a:p>
        </p:txBody>
      </p:sp>
      <p:sp>
        <p:nvSpPr>
          <p:cNvPr id="4" name="cover-subtitle">
            <a:extLst>
              <a:ext uri="{FF2B5EF4-FFF2-40B4-BE49-F238E27FC236}">
                <a16:creationId xmlns:a16="http://schemas.microsoft.com/office/drawing/2014/main" id="{647C5749-D73D-44B7-A515-144CA3A4BA7F}"/>
              </a:ext>
            </a:extLst>
          </p:cNvPr>
          <p:cNvSpPr>
            <a:spLocks noGrp="1"/>
          </p:cNvSpPr>
          <p:nvPr/>
        </p:nvSpPr>
        <p:spPr>
          <a:xfrm>
            <a:off x="533400" y="3486150"/>
            <a:ext cx="5334000" cy="628650"/>
          </a:xfrm>
          <a:prstGeom prst="rect">
            <a:avLst/>
          </a:prstGeom>
          <a:noFill/>
          <a:ln w="0">
            <a:noFill/>
            <a:prstDash val="solid"/>
          </a:ln>
        </p:spPr>
        <p:txBody>
          <a:bodyPr wrap="square" lIns="0" tIns="0" rIns="0" bIns="0" anchor="t">
            <a:noAutofit/>
          </a:bodyPr>
          <a:lstStyle/>
          <a:p>
            <a:pPr algn="l">
              <a:buNone/>
              <a:defRPr sz="1650" b="0" i="0">
                <a:solidFill>
                  <a:srgbClr val="536172"/>
                </a:solidFill>
                <a:latin typeface="Arial"/>
                <a:ea typeface="Arial"/>
                <a:cs typeface="Arial"/>
              </a:defRPr>
            </a:pPr>
            <a:r>
              <a:rPr sz="1650" b="0" i="0" dirty="0">
                <a:solidFill>
                  <a:srgbClr val="536172"/>
                </a:solidFill>
                <a:latin typeface="Arial"/>
                <a:ea typeface="Arial"/>
                <a:cs typeface="Arial"/>
              </a:rPr>
              <a:t>Online card fraud.</a:t>
            </a:r>
          </a:p>
          <a:p>
            <a:pPr algn="l"/>
            <a:r>
              <a:rPr sz="1650" b="0" i="0">
                <a:solidFill>
                  <a:srgbClr val="536172"/>
                </a:solidFill>
                <a:latin typeface="Arial"/>
              </a:rPr>
              <a:t>Tested with Mauritius examples.</a:t>
            </a:r>
          </a:p>
        </p:txBody>
      </p:sp>
      <p:sp>
        <p:nvSpPr>
          <p:cNvPr id="5" name="cover-presenter">
            <a:extLst>
              <a:ext uri="{FF2B5EF4-FFF2-40B4-BE49-F238E27FC236}">
                <a16:creationId xmlns:a16="http://schemas.microsoft.com/office/drawing/2014/main" id="{25B3137E-B46F-470E-876D-22CB18E6FC40}"/>
              </a:ext>
            </a:extLst>
          </p:cNvPr>
          <p:cNvSpPr>
            <a:spLocks noGrp="1"/>
          </p:cNvSpPr>
          <p:nvPr/>
        </p:nvSpPr>
        <p:spPr>
          <a:xfrm>
            <a:off x="533400" y="5010150"/>
            <a:ext cx="5143500" cy="914400"/>
          </a:xfrm>
          <a:prstGeom prst="rect">
            <a:avLst/>
          </a:prstGeom>
          <a:noFill/>
          <a:ln w="0">
            <a:noFill/>
            <a:prstDash val="solid"/>
          </a:ln>
        </p:spPr>
        <p:txBody>
          <a:bodyPr wrap="square" lIns="0" tIns="0" rIns="0" bIns="0" anchor="t">
            <a:noAutofit/>
          </a:bodyPr>
          <a:lstStyle/>
          <a:p>
            <a:pPr algn="l">
              <a:buNone/>
              <a:defRPr sz="1275" b="0" i="0">
                <a:solidFill>
                  <a:srgbClr val="111827"/>
                </a:solidFill>
                <a:latin typeface="Arial"/>
                <a:ea typeface="Arial"/>
                <a:cs typeface="Arial"/>
              </a:defRPr>
            </a:pPr>
            <a:r>
              <a:rPr sz="1275" b="0" i="0">
                <a:solidFill>
                  <a:srgbClr val="111827"/>
                </a:solidFill>
                <a:latin typeface="Arial"/>
                <a:ea typeface="Arial"/>
                <a:cs typeface="Arial"/>
              </a:rPr>
              <a:t>ALLY HOSSEN Muhammad Ismael</a:t>
            </a:r>
          </a:p>
          <a:p>
            <a:pPr algn="l">
              <a:buNone/>
              <a:defRPr sz="1275" b="0" i="0">
                <a:solidFill>
                  <a:srgbClr val="111827"/>
                </a:solidFill>
                <a:latin typeface="Arial"/>
                <a:ea typeface="Arial"/>
                <a:cs typeface="Arial"/>
              </a:defRPr>
            </a:pPr>
            <a:r>
              <a:rPr sz="1275" b="0" i="0">
                <a:solidFill>
                  <a:srgbClr val="111827"/>
                </a:solidFill>
                <a:latin typeface="Arial"/>
                <a:ea typeface="Arial"/>
                <a:cs typeface="Arial"/>
              </a:rPr>
              <a:t>MSc Artificial Intelligence with Machine Learning</a:t>
            </a:r>
          </a:p>
          <a:p>
            <a:pPr algn="l">
              <a:buNone/>
              <a:defRPr sz="1275" b="0" i="0">
                <a:solidFill>
                  <a:srgbClr val="111827"/>
                </a:solidFill>
                <a:latin typeface="Arial"/>
                <a:ea typeface="Arial"/>
                <a:cs typeface="Arial"/>
              </a:defRPr>
            </a:pPr>
            <a:r>
              <a:rPr sz="1275" b="0" i="0">
                <a:solidFill>
                  <a:srgbClr val="111827"/>
                </a:solidFill>
                <a:latin typeface="Arial"/>
                <a:ea typeface="Arial"/>
                <a:cs typeface="Arial"/>
              </a:rPr>
              <a:t>Supervisor: Dr. Panchoo Shireen</a:t>
            </a:r>
          </a:p>
        </p:txBody>
      </p:sp>
      <p:sp>
        <p:nvSpPr>
          <p:cNvPr id="6" name="deployed-system-architecture-backing">
            <a:extLst>
              <a:ext uri="{FF2B5EF4-FFF2-40B4-BE49-F238E27FC236}">
                <a16:creationId xmlns:a16="http://schemas.microsoft.com/office/drawing/2014/main" id="{632400D0-18F8-4454-9392-54F98269A5B2}"/>
              </a:ext>
            </a:extLst>
          </p:cNvPr>
          <p:cNvSpPr>
            <a:spLocks noGrp="1"/>
          </p:cNvSpPr>
          <p:nvPr/>
        </p:nvSpPr>
        <p:spPr>
          <a:xfrm>
            <a:off x="6496050" y="800100"/>
            <a:ext cx="4972050" cy="4591050"/>
          </a:xfrm>
          <a:prstGeom prst="roundRect">
            <a:avLst>
              <a:gd name="adj" fmla="val 2490"/>
            </a:avLst>
          </a:prstGeom>
          <a:solidFill>
            <a:srgbClr val="EAF5FB"/>
          </a:solidFill>
          <a:ln w="9525">
            <a:solidFill>
              <a:srgbClr val="AAB5C1"/>
            </a:solidFill>
            <a:prstDash val="solid"/>
          </a:ln>
        </p:spPr>
      </p:sp>
      <p:pic>
        <p:nvPicPr>
          <p:cNvPr id="41" name="Picture 16"/>
          <p:cNvPicPr>
            <a:picLocks noChangeAspect="1"/>
          </p:cNvPicPr>
          <p:nvPr/>
        </p:nvPicPr>
        <p:blipFill>
          <a:blip r:embed="rId3"/>
          <a:stretch/>
        </p:blipFill>
        <p:spPr>
          <a:xfrm>
            <a:off x="6553200" y="1330896"/>
            <a:ext cx="4857750" cy="3529459"/>
          </a:xfrm>
          <a:prstGeom prst="roundRect">
            <a:avLst>
              <a:gd name="adj" fmla="val 1702"/>
            </a:avLst>
          </a:prstGeom>
        </p:spPr>
      </p:pic>
      <p:sp>
        <p:nvSpPr>
          <p:cNvPr id="8" name="date">
            <a:extLst>
              <a:ext uri="{FF2B5EF4-FFF2-40B4-BE49-F238E27FC236}">
                <a16:creationId xmlns:a16="http://schemas.microsoft.com/office/drawing/2014/main" id="{AA748008-66F8-42C0-8A00-A9B900A1801B}"/>
              </a:ext>
            </a:extLst>
          </p:cNvPr>
          <p:cNvSpPr>
            <a:spLocks noGrp="1"/>
          </p:cNvSpPr>
          <p:nvPr/>
        </p:nvSpPr>
        <p:spPr>
          <a:xfrm>
            <a:off x="533400" y="6286500"/>
            <a:ext cx="1905000" cy="22860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lang="en-GB" sz="1050" dirty="0">
                <a:solidFill>
                  <a:srgbClr val="8190A0"/>
                </a:solidFill>
                <a:latin typeface="Arial"/>
                <a:ea typeface="Arial"/>
                <a:cs typeface="Arial"/>
              </a:rPr>
              <a:t>September</a:t>
            </a:r>
            <a:r>
              <a:rPr sz="1050" b="0" i="0" dirty="0">
                <a:solidFill>
                  <a:srgbClr val="8190A0"/>
                </a:solidFill>
                <a:latin typeface="Arial"/>
                <a:ea typeface="Arial"/>
                <a:cs typeface="Arial"/>
              </a:rPr>
              <a:t> 2026</a:t>
            </a:r>
          </a:p>
        </p:txBody>
      </p:sp>
      <p:sp>
        <p:nvSpPr>
          <p:cNvPr id="11" name="polish-cover-rail">
            <a:extLst>
              <a:ext uri="{FF2B5EF4-FFF2-40B4-BE49-F238E27FC236}">
                <a16:creationId xmlns:a16="http://schemas.microsoft.com/office/drawing/2014/main" id="{3C10AFED-F653-49DD-A452-2E57C878AE60}"/>
              </a:ext>
            </a:extLst>
          </p:cNvPr>
          <p:cNvSpPr>
            <a:spLocks noGrp="1"/>
          </p:cNvSpPr>
          <p:nvPr/>
        </p:nvSpPr>
        <p:spPr>
          <a:xfrm>
            <a:off x="323850" y="2133600"/>
            <a:ext cx="57150" cy="1352550"/>
          </a:xfrm>
          <a:prstGeom prst="roundRect">
            <a:avLst>
              <a:gd name="adj" fmla="val 50000"/>
            </a:avLst>
          </a:prstGeom>
          <a:solidFill>
            <a:srgbClr val="3D8DFF"/>
          </a:solidFill>
          <a:ln w="0">
            <a:noFill/>
            <a:prstDash val="solid"/>
          </a:ln>
        </p:spPr>
      </p:sp>
      <p:sp>
        <p:nvSpPr>
          <p:cNvPr id="12" name="polish-cover-label">
            <a:extLst>
              <a:ext uri="{FF2B5EF4-FFF2-40B4-BE49-F238E27FC236}">
                <a16:creationId xmlns:a16="http://schemas.microsoft.com/office/drawing/2014/main" id="{E466AB78-246E-4B61-96E7-3DB31CB022E9}"/>
              </a:ext>
            </a:extLst>
          </p:cNvPr>
          <p:cNvSpPr>
            <a:spLocks noGrp="1"/>
          </p:cNvSpPr>
          <p:nvPr/>
        </p:nvSpPr>
        <p:spPr>
          <a:xfrm>
            <a:off x="9715500" y="419100"/>
            <a:ext cx="1943100" cy="266700"/>
          </a:xfrm>
          <a:prstGeom prst="roundRect">
            <a:avLst>
              <a:gd name="adj" fmla="val 28571"/>
            </a:avLst>
          </a:prstGeom>
          <a:solidFill>
            <a:srgbClr val="EAF5FB"/>
          </a:solidFill>
          <a:ln w="9525">
            <a:solidFill>
              <a:srgbClr val="D6DDE5"/>
            </a:solidFill>
            <a:prstDash val="solid"/>
          </a:ln>
        </p:spPr>
      </p:sp>
      <p:sp>
        <p:nvSpPr>
          <p:cNvPr id="13" name="polish-cover-label-text">
            <a:extLst>
              <a:ext uri="{FF2B5EF4-FFF2-40B4-BE49-F238E27FC236}">
                <a16:creationId xmlns:a16="http://schemas.microsoft.com/office/drawing/2014/main" id="{C402F150-9C22-415B-891A-620A231D09A3}"/>
              </a:ext>
            </a:extLst>
          </p:cNvPr>
          <p:cNvSpPr>
            <a:spLocks noGrp="1"/>
          </p:cNvSpPr>
          <p:nvPr/>
        </p:nvSpPr>
        <p:spPr>
          <a:xfrm>
            <a:off x="9829800" y="476250"/>
            <a:ext cx="1714500" cy="152400"/>
          </a:xfrm>
          <a:prstGeom prst="rect">
            <a:avLst/>
          </a:prstGeom>
          <a:noFill/>
          <a:ln w="0">
            <a:noFill/>
            <a:prstDash val="solid"/>
          </a:ln>
        </p:spPr>
        <p:txBody>
          <a:bodyPr wrap="square" lIns="0" tIns="0" rIns="0" bIns="0" anchor="t">
            <a:noAutofit/>
          </a:bodyPr>
          <a:lstStyle/>
          <a:p>
            <a:pPr algn="ctr">
              <a:buNone/>
              <a:defRPr sz="825" b="1" i="0">
                <a:solidFill>
                  <a:srgbClr val="3D8DFF"/>
                </a:solidFill>
                <a:latin typeface="Arial"/>
                <a:ea typeface="Arial"/>
                <a:cs typeface="Arial"/>
              </a:defRPr>
            </a:pPr>
            <a:r>
              <a:rPr sz="825" b="1" i="0">
                <a:solidFill>
                  <a:srgbClr val="3D8DFF"/>
                </a:solidFill>
                <a:latin typeface="Arial"/>
                <a:ea typeface="Arial"/>
                <a:cs typeface="Arial"/>
              </a:rPr>
              <a:t>DISSERTATION PRESENTATION</a:t>
            </a:r>
          </a:p>
        </p:txBody>
      </p:sp>
      <p:sp>
        <p:nvSpPr>
          <p:cNvPr id="14" name="polish-theme-dot-1">
            <a:extLst>
              <a:ext uri="{FF2B5EF4-FFF2-40B4-BE49-F238E27FC236}">
                <a16:creationId xmlns:a16="http://schemas.microsoft.com/office/drawing/2014/main" id="{529CF981-C175-4B0D-B82A-40606A3A99EB}"/>
              </a:ext>
            </a:extLst>
          </p:cNvPr>
          <p:cNvSpPr>
            <a:spLocks noGrp="1"/>
          </p:cNvSpPr>
          <p:nvPr/>
        </p:nvSpPr>
        <p:spPr>
          <a:xfrm>
            <a:off x="533400" y="4057650"/>
            <a:ext cx="85725" cy="85725"/>
          </a:xfrm>
          <a:prstGeom prst="ellipse">
            <a:avLst/>
          </a:prstGeom>
          <a:solidFill>
            <a:srgbClr val="3D8DFF"/>
          </a:solidFill>
          <a:ln w="0">
            <a:noFill/>
            <a:prstDash val="solid"/>
          </a:ln>
        </p:spPr>
      </p:sp>
      <p:sp>
        <p:nvSpPr>
          <p:cNvPr id="15" name="polish-theme-label-1">
            <a:extLst>
              <a:ext uri="{FF2B5EF4-FFF2-40B4-BE49-F238E27FC236}">
                <a16:creationId xmlns:a16="http://schemas.microsoft.com/office/drawing/2014/main" id="{359BAFF2-4BD3-4789-9398-1587C3C5973B}"/>
              </a:ext>
            </a:extLst>
          </p:cNvPr>
          <p:cNvSpPr>
            <a:spLocks noGrp="1"/>
          </p:cNvSpPr>
          <p:nvPr/>
        </p:nvSpPr>
        <p:spPr>
          <a:xfrm>
            <a:off x="704850" y="4010025"/>
            <a:ext cx="952500" cy="209550"/>
          </a:xfrm>
          <a:prstGeom prst="rect">
            <a:avLst/>
          </a:prstGeom>
          <a:noFill/>
          <a:ln w="0">
            <a:noFill/>
            <a:prstDash val="solid"/>
          </a:ln>
        </p:spPr>
        <p:txBody>
          <a:bodyPr wrap="square" lIns="0" tIns="0" rIns="0" bIns="0" anchor="t">
            <a:noAutofit/>
          </a:bodyPr>
          <a:lstStyle/>
          <a:p>
            <a:pPr algn="l">
              <a:buNone/>
              <a:defRPr sz="975" b="1" i="0">
                <a:solidFill>
                  <a:srgbClr val="3D8DFF"/>
                </a:solidFill>
                <a:latin typeface="Arial"/>
                <a:ea typeface="Arial"/>
                <a:cs typeface="Arial"/>
              </a:defRPr>
            </a:pPr>
            <a:r>
              <a:rPr sz="975" b="1" i="0" dirty="0">
                <a:solidFill>
                  <a:srgbClr val="3D8DFF"/>
                </a:solidFill>
                <a:latin typeface="Arial"/>
                <a:ea typeface="Arial"/>
                <a:cs typeface="Arial"/>
              </a:rPr>
              <a:t>DETECT</a:t>
            </a:r>
          </a:p>
        </p:txBody>
      </p:sp>
      <p:sp>
        <p:nvSpPr>
          <p:cNvPr id="16" name="polish-theme-dot-2">
            <a:extLst>
              <a:ext uri="{FF2B5EF4-FFF2-40B4-BE49-F238E27FC236}">
                <a16:creationId xmlns:a16="http://schemas.microsoft.com/office/drawing/2014/main" id="{AA552078-E678-4443-90CD-136ECBE34D18}"/>
              </a:ext>
            </a:extLst>
          </p:cNvPr>
          <p:cNvSpPr>
            <a:spLocks noGrp="1"/>
          </p:cNvSpPr>
          <p:nvPr/>
        </p:nvSpPr>
        <p:spPr>
          <a:xfrm>
            <a:off x="1866900" y="4057650"/>
            <a:ext cx="85725" cy="85725"/>
          </a:xfrm>
          <a:prstGeom prst="ellipse">
            <a:avLst/>
          </a:prstGeom>
          <a:solidFill>
            <a:srgbClr val="5D58E9"/>
          </a:solidFill>
          <a:ln w="0">
            <a:noFill/>
            <a:prstDash val="solid"/>
          </a:ln>
        </p:spPr>
      </p:sp>
      <p:sp>
        <p:nvSpPr>
          <p:cNvPr id="17" name="polish-theme-label-2">
            <a:extLst>
              <a:ext uri="{FF2B5EF4-FFF2-40B4-BE49-F238E27FC236}">
                <a16:creationId xmlns:a16="http://schemas.microsoft.com/office/drawing/2014/main" id="{C60EC6CE-A58C-4B80-82EE-567922CDBB22}"/>
              </a:ext>
            </a:extLst>
          </p:cNvPr>
          <p:cNvSpPr>
            <a:spLocks noGrp="1"/>
          </p:cNvSpPr>
          <p:nvPr/>
        </p:nvSpPr>
        <p:spPr>
          <a:xfrm>
            <a:off x="2038350" y="4010025"/>
            <a:ext cx="952500" cy="209550"/>
          </a:xfrm>
          <a:prstGeom prst="rect">
            <a:avLst/>
          </a:prstGeom>
          <a:noFill/>
          <a:ln w="0">
            <a:noFill/>
            <a:prstDash val="solid"/>
          </a:ln>
        </p:spPr>
        <p:txBody>
          <a:bodyPr wrap="square" lIns="0" tIns="0" rIns="0" bIns="0" anchor="t">
            <a:noAutofit/>
          </a:bodyPr>
          <a:lstStyle/>
          <a:p>
            <a:pPr algn="l">
              <a:buNone/>
              <a:defRPr sz="975" b="1" i="0">
                <a:solidFill>
                  <a:srgbClr val="5D58E9"/>
                </a:solidFill>
                <a:latin typeface="Arial"/>
                <a:ea typeface="Arial"/>
                <a:cs typeface="Arial"/>
              </a:defRPr>
            </a:pPr>
            <a:r>
              <a:rPr sz="975" b="1" i="0">
                <a:solidFill>
                  <a:srgbClr val="5D58E9"/>
                </a:solidFill>
                <a:latin typeface="Arial"/>
                <a:ea typeface="Arial"/>
                <a:cs typeface="Arial"/>
              </a:rPr>
              <a:t>EXPLAIN</a:t>
            </a:r>
          </a:p>
        </p:txBody>
      </p:sp>
      <p:sp>
        <p:nvSpPr>
          <p:cNvPr id="18" name="polish-theme-dot-3">
            <a:extLst>
              <a:ext uri="{FF2B5EF4-FFF2-40B4-BE49-F238E27FC236}">
                <a16:creationId xmlns:a16="http://schemas.microsoft.com/office/drawing/2014/main" id="{0B8195E4-E8EB-4924-845B-51FA57D74EB8}"/>
              </a:ext>
            </a:extLst>
          </p:cNvPr>
          <p:cNvSpPr>
            <a:spLocks noGrp="1"/>
          </p:cNvSpPr>
          <p:nvPr/>
        </p:nvSpPr>
        <p:spPr>
          <a:xfrm>
            <a:off x="3390900" y="4057650"/>
            <a:ext cx="85725" cy="85725"/>
          </a:xfrm>
          <a:prstGeom prst="ellipse">
            <a:avLst/>
          </a:prstGeom>
          <a:solidFill>
            <a:srgbClr val="279A73"/>
          </a:solidFill>
          <a:ln w="0">
            <a:noFill/>
            <a:prstDash val="solid"/>
          </a:ln>
        </p:spPr>
      </p:sp>
      <p:sp>
        <p:nvSpPr>
          <p:cNvPr id="19" name="polish-theme-label-3">
            <a:extLst>
              <a:ext uri="{FF2B5EF4-FFF2-40B4-BE49-F238E27FC236}">
                <a16:creationId xmlns:a16="http://schemas.microsoft.com/office/drawing/2014/main" id="{49F4C883-3FC2-4D8B-8F8A-07D59B77FD90}"/>
              </a:ext>
            </a:extLst>
          </p:cNvPr>
          <p:cNvSpPr>
            <a:spLocks noGrp="1"/>
          </p:cNvSpPr>
          <p:nvPr/>
        </p:nvSpPr>
        <p:spPr>
          <a:xfrm>
            <a:off x="3557587" y="4009410"/>
            <a:ext cx="952500" cy="209550"/>
          </a:xfrm>
          <a:prstGeom prst="rect">
            <a:avLst/>
          </a:prstGeom>
          <a:noFill/>
          <a:ln w="0">
            <a:noFill/>
            <a:prstDash val="solid"/>
          </a:ln>
        </p:spPr>
        <p:txBody>
          <a:bodyPr wrap="square" lIns="0" tIns="0" rIns="0" bIns="0" anchor="t">
            <a:noAutofit/>
          </a:bodyPr>
          <a:lstStyle/>
          <a:p>
            <a:pPr algn="l">
              <a:buNone/>
              <a:defRPr sz="975" b="1" i="0">
                <a:solidFill>
                  <a:srgbClr val="279A73"/>
                </a:solidFill>
                <a:latin typeface="Arial"/>
                <a:ea typeface="Arial"/>
                <a:cs typeface="Arial"/>
              </a:defRPr>
            </a:pPr>
            <a:r>
              <a:rPr sz="975" b="1" i="0" dirty="0">
                <a:solidFill>
                  <a:srgbClr val="279A73"/>
                </a:solidFill>
                <a:latin typeface="Arial"/>
                <a:ea typeface="Arial"/>
                <a:cs typeface="Arial"/>
              </a:rPr>
              <a:t>DEPLOY</a:t>
            </a:r>
          </a:p>
        </p:txBody>
      </p:sp>
      <p:sp>
        <p:nvSpPr>
          <p:cNvPr id="20" name="polish-progress-1-1">
            <a:extLst>
              <a:ext uri="{FF2B5EF4-FFF2-40B4-BE49-F238E27FC236}">
                <a16:creationId xmlns:a16="http://schemas.microsoft.com/office/drawing/2014/main" id="{9A4E13C0-C8E7-429D-80A1-C04DA05C84FD}"/>
              </a:ext>
            </a:extLst>
          </p:cNvPr>
          <p:cNvSpPr>
            <a:spLocks noGrp="1"/>
          </p:cNvSpPr>
          <p:nvPr/>
        </p:nvSpPr>
        <p:spPr>
          <a:xfrm>
            <a:off x="5076825" y="6572250"/>
            <a:ext cx="152400" cy="28575"/>
          </a:xfrm>
          <a:prstGeom prst="roundRect">
            <a:avLst>
              <a:gd name="adj" fmla="val 50000"/>
            </a:avLst>
          </a:prstGeom>
          <a:solidFill>
            <a:srgbClr val="3D8DFF"/>
          </a:solidFill>
          <a:ln w="0">
            <a:noFill/>
            <a:prstDash val="solid"/>
          </a:ln>
        </p:spPr>
      </p:sp>
      <p:sp>
        <p:nvSpPr>
          <p:cNvPr id="21" name="polish-progress-1-2">
            <a:extLst>
              <a:ext uri="{FF2B5EF4-FFF2-40B4-BE49-F238E27FC236}">
                <a16:creationId xmlns:a16="http://schemas.microsoft.com/office/drawing/2014/main" id="{8CE42ABE-9AEF-40DB-981F-AFDE5A27A271}"/>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22" name="polish-progress-1-3">
            <a:extLst>
              <a:ext uri="{FF2B5EF4-FFF2-40B4-BE49-F238E27FC236}">
                <a16:creationId xmlns:a16="http://schemas.microsoft.com/office/drawing/2014/main" id="{26CFBDDC-4FA5-43B2-A192-684A4452D661}"/>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23" name="polish-progress-1-4">
            <a:extLst>
              <a:ext uri="{FF2B5EF4-FFF2-40B4-BE49-F238E27FC236}">
                <a16:creationId xmlns:a16="http://schemas.microsoft.com/office/drawing/2014/main" id="{0455CF23-3558-4433-8D1D-257DD5ED3AB5}"/>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24" name="polish-progress-1-5">
            <a:extLst>
              <a:ext uri="{FF2B5EF4-FFF2-40B4-BE49-F238E27FC236}">
                <a16:creationId xmlns:a16="http://schemas.microsoft.com/office/drawing/2014/main" id="{BC93ACE6-83E6-4D14-9D81-23D8F483C154}"/>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25" name="polish-progress-1-6">
            <a:extLst>
              <a:ext uri="{FF2B5EF4-FFF2-40B4-BE49-F238E27FC236}">
                <a16:creationId xmlns:a16="http://schemas.microsoft.com/office/drawing/2014/main" id="{1A6B8DA9-DCC9-43C4-8FFD-F0BCD3B928A2}"/>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26" name="polish-progress-1-7">
            <a:extLst>
              <a:ext uri="{FF2B5EF4-FFF2-40B4-BE49-F238E27FC236}">
                <a16:creationId xmlns:a16="http://schemas.microsoft.com/office/drawing/2014/main" id="{3ECF4CE2-C5A7-4430-A3AB-158126800450}"/>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7" name="polish-progress-1-8">
            <a:extLst>
              <a:ext uri="{FF2B5EF4-FFF2-40B4-BE49-F238E27FC236}">
                <a16:creationId xmlns:a16="http://schemas.microsoft.com/office/drawing/2014/main" id="{818CCFCC-C045-4024-80F9-6B75E97EFADC}"/>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28" name="polish-progress-1-9">
            <a:extLst>
              <a:ext uri="{FF2B5EF4-FFF2-40B4-BE49-F238E27FC236}">
                <a16:creationId xmlns:a16="http://schemas.microsoft.com/office/drawing/2014/main" id="{08E5F08F-8A30-4304-BFBC-EA3C818C5B21}"/>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29" name="polish-progress-1-10">
            <a:extLst>
              <a:ext uri="{FF2B5EF4-FFF2-40B4-BE49-F238E27FC236}">
                <a16:creationId xmlns:a16="http://schemas.microsoft.com/office/drawing/2014/main" id="{A3212F14-A032-4691-A1B0-AE1D5EB1CEEC}"/>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31" name="visual-cover-navy-rail">
            <a:extLst>
              <a:ext uri="{FF2B5EF4-FFF2-40B4-BE49-F238E27FC236}">
                <a16:creationId xmlns:a16="http://schemas.microsoft.com/office/drawing/2014/main" id="{09A367C7-6204-4F11-951A-07A65F60CBB0}"/>
              </a:ext>
            </a:extLst>
          </p:cNvPr>
          <p:cNvSpPr>
            <a:spLocks noGrp="1"/>
          </p:cNvSpPr>
          <p:nvPr/>
        </p:nvSpPr>
        <p:spPr>
          <a:xfrm>
            <a:off x="0" y="0"/>
            <a:ext cx="133350" cy="6858000"/>
          </a:xfrm>
          <a:prstGeom prst="rect">
            <a:avLst/>
          </a:prstGeom>
          <a:solidFill>
            <a:srgbClr val="111827"/>
          </a:solidFill>
          <a:ln w="0">
            <a:noFill/>
            <a:prstDash val="solid"/>
          </a:ln>
        </p:spPr>
      </p:sp>
    </p:spTree>
    <p:extLst>
      <p:ext uri="{BB962C8B-B14F-4D97-AF65-F5344CB8AC3E}">
        <p14:creationId xmlns:p14="http://schemas.microsoft.com/office/powerpoint/2010/main" val="70446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6" name="rule">
            <a:extLst>
              <a:ext uri="{FF2B5EF4-FFF2-40B4-BE49-F238E27FC236}">
                <a16:creationId xmlns:a16="http://schemas.microsoft.com/office/drawing/2014/main" id="{D1D5DB5D-9BB2-4828-A120-ED07A23FE897}"/>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2CA724A6-682D-46AD-8433-AB327AC38478}"/>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THE PROBLEM</a:t>
            </a:r>
          </a:p>
        </p:txBody>
      </p:sp>
      <p:sp>
        <p:nvSpPr>
          <p:cNvPr id="3" name="page-number">
            <a:extLst>
              <a:ext uri="{FF2B5EF4-FFF2-40B4-BE49-F238E27FC236}">
                <a16:creationId xmlns:a16="http://schemas.microsoft.com/office/drawing/2014/main" id="{980BCD1A-D818-407F-92FA-A76DFEE50DF4}"/>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02</a:t>
            </a:r>
          </a:p>
        </p:txBody>
      </p:sp>
      <p:sp>
        <p:nvSpPr>
          <p:cNvPr id="4" name="slide-title">
            <a:extLst>
              <a:ext uri="{FF2B5EF4-FFF2-40B4-BE49-F238E27FC236}">
                <a16:creationId xmlns:a16="http://schemas.microsoft.com/office/drawing/2014/main" id="{27E4061A-1248-4794-92E4-0CA0948FDDCF}"/>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Fraud is rare. Accuracy is not enough.</a:t>
            </a:r>
          </a:p>
        </p:txBody>
      </p:sp>
      <p:sp>
        <p:nvSpPr>
          <p:cNvPr id="5" name="slide-subtitle">
            <a:extLst>
              <a:ext uri="{FF2B5EF4-FFF2-40B4-BE49-F238E27FC236}">
                <a16:creationId xmlns:a16="http://schemas.microsoft.com/office/drawing/2014/main" id="{73F8530E-9755-4F74-A051-52E513ECFC1E}"/>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A model can look 99% correct and still miss most fraud.</a:t>
            </a:r>
          </a:p>
        </p:txBody>
      </p:sp>
      <p:sp>
        <p:nvSpPr>
          <p:cNvPr id="6" name="rule">
            <a:extLst>
              <a:ext uri="{FF2B5EF4-FFF2-40B4-BE49-F238E27FC236}">
                <a16:creationId xmlns:a16="http://schemas.microsoft.com/office/drawing/2014/main" id="{698B945D-3E4F-4C57-B911-04A3CDAEE28A}"/>
              </a:ext>
            </a:extLst>
          </p:cNvPr>
          <p:cNvSpPr>
            <a:spLocks noGrp="1"/>
          </p:cNvSpPr>
          <p:nvPr/>
        </p:nvSpPr>
        <p:spPr>
          <a:xfrm>
            <a:off x="533400" y="1885950"/>
            <a:ext cx="11125200" cy="9525"/>
          </a:xfrm>
          <a:prstGeom prst="rect">
            <a:avLst/>
          </a:prstGeom>
          <a:solidFill>
            <a:srgbClr val="D6DDE5"/>
          </a:solidFill>
          <a:ln w="0">
            <a:noFill/>
            <a:prstDash val="solid"/>
          </a:ln>
        </p:spPr>
        <p:txBody>
          <a:bodyPr/>
          <a:lstStyle/>
          <a:p>
            <a:endParaRPr/>
          </a:p>
        </p:txBody>
      </p:sp>
      <p:sp>
        <p:nvSpPr>
          <p:cNvPr id="7" name="metric-value">
            <a:extLst>
              <a:ext uri="{FF2B5EF4-FFF2-40B4-BE49-F238E27FC236}">
                <a16:creationId xmlns:a16="http://schemas.microsoft.com/office/drawing/2014/main" id="{38AFCCF2-B297-4E3B-8EA8-72FEC1985250}"/>
              </a:ext>
            </a:extLst>
          </p:cNvPr>
          <p:cNvSpPr>
            <a:spLocks noGrp="1"/>
          </p:cNvSpPr>
          <p:nvPr/>
        </p:nvSpPr>
        <p:spPr>
          <a:xfrm>
            <a:off x="685800" y="2209800"/>
            <a:ext cx="2571750" cy="571500"/>
          </a:xfrm>
          <a:prstGeom prst="rect">
            <a:avLst/>
          </a:prstGeom>
          <a:noFill/>
          <a:ln w="0">
            <a:noFill/>
            <a:prstDash val="solid"/>
          </a:ln>
        </p:spPr>
        <p:txBody>
          <a:bodyPr wrap="square" lIns="0" tIns="0" rIns="0" bIns="0" anchor="t">
            <a:noAutofit/>
          </a:bodyPr>
          <a:lstStyle/>
          <a:p>
            <a:pPr algn="l">
              <a:buNone/>
              <a:defRPr sz="3150" b="1" i="0">
                <a:solidFill>
                  <a:srgbClr val="3D8DFF"/>
                </a:solidFill>
                <a:latin typeface="Arial"/>
                <a:ea typeface="Arial"/>
                <a:cs typeface="Arial"/>
              </a:defRPr>
            </a:pPr>
            <a:r>
              <a:rPr sz="3150" b="1" i="0">
                <a:solidFill>
                  <a:srgbClr val="3D8DFF"/>
                </a:solidFill>
                <a:latin typeface="Arial"/>
                <a:ea typeface="Arial"/>
                <a:cs typeface="Arial"/>
              </a:rPr>
              <a:t>1.21%</a:t>
            </a:r>
          </a:p>
        </p:txBody>
      </p:sp>
      <p:sp>
        <p:nvSpPr>
          <p:cNvPr id="8" name="metric-label">
            <a:extLst>
              <a:ext uri="{FF2B5EF4-FFF2-40B4-BE49-F238E27FC236}">
                <a16:creationId xmlns:a16="http://schemas.microsoft.com/office/drawing/2014/main" id="{CA3F7D0E-D423-417B-96D7-E19BE6E56034}"/>
              </a:ext>
            </a:extLst>
          </p:cNvPr>
          <p:cNvSpPr>
            <a:spLocks noGrp="1"/>
          </p:cNvSpPr>
          <p:nvPr/>
        </p:nvSpPr>
        <p:spPr>
          <a:xfrm>
            <a:off x="685800" y="2800350"/>
            <a:ext cx="257175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of payments are fraud</a:t>
            </a:r>
          </a:p>
        </p:txBody>
      </p:sp>
      <p:sp>
        <p:nvSpPr>
          <p:cNvPr id="9" name="rule">
            <a:extLst>
              <a:ext uri="{FF2B5EF4-FFF2-40B4-BE49-F238E27FC236}">
                <a16:creationId xmlns:a16="http://schemas.microsoft.com/office/drawing/2014/main" id="{12B5FB90-10C4-42FF-B26D-CD8611327577}"/>
              </a:ext>
            </a:extLst>
          </p:cNvPr>
          <p:cNvSpPr>
            <a:spLocks noGrp="1"/>
          </p:cNvSpPr>
          <p:nvPr/>
        </p:nvSpPr>
        <p:spPr>
          <a:xfrm>
            <a:off x="3714750" y="2209800"/>
            <a:ext cx="9525" cy="990600"/>
          </a:xfrm>
          <a:prstGeom prst="rect">
            <a:avLst/>
          </a:prstGeom>
          <a:solidFill>
            <a:srgbClr val="D6DDE5"/>
          </a:solidFill>
          <a:ln w="0">
            <a:noFill/>
            <a:prstDash val="solid"/>
          </a:ln>
        </p:spPr>
        <p:txBody>
          <a:bodyPr/>
          <a:lstStyle/>
          <a:p>
            <a:endParaRPr/>
          </a:p>
        </p:txBody>
      </p:sp>
      <p:sp>
        <p:nvSpPr>
          <p:cNvPr id="10" name="metric-value">
            <a:extLst>
              <a:ext uri="{FF2B5EF4-FFF2-40B4-BE49-F238E27FC236}">
                <a16:creationId xmlns:a16="http://schemas.microsoft.com/office/drawing/2014/main" id="{1F339EC5-3C00-49B6-9124-4F86AE5DD5D0}"/>
              </a:ext>
            </a:extLst>
          </p:cNvPr>
          <p:cNvSpPr>
            <a:spLocks noGrp="1"/>
          </p:cNvSpPr>
          <p:nvPr/>
        </p:nvSpPr>
        <p:spPr>
          <a:xfrm>
            <a:off x="4095750" y="2209800"/>
            <a:ext cx="2571750" cy="571500"/>
          </a:xfrm>
          <a:prstGeom prst="rect">
            <a:avLst/>
          </a:prstGeom>
          <a:noFill/>
          <a:ln w="0">
            <a:noFill/>
            <a:prstDash val="solid"/>
          </a:ln>
        </p:spPr>
        <p:txBody>
          <a:bodyPr wrap="square" lIns="0" tIns="0" rIns="0" bIns="0" anchor="t">
            <a:noAutofit/>
          </a:bodyPr>
          <a:lstStyle/>
          <a:p>
            <a:pPr algn="l">
              <a:buNone/>
              <a:defRPr sz="3150" b="1" i="0">
                <a:solidFill>
                  <a:srgbClr val="5D58E9"/>
                </a:solidFill>
                <a:latin typeface="Arial"/>
                <a:ea typeface="Arial"/>
                <a:cs typeface="Arial"/>
              </a:defRPr>
            </a:pPr>
            <a:r>
              <a:rPr sz="3150" b="1" i="0">
                <a:solidFill>
                  <a:srgbClr val="5D58E9"/>
                </a:solidFill>
                <a:latin typeface="Arial"/>
                <a:ea typeface="Arial"/>
                <a:cs typeface="Arial"/>
              </a:rPr>
              <a:t>1 : 81</a:t>
            </a:r>
          </a:p>
        </p:txBody>
      </p:sp>
      <p:sp>
        <p:nvSpPr>
          <p:cNvPr id="11" name="metric-label">
            <a:extLst>
              <a:ext uri="{FF2B5EF4-FFF2-40B4-BE49-F238E27FC236}">
                <a16:creationId xmlns:a16="http://schemas.microsoft.com/office/drawing/2014/main" id="{8F217430-46A0-4ECB-9668-7E97D23C55AB}"/>
              </a:ext>
            </a:extLst>
          </p:cNvPr>
          <p:cNvSpPr>
            <a:spLocks noGrp="1"/>
          </p:cNvSpPr>
          <p:nvPr/>
        </p:nvSpPr>
        <p:spPr>
          <a:xfrm>
            <a:off x="4095750" y="2800350"/>
            <a:ext cx="257175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one fraud for 81 genuine</a:t>
            </a:r>
          </a:p>
        </p:txBody>
      </p:sp>
      <p:sp>
        <p:nvSpPr>
          <p:cNvPr id="12" name="rule">
            <a:extLst>
              <a:ext uri="{FF2B5EF4-FFF2-40B4-BE49-F238E27FC236}">
                <a16:creationId xmlns:a16="http://schemas.microsoft.com/office/drawing/2014/main" id="{2F235D18-5200-4368-A17C-FC1A0A5B472A}"/>
              </a:ext>
            </a:extLst>
          </p:cNvPr>
          <p:cNvSpPr>
            <a:spLocks noGrp="1"/>
          </p:cNvSpPr>
          <p:nvPr/>
        </p:nvSpPr>
        <p:spPr>
          <a:xfrm>
            <a:off x="7124700" y="2209800"/>
            <a:ext cx="9525" cy="990600"/>
          </a:xfrm>
          <a:prstGeom prst="rect">
            <a:avLst/>
          </a:prstGeom>
          <a:solidFill>
            <a:srgbClr val="D6DDE5"/>
          </a:solidFill>
          <a:ln w="0">
            <a:noFill/>
            <a:prstDash val="solid"/>
          </a:ln>
        </p:spPr>
        <p:txBody>
          <a:bodyPr/>
          <a:lstStyle/>
          <a:p>
            <a:endParaRPr/>
          </a:p>
        </p:txBody>
      </p:sp>
      <p:sp>
        <p:nvSpPr>
          <p:cNvPr id="13" name="metric-value">
            <a:extLst>
              <a:ext uri="{FF2B5EF4-FFF2-40B4-BE49-F238E27FC236}">
                <a16:creationId xmlns:a16="http://schemas.microsoft.com/office/drawing/2014/main" id="{8CB22C89-C4B6-4E3D-B68A-83E32BD791C9}"/>
              </a:ext>
            </a:extLst>
          </p:cNvPr>
          <p:cNvSpPr>
            <a:spLocks noGrp="1"/>
          </p:cNvSpPr>
          <p:nvPr/>
        </p:nvSpPr>
        <p:spPr>
          <a:xfrm>
            <a:off x="7505700" y="2209800"/>
            <a:ext cx="2857500" cy="571500"/>
          </a:xfrm>
          <a:prstGeom prst="rect">
            <a:avLst/>
          </a:prstGeom>
          <a:noFill/>
          <a:ln w="0">
            <a:noFill/>
            <a:prstDash val="solid"/>
          </a:ln>
        </p:spPr>
        <p:txBody>
          <a:bodyPr wrap="square" lIns="0" tIns="0" rIns="0" bIns="0" anchor="t">
            <a:noAutofit/>
          </a:bodyPr>
          <a:lstStyle/>
          <a:p>
            <a:pPr algn="l">
              <a:buNone/>
              <a:defRPr sz="3150" b="1" i="0">
                <a:solidFill>
                  <a:srgbClr val="E7864F"/>
                </a:solidFill>
                <a:latin typeface="Arial"/>
                <a:ea typeface="Arial"/>
                <a:cs typeface="Arial"/>
              </a:defRPr>
            </a:pPr>
            <a:r>
              <a:rPr sz="3150" b="1" i="0">
                <a:solidFill>
                  <a:srgbClr val="E7864F"/>
                </a:solidFill>
                <a:latin typeface="Arial"/>
                <a:ea typeface="Arial"/>
                <a:cs typeface="Arial"/>
              </a:rPr>
              <a:t>3,576</a:t>
            </a:r>
          </a:p>
        </p:txBody>
      </p:sp>
      <p:sp>
        <p:nvSpPr>
          <p:cNvPr id="14" name="metric-label">
            <a:extLst>
              <a:ext uri="{FF2B5EF4-FFF2-40B4-BE49-F238E27FC236}">
                <a16:creationId xmlns:a16="http://schemas.microsoft.com/office/drawing/2014/main" id="{5E0F96BF-8D65-41D0-8C10-8754C79F2878}"/>
              </a:ext>
            </a:extLst>
          </p:cNvPr>
          <p:cNvSpPr>
            <a:spLocks noGrp="1"/>
          </p:cNvSpPr>
          <p:nvPr/>
        </p:nvSpPr>
        <p:spPr>
          <a:xfrm>
            <a:off x="7505700" y="280035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fraud cases in 294,854 payments</a:t>
            </a:r>
          </a:p>
        </p:txBody>
      </p:sp>
      <p:sp>
        <p:nvSpPr>
          <p:cNvPr id="15" name="rule">
            <a:extLst>
              <a:ext uri="{FF2B5EF4-FFF2-40B4-BE49-F238E27FC236}">
                <a16:creationId xmlns:a16="http://schemas.microsoft.com/office/drawing/2014/main" id="{B2B40A31-2416-4AF3-B5A3-B9F3A699FC41}"/>
              </a:ext>
            </a:extLst>
          </p:cNvPr>
          <p:cNvSpPr>
            <a:spLocks noGrp="1"/>
          </p:cNvSpPr>
          <p:nvPr/>
        </p:nvSpPr>
        <p:spPr>
          <a:xfrm>
            <a:off x="533400" y="3638550"/>
            <a:ext cx="11125200" cy="9525"/>
          </a:xfrm>
          <a:prstGeom prst="rect">
            <a:avLst/>
          </a:prstGeom>
          <a:solidFill>
            <a:srgbClr val="D6DDE5"/>
          </a:solidFill>
          <a:ln w="0">
            <a:noFill/>
            <a:prstDash val="solid"/>
          </a:ln>
        </p:spPr>
        <p:txBody>
          <a:bodyPr/>
          <a:lstStyle/>
          <a:p>
            <a:endParaRPr/>
          </a:p>
        </p:txBody>
      </p:sp>
      <p:sp>
        <p:nvSpPr>
          <p:cNvPr id="16" name="gap-title">
            <a:extLst>
              <a:ext uri="{FF2B5EF4-FFF2-40B4-BE49-F238E27FC236}">
                <a16:creationId xmlns:a16="http://schemas.microsoft.com/office/drawing/2014/main" id="{62AAE5C4-0411-46BD-A0E4-9594F8CB1580}"/>
              </a:ext>
            </a:extLst>
          </p:cNvPr>
          <p:cNvSpPr>
            <a:spLocks noGrp="1"/>
          </p:cNvSpPr>
          <p:nvPr/>
        </p:nvSpPr>
        <p:spPr>
          <a:xfrm>
            <a:off x="685800" y="3981450"/>
            <a:ext cx="2857500" cy="304800"/>
          </a:xfrm>
          <a:prstGeom prst="rect">
            <a:avLst/>
          </a:prstGeom>
          <a:noFill/>
          <a:ln w="0">
            <a:noFill/>
            <a:prstDash val="solid"/>
          </a:ln>
        </p:spPr>
        <p:txBody>
          <a:bodyPr wrap="square" lIns="0" tIns="0" rIns="0" bIns="0" anchor="t">
            <a:noAutofit/>
          </a:bodyPr>
          <a:lstStyle/>
          <a:p>
            <a:pPr algn="l">
              <a:buNone/>
              <a:defRPr sz="1650" b="1" i="0">
                <a:solidFill>
                  <a:srgbClr val="111827"/>
                </a:solidFill>
                <a:latin typeface="Arial"/>
                <a:ea typeface="Arial"/>
                <a:cs typeface="Arial"/>
              </a:defRPr>
            </a:pPr>
            <a:r>
              <a:rPr sz="1650" b="1" i="0">
                <a:solidFill>
                  <a:srgbClr val="111827"/>
                </a:solidFill>
                <a:latin typeface="Arial"/>
                <a:ea typeface="Arial"/>
                <a:cs typeface="Arial"/>
              </a:rPr>
              <a:t>Why this project</a:t>
            </a:r>
          </a:p>
        </p:txBody>
      </p:sp>
      <p:sp>
        <p:nvSpPr>
          <p:cNvPr id="17" name="Oval 16">
            <a:extLst>
              <a:ext uri="{FF2B5EF4-FFF2-40B4-BE49-F238E27FC236}">
                <a16:creationId xmlns:a16="http://schemas.microsoft.com/office/drawing/2014/main" id="{9A02597F-2033-4A62-998B-B6E3C007E169}"/>
              </a:ext>
            </a:extLst>
          </p:cNvPr>
          <p:cNvSpPr>
            <a:spLocks noGrp="1"/>
          </p:cNvSpPr>
          <p:nvPr/>
        </p:nvSpPr>
        <p:spPr>
          <a:xfrm>
            <a:off x="685800" y="4486275"/>
            <a:ext cx="66675" cy="66675"/>
          </a:xfrm>
          <a:prstGeom prst="ellipse">
            <a:avLst/>
          </a:prstGeom>
          <a:solidFill>
            <a:srgbClr val="3D8DFF"/>
          </a:solidFill>
          <a:ln w="0">
            <a:noFill/>
            <a:prstDash val="solid"/>
          </a:ln>
        </p:spPr>
        <p:txBody>
          <a:bodyPr/>
          <a:lstStyle/>
          <a:p>
            <a:endParaRPr/>
          </a:p>
        </p:txBody>
      </p:sp>
      <p:sp>
        <p:nvSpPr>
          <p:cNvPr id="18" name="Rectangle 17">
            <a:extLst>
              <a:ext uri="{FF2B5EF4-FFF2-40B4-BE49-F238E27FC236}">
                <a16:creationId xmlns:a16="http://schemas.microsoft.com/office/drawing/2014/main" id="{753525D0-89AB-49C8-9CBE-7E0AF5510AD5}"/>
              </a:ext>
            </a:extLst>
          </p:cNvPr>
          <p:cNvSpPr>
            <a:spLocks noGrp="1"/>
          </p:cNvSpPr>
          <p:nvPr/>
        </p:nvSpPr>
        <p:spPr>
          <a:xfrm>
            <a:off x="876300" y="4419600"/>
            <a:ext cx="4762500" cy="4953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Many public datasets hide what each field means.</a:t>
            </a:r>
          </a:p>
        </p:txBody>
      </p:sp>
      <p:sp>
        <p:nvSpPr>
          <p:cNvPr id="19" name="Oval 18">
            <a:extLst>
              <a:ext uri="{FF2B5EF4-FFF2-40B4-BE49-F238E27FC236}">
                <a16:creationId xmlns:a16="http://schemas.microsoft.com/office/drawing/2014/main" id="{B0AF6CD7-4961-4779-959A-6C3DE99E2B54}"/>
              </a:ext>
            </a:extLst>
          </p:cNvPr>
          <p:cNvSpPr>
            <a:spLocks noGrp="1"/>
          </p:cNvSpPr>
          <p:nvPr/>
        </p:nvSpPr>
        <p:spPr>
          <a:xfrm>
            <a:off x="685800" y="5038725"/>
            <a:ext cx="66675" cy="66675"/>
          </a:xfrm>
          <a:prstGeom prst="ellipse">
            <a:avLst/>
          </a:prstGeom>
          <a:solidFill>
            <a:srgbClr val="5D58E9"/>
          </a:solidFill>
          <a:ln w="0">
            <a:noFill/>
            <a:prstDash val="solid"/>
          </a:ln>
        </p:spPr>
        <p:txBody>
          <a:bodyPr/>
          <a:lstStyle/>
          <a:p>
            <a:endParaRPr/>
          </a:p>
        </p:txBody>
      </p:sp>
      <p:sp>
        <p:nvSpPr>
          <p:cNvPr id="20" name="Rectangle 19">
            <a:extLst>
              <a:ext uri="{FF2B5EF4-FFF2-40B4-BE49-F238E27FC236}">
                <a16:creationId xmlns:a16="http://schemas.microsoft.com/office/drawing/2014/main" id="{EF0DB047-19FA-4586-9AA1-67A0E61C76DA}"/>
              </a:ext>
            </a:extLst>
          </p:cNvPr>
          <p:cNvSpPr>
            <a:spLocks noGrp="1"/>
          </p:cNvSpPr>
          <p:nvPr/>
        </p:nvSpPr>
        <p:spPr>
          <a:xfrm>
            <a:off x="876300" y="4972050"/>
            <a:ext cx="4762500" cy="4381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A high accuracy score can still miss fraud.</a:t>
            </a:r>
          </a:p>
        </p:txBody>
      </p:sp>
      <p:sp>
        <p:nvSpPr>
          <p:cNvPr id="21" name="Oval 20">
            <a:extLst>
              <a:ext uri="{FF2B5EF4-FFF2-40B4-BE49-F238E27FC236}">
                <a16:creationId xmlns:a16="http://schemas.microsoft.com/office/drawing/2014/main" id="{DCE385DA-E347-430C-9100-54BB047D2B6E}"/>
              </a:ext>
            </a:extLst>
          </p:cNvPr>
          <p:cNvSpPr>
            <a:spLocks noGrp="1"/>
          </p:cNvSpPr>
          <p:nvPr/>
        </p:nvSpPr>
        <p:spPr>
          <a:xfrm>
            <a:off x="685800" y="5591175"/>
            <a:ext cx="66675" cy="66675"/>
          </a:xfrm>
          <a:prstGeom prst="ellipse">
            <a:avLst/>
          </a:prstGeom>
          <a:solidFill>
            <a:srgbClr val="E7864F"/>
          </a:solidFill>
          <a:ln w="0">
            <a:noFill/>
            <a:prstDash val="solid"/>
          </a:ln>
        </p:spPr>
        <p:txBody>
          <a:bodyPr/>
          <a:lstStyle/>
          <a:p>
            <a:endParaRPr/>
          </a:p>
        </p:txBody>
      </p:sp>
      <p:sp>
        <p:nvSpPr>
          <p:cNvPr id="22" name="Rectangle 21">
            <a:extLst>
              <a:ext uri="{FF2B5EF4-FFF2-40B4-BE49-F238E27FC236}">
                <a16:creationId xmlns:a16="http://schemas.microsoft.com/office/drawing/2014/main" id="{A4E836F6-B474-4976-A9C4-67DDA4759FAC}"/>
              </a:ext>
            </a:extLst>
          </p:cNvPr>
          <p:cNvSpPr>
            <a:spLocks noGrp="1"/>
          </p:cNvSpPr>
          <p:nvPr/>
        </p:nvSpPr>
        <p:spPr>
          <a:xfrm>
            <a:off x="876300" y="5524500"/>
            <a:ext cx="4762500" cy="4381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US results may not work the same in Mauritius.</a:t>
            </a:r>
          </a:p>
        </p:txBody>
      </p:sp>
      <p:sp>
        <p:nvSpPr>
          <p:cNvPr id="23" name="research-aim-panel">
            <a:extLst>
              <a:ext uri="{FF2B5EF4-FFF2-40B4-BE49-F238E27FC236}">
                <a16:creationId xmlns:a16="http://schemas.microsoft.com/office/drawing/2014/main" id="{8EED17EF-F9E4-4607-B38A-1F46CC2E70E1}"/>
              </a:ext>
            </a:extLst>
          </p:cNvPr>
          <p:cNvSpPr>
            <a:spLocks noGrp="1"/>
          </p:cNvSpPr>
          <p:nvPr/>
        </p:nvSpPr>
        <p:spPr>
          <a:xfrm>
            <a:off x="6667500" y="4019550"/>
            <a:ext cx="4991100" cy="1847850"/>
          </a:xfrm>
          <a:prstGeom prst="roundRect">
            <a:avLst>
              <a:gd name="adj" fmla="val 6186"/>
            </a:avLst>
          </a:prstGeom>
          <a:solidFill>
            <a:srgbClr val="EAF5FB"/>
          </a:solidFill>
          <a:ln w="9525">
            <a:solidFill>
              <a:srgbClr val="D6DDE5"/>
            </a:solidFill>
            <a:prstDash val="solid"/>
          </a:ln>
        </p:spPr>
        <p:txBody>
          <a:bodyPr/>
          <a:lstStyle/>
          <a:p>
            <a:endParaRPr/>
          </a:p>
        </p:txBody>
      </p:sp>
      <p:sp>
        <p:nvSpPr>
          <p:cNvPr id="24" name="aim-label">
            <a:extLst>
              <a:ext uri="{FF2B5EF4-FFF2-40B4-BE49-F238E27FC236}">
                <a16:creationId xmlns:a16="http://schemas.microsoft.com/office/drawing/2014/main" id="{BCA925CA-704D-4DC7-9E0F-6DCA78608C1D}"/>
              </a:ext>
            </a:extLst>
          </p:cNvPr>
          <p:cNvSpPr>
            <a:spLocks noGrp="1"/>
          </p:cNvSpPr>
          <p:nvPr/>
        </p:nvSpPr>
        <p:spPr>
          <a:xfrm>
            <a:off x="6972300" y="4267200"/>
            <a:ext cx="1047750" cy="285750"/>
          </a:xfrm>
          <a:prstGeom prst="rect">
            <a:avLst/>
          </a:prstGeom>
          <a:noFill/>
          <a:ln w="0">
            <a:noFill/>
            <a:prstDash val="solid"/>
          </a:ln>
        </p:spPr>
        <p:txBody>
          <a:bodyPr wrap="square" lIns="0" tIns="0" rIns="0" bIns="0" anchor="t">
            <a:noAutofit/>
          </a:bodyPr>
          <a:lstStyle/>
          <a:p>
            <a:pPr algn="l">
              <a:buNone/>
              <a:defRPr sz="1500" b="1" i="0">
                <a:solidFill>
                  <a:srgbClr val="3D8DFF"/>
                </a:solidFill>
                <a:latin typeface="Arial"/>
                <a:ea typeface="Arial"/>
                <a:cs typeface="Arial"/>
              </a:defRPr>
            </a:pPr>
            <a:r>
              <a:rPr sz="1500" b="1" i="0">
                <a:solidFill>
                  <a:srgbClr val="3D8DFF"/>
                </a:solidFill>
                <a:latin typeface="Arial"/>
                <a:ea typeface="Arial"/>
                <a:cs typeface="Arial"/>
              </a:rPr>
              <a:t>Aim</a:t>
            </a:r>
          </a:p>
        </p:txBody>
      </p:sp>
      <p:sp>
        <p:nvSpPr>
          <p:cNvPr id="25" name="aim-text">
            <a:extLst>
              <a:ext uri="{FF2B5EF4-FFF2-40B4-BE49-F238E27FC236}">
                <a16:creationId xmlns:a16="http://schemas.microsoft.com/office/drawing/2014/main" id="{6ACA601B-47C0-4CE8-9953-1653D74E467C}"/>
              </a:ext>
            </a:extLst>
          </p:cNvPr>
          <p:cNvSpPr>
            <a:spLocks noGrp="1"/>
          </p:cNvSpPr>
          <p:nvPr/>
        </p:nvSpPr>
        <p:spPr>
          <a:xfrm>
            <a:off x="6972300" y="4648200"/>
            <a:ext cx="4191000" cy="857250"/>
          </a:xfrm>
          <a:prstGeom prst="rect">
            <a:avLst/>
          </a:prstGeom>
          <a:noFill/>
          <a:ln w="0">
            <a:noFill/>
            <a:prstDash val="solid"/>
          </a:ln>
        </p:spPr>
        <p:txBody>
          <a:bodyPr wrap="square" lIns="0" tIns="0" rIns="0" bIns="0" anchor="t">
            <a:noAutofit/>
          </a:bodyPr>
          <a:lstStyle/>
          <a:p>
            <a:pPr algn="l">
              <a:buNone/>
              <a:defRPr sz="1650" b="0" i="0">
                <a:solidFill>
                  <a:srgbClr val="111827"/>
                </a:solidFill>
                <a:latin typeface="Arial"/>
                <a:ea typeface="Arial"/>
                <a:cs typeface="Arial"/>
              </a:defRPr>
            </a:pPr>
            <a:r>
              <a:rPr sz="1650" b="0" i="0">
                <a:solidFill>
                  <a:srgbClr val="111827"/>
                </a:solidFill>
                <a:latin typeface="Arial"/>
                <a:ea typeface="Arial"/>
                <a:cs typeface="Arial"/>
              </a:rPr>
              <a:t>Build a detector that is accurate, easy to review, and testable in Mauritius.</a:t>
            </a:r>
          </a:p>
        </p:txBody>
      </p:sp>
      <p:sp>
        <p:nvSpPr>
          <p:cNvPr id="27" name="polish-title-rail-2">
            <a:extLst>
              <a:ext uri="{FF2B5EF4-FFF2-40B4-BE49-F238E27FC236}">
                <a16:creationId xmlns:a16="http://schemas.microsoft.com/office/drawing/2014/main" id="{76E4AD1C-6F44-491E-8B8C-317767BF2E52}"/>
              </a:ext>
            </a:extLst>
          </p:cNvPr>
          <p:cNvSpPr>
            <a:spLocks noGrp="1"/>
          </p:cNvSpPr>
          <p:nvPr/>
        </p:nvSpPr>
        <p:spPr>
          <a:xfrm>
            <a:off x="323850" y="762000"/>
            <a:ext cx="57150" cy="552450"/>
          </a:xfrm>
          <a:prstGeom prst="roundRect">
            <a:avLst>
              <a:gd name="adj" fmla="val 50000"/>
            </a:avLst>
          </a:prstGeom>
          <a:solidFill>
            <a:srgbClr val="3D8DFF"/>
          </a:solidFill>
          <a:ln w="0">
            <a:noFill/>
            <a:prstDash val="solid"/>
          </a:ln>
        </p:spPr>
      </p:sp>
      <p:sp>
        <p:nvSpPr>
          <p:cNvPr id="28" name="polish-title-underline-2">
            <a:extLst>
              <a:ext uri="{FF2B5EF4-FFF2-40B4-BE49-F238E27FC236}">
                <a16:creationId xmlns:a16="http://schemas.microsoft.com/office/drawing/2014/main" id="{F551DFBA-CB41-4028-BDC3-959FC0D598EB}"/>
              </a:ext>
            </a:extLst>
          </p:cNvPr>
          <p:cNvSpPr>
            <a:spLocks noGrp="1"/>
          </p:cNvSpPr>
          <p:nvPr/>
        </p:nvSpPr>
        <p:spPr>
          <a:xfrm>
            <a:off x="533400" y="647700"/>
            <a:ext cx="876300" cy="28575"/>
          </a:xfrm>
          <a:prstGeom prst="roundRect">
            <a:avLst>
              <a:gd name="adj" fmla="val 50000"/>
            </a:avLst>
          </a:prstGeom>
          <a:solidFill>
            <a:srgbClr val="3D8DFF"/>
          </a:solidFill>
          <a:ln w="0">
            <a:noFill/>
            <a:prstDash val="solid"/>
          </a:ln>
        </p:spPr>
      </p:sp>
      <p:sp>
        <p:nvSpPr>
          <p:cNvPr id="29" name="polish-progress-2-1">
            <a:extLst>
              <a:ext uri="{FF2B5EF4-FFF2-40B4-BE49-F238E27FC236}">
                <a16:creationId xmlns:a16="http://schemas.microsoft.com/office/drawing/2014/main" id="{E7C67C3A-BAD5-4D42-B998-6D4CE6D032C1}"/>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0" name="polish-progress-2-2">
            <a:extLst>
              <a:ext uri="{FF2B5EF4-FFF2-40B4-BE49-F238E27FC236}">
                <a16:creationId xmlns:a16="http://schemas.microsoft.com/office/drawing/2014/main" id="{16090E85-64D3-4C87-BD84-249BB0EB45DC}"/>
              </a:ext>
            </a:extLst>
          </p:cNvPr>
          <p:cNvSpPr>
            <a:spLocks noGrp="1"/>
          </p:cNvSpPr>
          <p:nvPr/>
        </p:nvSpPr>
        <p:spPr>
          <a:xfrm>
            <a:off x="5286375" y="6572250"/>
            <a:ext cx="152400" cy="28575"/>
          </a:xfrm>
          <a:prstGeom prst="roundRect">
            <a:avLst>
              <a:gd name="adj" fmla="val 50000"/>
            </a:avLst>
          </a:prstGeom>
          <a:solidFill>
            <a:srgbClr val="3D8DFF"/>
          </a:solidFill>
          <a:ln w="0">
            <a:noFill/>
            <a:prstDash val="solid"/>
          </a:ln>
        </p:spPr>
      </p:sp>
      <p:sp>
        <p:nvSpPr>
          <p:cNvPr id="31" name="polish-progress-2-3">
            <a:extLst>
              <a:ext uri="{FF2B5EF4-FFF2-40B4-BE49-F238E27FC236}">
                <a16:creationId xmlns:a16="http://schemas.microsoft.com/office/drawing/2014/main" id="{5A2358B8-E782-4992-AB29-E9CAAA1D6212}"/>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2" name="polish-progress-2-4">
            <a:extLst>
              <a:ext uri="{FF2B5EF4-FFF2-40B4-BE49-F238E27FC236}">
                <a16:creationId xmlns:a16="http://schemas.microsoft.com/office/drawing/2014/main" id="{5B9BD3E9-626D-4A99-B82B-5E30C5572BA9}"/>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3" name="polish-progress-2-5">
            <a:extLst>
              <a:ext uri="{FF2B5EF4-FFF2-40B4-BE49-F238E27FC236}">
                <a16:creationId xmlns:a16="http://schemas.microsoft.com/office/drawing/2014/main" id="{09C127B2-8409-4592-A721-4E5D58E755C5}"/>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4" name="polish-progress-2-6">
            <a:extLst>
              <a:ext uri="{FF2B5EF4-FFF2-40B4-BE49-F238E27FC236}">
                <a16:creationId xmlns:a16="http://schemas.microsoft.com/office/drawing/2014/main" id="{523D5BA5-7A16-4CA0-A214-FB03EBE309AC}"/>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35" name="polish-progress-2-7">
            <a:extLst>
              <a:ext uri="{FF2B5EF4-FFF2-40B4-BE49-F238E27FC236}">
                <a16:creationId xmlns:a16="http://schemas.microsoft.com/office/drawing/2014/main" id="{93011B70-DEAF-4F76-A28F-FF687DFB0F17}"/>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36" name="polish-progress-2-8">
            <a:extLst>
              <a:ext uri="{FF2B5EF4-FFF2-40B4-BE49-F238E27FC236}">
                <a16:creationId xmlns:a16="http://schemas.microsoft.com/office/drawing/2014/main" id="{DC4AC424-BD4C-4B8E-B277-A647C68FF3C8}"/>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37" name="polish-progress-2-9">
            <a:extLst>
              <a:ext uri="{FF2B5EF4-FFF2-40B4-BE49-F238E27FC236}">
                <a16:creationId xmlns:a16="http://schemas.microsoft.com/office/drawing/2014/main" id="{93F132D3-64A7-4AA2-9BC0-44C4C52D7D5F}"/>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38" name="polish-progress-2-10">
            <a:extLst>
              <a:ext uri="{FF2B5EF4-FFF2-40B4-BE49-F238E27FC236}">
                <a16:creationId xmlns:a16="http://schemas.microsoft.com/office/drawing/2014/main" id="{02B8C651-6127-4358-B103-B7A3D57E0CEE}"/>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Tree>
    <p:extLst>
      <p:ext uri="{BB962C8B-B14F-4D97-AF65-F5344CB8AC3E}">
        <p14:creationId xmlns:p14="http://schemas.microsoft.com/office/powerpoint/2010/main" val="208754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7" name="rule">
            <a:extLst>
              <a:ext uri="{FF2B5EF4-FFF2-40B4-BE49-F238E27FC236}">
                <a16:creationId xmlns:a16="http://schemas.microsoft.com/office/drawing/2014/main" id="{DE9DCBFD-4DB8-419A-9E29-8C2D60695C20}"/>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D1F57C50-936A-4CD6-BA3F-3611F2DA2CFC}"/>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THE DATA</a:t>
            </a:r>
          </a:p>
        </p:txBody>
      </p:sp>
      <p:sp>
        <p:nvSpPr>
          <p:cNvPr id="3" name="page-number">
            <a:extLst>
              <a:ext uri="{FF2B5EF4-FFF2-40B4-BE49-F238E27FC236}">
                <a16:creationId xmlns:a16="http://schemas.microsoft.com/office/drawing/2014/main" id="{CC0E3E64-C2D4-47A4-9054-0807252AD638}"/>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03</a:t>
            </a:r>
          </a:p>
        </p:txBody>
      </p:sp>
      <p:sp>
        <p:nvSpPr>
          <p:cNvPr id="4" name="slide-title">
            <a:extLst>
              <a:ext uri="{FF2B5EF4-FFF2-40B4-BE49-F238E27FC236}">
                <a16:creationId xmlns:a16="http://schemas.microsoft.com/office/drawing/2014/main" id="{27B4D74F-E418-4C56-9EEE-BD0C5A2C6051}"/>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I use simple facts about each payment.</a:t>
            </a:r>
          </a:p>
        </p:txBody>
      </p:sp>
      <p:sp>
        <p:nvSpPr>
          <p:cNvPr id="5" name="slide-subtitle">
            <a:extLst>
              <a:ext uri="{FF2B5EF4-FFF2-40B4-BE49-F238E27FC236}">
                <a16:creationId xmlns:a16="http://schemas.microsoft.com/office/drawing/2014/main" id="{942E7427-AD55-4E4A-A024-848D474B1B3C}"/>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Only online shop types. No in-store card payments.</a:t>
            </a:r>
          </a:p>
        </p:txBody>
      </p:sp>
      <p:sp>
        <p:nvSpPr>
          <p:cNvPr id="6" name="data-label">
            <a:extLst>
              <a:ext uri="{FF2B5EF4-FFF2-40B4-BE49-F238E27FC236}">
                <a16:creationId xmlns:a16="http://schemas.microsoft.com/office/drawing/2014/main" id="{79F07EEE-049B-42E3-B5BC-540143EF0741}"/>
              </a:ext>
            </a:extLst>
          </p:cNvPr>
          <p:cNvSpPr>
            <a:spLocks noGrp="1"/>
          </p:cNvSpPr>
          <p:nvPr/>
        </p:nvSpPr>
        <p:spPr>
          <a:xfrm>
            <a:off x="533400" y="1981200"/>
            <a:ext cx="2857500" cy="228600"/>
          </a:xfrm>
          <a:prstGeom prst="rect">
            <a:avLst/>
          </a:prstGeom>
          <a:noFill/>
          <a:ln w="0">
            <a:noFill/>
            <a:prstDash val="solid"/>
          </a:ln>
        </p:spPr>
        <p:txBody>
          <a:bodyPr wrap="square" lIns="0" tIns="0" rIns="0" bIns="0" anchor="t">
            <a:noAutofit/>
          </a:bodyPr>
          <a:lstStyle/>
          <a:p>
            <a:pPr algn="l">
              <a:buNone/>
              <a:defRPr sz="975" b="1" i="0">
                <a:solidFill>
                  <a:srgbClr val="8190A0"/>
                </a:solidFill>
                <a:latin typeface="Arial"/>
                <a:ea typeface="Arial"/>
                <a:cs typeface="Arial"/>
              </a:defRPr>
            </a:pPr>
            <a:r>
              <a:rPr sz="975" b="1" i="0">
                <a:solidFill>
                  <a:srgbClr val="8190A0"/>
                </a:solidFill>
                <a:latin typeface="Arial"/>
                <a:ea typeface="Arial"/>
                <a:cs typeface="Arial"/>
              </a:rPr>
              <a:t>AFTER FILTERING</a:t>
            </a:r>
          </a:p>
        </p:txBody>
      </p:sp>
      <p:sp>
        <p:nvSpPr>
          <p:cNvPr id="7" name="data-total">
            <a:extLst>
              <a:ext uri="{FF2B5EF4-FFF2-40B4-BE49-F238E27FC236}">
                <a16:creationId xmlns:a16="http://schemas.microsoft.com/office/drawing/2014/main" id="{E0E781E7-E581-43B7-96EB-66F84C1AFE1A}"/>
              </a:ext>
            </a:extLst>
          </p:cNvPr>
          <p:cNvSpPr>
            <a:spLocks noGrp="1"/>
          </p:cNvSpPr>
          <p:nvPr/>
        </p:nvSpPr>
        <p:spPr>
          <a:xfrm>
            <a:off x="533400" y="2343150"/>
            <a:ext cx="3238500" cy="666750"/>
          </a:xfrm>
          <a:prstGeom prst="rect">
            <a:avLst/>
          </a:prstGeom>
          <a:noFill/>
          <a:ln w="0">
            <a:noFill/>
            <a:prstDash val="solid"/>
          </a:ln>
        </p:spPr>
        <p:txBody>
          <a:bodyPr wrap="square" lIns="0" tIns="0" rIns="0" bIns="0" anchor="t">
            <a:noAutofit/>
          </a:bodyPr>
          <a:lstStyle/>
          <a:p>
            <a:pPr algn="l">
              <a:buNone/>
              <a:defRPr sz="3900" b="1" i="0">
                <a:solidFill>
                  <a:srgbClr val="111827"/>
                </a:solidFill>
                <a:latin typeface="Arial"/>
                <a:ea typeface="Arial"/>
                <a:cs typeface="Arial"/>
              </a:defRPr>
            </a:pPr>
            <a:r>
              <a:rPr sz="3900" b="1" i="0">
                <a:solidFill>
                  <a:srgbClr val="111827"/>
                </a:solidFill>
                <a:latin typeface="Arial"/>
                <a:ea typeface="Arial"/>
                <a:cs typeface="Arial"/>
              </a:rPr>
              <a:t>294,854</a:t>
            </a:r>
          </a:p>
        </p:txBody>
      </p:sp>
      <p:sp>
        <p:nvSpPr>
          <p:cNvPr id="8" name="data-summary">
            <a:extLst>
              <a:ext uri="{FF2B5EF4-FFF2-40B4-BE49-F238E27FC236}">
                <a16:creationId xmlns:a16="http://schemas.microsoft.com/office/drawing/2014/main" id="{D51E6B16-0BFE-4F5E-A0C0-8BDF2047D152}"/>
              </a:ext>
            </a:extLst>
          </p:cNvPr>
          <p:cNvSpPr>
            <a:spLocks noGrp="1"/>
          </p:cNvSpPr>
          <p:nvPr/>
        </p:nvSpPr>
        <p:spPr>
          <a:xfrm>
            <a:off x="533400" y="3105150"/>
            <a:ext cx="3238500" cy="952500"/>
          </a:xfrm>
          <a:prstGeom prst="rect">
            <a:avLst/>
          </a:prstGeom>
          <a:noFill/>
          <a:ln w="0">
            <a:noFill/>
            <a:prstDash val="solid"/>
          </a:ln>
        </p:spPr>
        <p:txBody>
          <a:bodyPr wrap="square" lIns="0" tIns="0" rIns="0" bIns="0" anchor="t">
            <a:noAutofit/>
          </a:bodyPr>
          <a:lstStyle/>
          <a:p>
            <a:pPr algn="l">
              <a:buNone/>
              <a:defRPr sz="1800" b="0" i="0">
                <a:solidFill>
                  <a:srgbClr val="536172"/>
                </a:solidFill>
                <a:latin typeface="Arial"/>
                <a:ea typeface="Arial"/>
                <a:cs typeface="Arial"/>
              </a:defRPr>
            </a:pPr>
            <a:r>
              <a:rPr sz="1800" b="0" i="0">
                <a:solidFill>
                  <a:srgbClr val="536172"/>
                </a:solidFill>
                <a:latin typeface="Arial"/>
                <a:ea typeface="Arial"/>
                <a:cs typeface="Arial"/>
              </a:rPr>
              <a:t>payments</a:t>
            </a:r>
          </a:p>
          <a:p>
            <a:pPr algn="l">
              <a:buNone/>
              <a:defRPr sz="1800" b="0" i="0">
                <a:solidFill>
                  <a:srgbClr val="536172"/>
                </a:solidFill>
                <a:latin typeface="Arial"/>
                <a:ea typeface="Arial"/>
                <a:cs typeface="Arial"/>
              </a:defRPr>
            </a:pPr>
            <a:r>
              <a:rPr sz="1800" b="0" i="0">
                <a:solidFill>
                  <a:srgbClr val="536172"/>
                </a:solidFill>
                <a:latin typeface="Arial"/>
                <a:ea typeface="Arial"/>
                <a:cs typeface="Arial"/>
              </a:rPr>
              <a:t>3,576 fraud cases</a:t>
            </a:r>
          </a:p>
          <a:p>
            <a:pPr algn="l">
              <a:buNone/>
              <a:defRPr sz="1800" b="0" i="0">
                <a:solidFill>
                  <a:srgbClr val="536172"/>
                </a:solidFill>
                <a:latin typeface="Arial"/>
                <a:ea typeface="Arial"/>
                <a:cs typeface="Arial"/>
              </a:defRPr>
            </a:pPr>
            <a:r>
              <a:rPr sz="1800" b="0" i="0">
                <a:solidFill>
                  <a:srgbClr val="536172"/>
                </a:solidFill>
                <a:latin typeface="Arial"/>
                <a:ea typeface="Arial"/>
                <a:cs typeface="Arial"/>
              </a:rPr>
              <a:t>about 1 fraud in 81</a:t>
            </a:r>
          </a:p>
        </p:txBody>
      </p:sp>
      <p:sp>
        <p:nvSpPr>
          <p:cNvPr id="9" name="rule">
            <a:extLst>
              <a:ext uri="{FF2B5EF4-FFF2-40B4-BE49-F238E27FC236}">
                <a16:creationId xmlns:a16="http://schemas.microsoft.com/office/drawing/2014/main" id="{F1AFA0FD-907A-4DF5-B95A-7DD15531382F}"/>
              </a:ext>
            </a:extLst>
          </p:cNvPr>
          <p:cNvSpPr>
            <a:spLocks noGrp="1"/>
          </p:cNvSpPr>
          <p:nvPr/>
        </p:nvSpPr>
        <p:spPr>
          <a:xfrm>
            <a:off x="533400" y="4324350"/>
            <a:ext cx="4953000" cy="9525"/>
          </a:xfrm>
          <a:prstGeom prst="rect">
            <a:avLst/>
          </a:prstGeom>
          <a:solidFill>
            <a:srgbClr val="D6DDE5"/>
          </a:solidFill>
          <a:ln w="0">
            <a:noFill/>
            <a:prstDash val="solid"/>
          </a:ln>
        </p:spPr>
        <p:txBody>
          <a:bodyPr/>
          <a:lstStyle/>
          <a:p>
            <a:endParaRPr/>
          </a:p>
        </p:txBody>
      </p:sp>
      <p:sp>
        <p:nvSpPr>
          <p:cNvPr id="10" name="filter-label">
            <a:extLst>
              <a:ext uri="{FF2B5EF4-FFF2-40B4-BE49-F238E27FC236}">
                <a16:creationId xmlns:a16="http://schemas.microsoft.com/office/drawing/2014/main" id="{7956C7D7-67F5-41DC-ABE2-710030655391}"/>
              </a:ext>
            </a:extLst>
          </p:cNvPr>
          <p:cNvSpPr>
            <a:spLocks noGrp="1"/>
          </p:cNvSpPr>
          <p:nvPr/>
        </p:nvSpPr>
        <p:spPr>
          <a:xfrm>
            <a:off x="533400" y="4533900"/>
            <a:ext cx="1524000" cy="247650"/>
          </a:xfrm>
          <a:prstGeom prst="rect">
            <a:avLst/>
          </a:prstGeom>
          <a:noFill/>
          <a:ln w="0">
            <a:noFill/>
            <a:prstDash val="solid"/>
          </a:ln>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Online only</a:t>
            </a:r>
          </a:p>
        </p:txBody>
      </p:sp>
      <p:sp>
        <p:nvSpPr>
          <p:cNvPr id="11" name="filter-values">
            <a:extLst>
              <a:ext uri="{FF2B5EF4-FFF2-40B4-BE49-F238E27FC236}">
                <a16:creationId xmlns:a16="http://schemas.microsoft.com/office/drawing/2014/main" id="{CAAD8ECA-14CE-409B-BAD3-D6DCD00EE31E}"/>
              </a:ext>
            </a:extLst>
          </p:cNvPr>
          <p:cNvSpPr>
            <a:spLocks noGrp="1"/>
          </p:cNvSpPr>
          <p:nvPr/>
        </p:nvSpPr>
        <p:spPr>
          <a:xfrm>
            <a:off x="533400" y="4857750"/>
            <a:ext cx="4953000" cy="285750"/>
          </a:xfrm>
          <a:prstGeom prst="rect">
            <a:avLst/>
          </a:prstGeom>
          <a:noFill/>
          <a:ln w="0">
            <a:noFill/>
            <a:prstDash val="solid"/>
          </a:ln>
        </p:spPr>
        <p:txBody>
          <a:bodyPr wrap="square" lIns="0" tIns="0" rIns="0" bIns="0" anchor="t">
            <a:noAutofit/>
          </a:bodyPr>
          <a:lstStyle/>
          <a:p>
            <a:pPr algn="l">
              <a:buNone/>
              <a:defRPr sz="1425" b="0" i="0">
                <a:solidFill>
                  <a:srgbClr val="111827"/>
                </a:solidFill>
                <a:latin typeface="Arial"/>
                <a:ea typeface="Arial"/>
                <a:cs typeface="Arial"/>
              </a:defRPr>
            </a:pPr>
            <a:r>
              <a:rPr sz="1425" b="0" i="0">
                <a:solidFill>
                  <a:srgbClr val="111827"/>
                </a:solidFill>
                <a:latin typeface="Arial"/>
                <a:ea typeface="Arial"/>
                <a:cs typeface="Arial"/>
              </a:rPr>
              <a:t>grocery_net | misc_net | shopping_net</a:t>
            </a:r>
          </a:p>
        </p:txBody>
      </p:sp>
      <p:sp>
        <p:nvSpPr>
          <p:cNvPr id="12" name="split-label">
            <a:extLst>
              <a:ext uri="{FF2B5EF4-FFF2-40B4-BE49-F238E27FC236}">
                <a16:creationId xmlns:a16="http://schemas.microsoft.com/office/drawing/2014/main" id="{0DE5FC9C-673D-4CED-B486-5F9FC98F1478}"/>
              </a:ext>
            </a:extLst>
          </p:cNvPr>
          <p:cNvSpPr>
            <a:spLocks noGrp="1"/>
          </p:cNvSpPr>
          <p:nvPr/>
        </p:nvSpPr>
        <p:spPr>
          <a:xfrm>
            <a:off x="533400" y="5295900"/>
            <a:ext cx="1809750" cy="247650"/>
          </a:xfrm>
          <a:prstGeom prst="rect">
            <a:avLst/>
          </a:prstGeom>
          <a:noFill/>
          <a:ln w="0">
            <a:noFill/>
            <a:prstDash val="solid"/>
          </a:ln>
        </p:spPr>
        <p:txBody>
          <a:bodyPr wrap="square" lIns="0" tIns="0" rIns="0" bIns="0" anchor="t">
            <a:noAutofit/>
          </a:bodyPr>
          <a:lstStyle/>
          <a:p>
            <a:pPr algn="l">
              <a:buNone/>
              <a:defRPr sz="1350" b="1" i="0">
                <a:solidFill>
                  <a:srgbClr val="5D58E9"/>
                </a:solidFill>
                <a:latin typeface="Arial"/>
                <a:ea typeface="Arial"/>
                <a:cs typeface="Arial"/>
              </a:defRPr>
            </a:pPr>
            <a:r>
              <a:rPr sz="1350" b="1" i="0">
                <a:solidFill>
                  <a:srgbClr val="5D58E9"/>
                </a:solidFill>
                <a:latin typeface="Arial"/>
                <a:ea typeface="Arial"/>
                <a:cs typeface="Arial"/>
              </a:rPr>
              <a:t>Time split</a:t>
            </a:r>
          </a:p>
        </p:txBody>
      </p:sp>
      <p:sp>
        <p:nvSpPr>
          <p:cNvPr id="13" name="split-values">
            <a:extLst>
              <a:ext uri="{FF2B5EF4-FFF2-40B4-BE49-F238E27FC236}">
                <a16:creationId xmlns:a16="http://schemas.microsoft.com/office/drawing/2014/main" id="{21BF9A22-027E-46CB-85D7-1BD3AB74FC28}"/>
              </a:ext>
            </a:extLst>
          </p:cNvPr>
          <p:cNvSpPr>
            <a:spLocks noGrp="1"/>
          </p:cNvSpPr>
          <p:nvPr/>
        </p:nvSpPr>
        <p:spPr>
          <a:xfrm>
            <a:off x="533400" y="5619750"/>
            <a:ext cx="4953000" cy="285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60% train  |  20% tune  |  20% test</a:t>
            </a:r>
          </a:p>
        </p:txBody>
      </p:sp>
      <p:sp>
        <p:nvSpPr>
          <p:cNvPr id="14" name="feature-engineering-pipeline-backing">
            <a:extLst>
              <a:ext uri="{FF2B5EF4-FFF2-40B4-BE49-F238E27FC236}">
                <a16:creationId xmlns:a16="http://schemas.microsoft.com/office/drawing/2014/main" id="{D9DCF294-B808-483B-8D6F-C128470D5C70}"/>
              </a:ext>
            </a:extLst>
          </p:cNvPr>
          <p:cNvSpPr>
            <a:spLocks noGrp="1"/>
          </p:cNvSpPr>
          <p:nvPr/>
        </p:nvSpPr>
        <p:spPr>
          <a:xfrm>
            <a:off x="6134100" y="1866900"/>
            <a:ext cx="5067300" cy="4210050"/>
          </a:xfrm>
          <a:prstGeom prst="roundRect">
            <a:avLst>
              <a:gd name="adj" fmla="val 2715"/>
            </a:avLst>
          </a:prstGeom>
          <a:solidFill>
            <a:srgbClr val="EAF5FB"/>
          </a:solidFill>
          <a:ln w="9525">
            <a:solidFill>
              <a:srgbClr val="D6DDE5"/>
            </a:solidFill>
            <a:prstDash val="solid"/>
          </a:ln>
        </p:spPr>
        <p:txBody>
          <a:bodyPr/>
          <a:lstStyle/>
          <a:p>
            <a:endParaRPr/>
          </a:p>
        </p:txBody>
      </p:sp>
      <p:pic>
        <p:nvPicPr>
          <p:cNvPr id="49" name="Picture 32"/>
          <p:cNvPicPr>
            <a:picLocks noChangeAspect="1"/>
          </p:cNvPicPr>
          <p:nvPr/>
        </p:nvPicPr>
        <p:blipFill>
          <a:blip r:embed="rId3"/>
          <a:stretch/>
        </p:blipFill>
        <p:spPr>
          <a:xfrm>
            <a:off x="6730145" y="1924050"/>
            <a:ext cx="3875210" cy="4095750"/>
          </a:xfrm>
          <a:prstGeom prst="roundRect">
            <a:avLst>
              <a:gd name="adj" fmla="val 1860"/>
            </a:avLst>
          </a:prstGeom>
        </p:spPr>
      </p:pic>
      <p:sp>
        <p:nvSpPr>
          <p:cNvPr id="16" name="feature-list">
            <a:extLst>
              <a:ext uri="{FF2B5EF4-FFF2-40B4-BE49-F238E27FC236}">
                <a16:creationId xmlns:a16="http://schemas.microsoft.com/office/drawing/2014/main" id="{B245ED10-AF91-406D-A996-A234FB7C23F0}"/>
              </a:ext>
            </a:extLst>
          </p:cNvPr>
          <p:cNvSpPr>
            <a:spLocks noGrp="1"/>
          </p:cNvSpPr>
          <p:nvPr/>
        </p:nvSpPr>
        <p:spPr>
          <a:xfrm>
            <a:off x="6191250" y="6172200"/>
            <a:ext cx="4953000" cy="285750"/>
          </a:xfrm>
          <a:prstGeom prst="rect">
            <a:avLst/>
          </a:prstGeom>
          <a:noFill/>
          <a:ln w="0">
            <a:noFill/>
            <a:prstDash val="solid"/>
          </a:ln>
        </p:spPr>
        <p:txBody>
          <a:bodyPr wrap="square" lIns="0" tIns="0" rIns="0" bIns="0" anchor="t">
            <a:noAutofit/>
          </a:bodyPr>
          <a:lstStyle/>
          <a:p>
            <a:pPr algn="l">
              <a:buNone/>
              <a:defRPr sz="1125" b="0" i="0">
                <a:solidFill>
                  <a:srgbClr val="536172"/>
                </a:solidFill>
                <a:latin typeface="Arial"/>
                <a:ea typeface="Arial"/>
                <a:cs typeface="Arial"/>
              </a:defRPr>
            </a:pPr>
            <a:r>
              <a:rPr sz="1125" b="0" i="0">
                <a:solidFill>
                  <a:srgbClr val="536172"/>
                </a:solidFill>
                <a:latin typeface="Arial"/>
                <a:ea typeface="Arial"/>
                <a:cs typeface="Arial"/>
              </a:rPr>
              <a:t>Seven facts: amount, hour, age, distance, how unusual the amount is, shop type, gender</a:t>
            </a:r>
          </a:p>
        </p:txBody>
      </p:sp>
      <p:sp>
        <p:nvSpPr>
          <p:cNvPr id="19" name="polish-title-rail-3">
            <a:extLst>
              <a:ext uri="{FF2B5EF4-FFF2-40B4-BE49-F238E27FC236}">
                <a16:creationId xmlns:a16="http://schemas.microsoft.com/office/drawing/2014/main" id="{388445B1-8D2E-45BF-B3CB-20E462B63A69}"/>
              </a:ext>
            </a:extLst>
          </p:cNvPr>
          <p:cNvSpPr>
            <a:spLocks noGrp="1"/>
          </p:cNvSpPr>
          <p:nvPr/>
        </p:nvSpPr>
        <p:spPr>
          <a:xfrm>
            <a:off x="323850" y="762000"/>
            <a:ext cx="57150" cy="552450"/>
          </a:xfrm>
          <a:prstGeom prst="roundRect">
            <a:avLst>
              <a:gd name="adj" fmla="val 50000"/>
            </a:avLst>
          </a:prstGeom>
          <a:solidFill>
            <a:srgbClr val="279A73"/>
          </a:solidFill>
          <a:ln w="0">
            <a:noFill/>
            <a:prstDash val="solid"/>
          </a:ln>
        </p:spPr>
        <p:txBody>
          <a:bodyPr/>
          <a:lstStyle/>
          <a:p>
            <a:endParaRPr/>
          </a:p>
        </p:txBody>
      </p:sp>
      <p:sp>
        <p:nvSpPr>
          <p:cNvPr id="20" name="polish-title-underline-3">
            <a:extLst>
              <a:ext uri="{FF2B5EF4-FFF2-40B4-BE49-F238E27FC236}">
                <a16:creationId xmlns:a16="http://schemas.microsoft.com/office/drawing/2014/main" id="{03FF561E-E2F4-4037-9FA1-059B724170DB}"/>
              </a:ext>
            </a:extLst>
          </p:cNvPr>
          <p:cNvSpPr>
            <a:spLocks noGrp="1"/>
          </p:cNvSpPr>
          <p:nvPr/>
        </p:nvSpPr>
        <p:spPr>
          <a:xfrm>
            <a:off x="533400" y="647700"/>
            <a:ext cx="876300" cy="28575"/>
          </a:xfrm>
          <a:prstGeom prst="roundRect">
            <a:avLst>
              <a:gd name="adj" fmla="val 50000"/>
            </a:avLst>
          </a:prstGeom>
          <a:solidFill>
            <a:srgbClr val="279A73"/>
          </a:solidFill>
          <a:ln w="0">
            <a:noFill/>
            <a:prstDash val="solid"/>
          </a:ln>
        </p:spPr>
        <p:txBody>
          <a:bodyPr/>
          <a:lstStyle/>
          <a:p>
            <a:endParaRPr/>
          </a:p>
        </p:txBody>
      </p:sp>
      <p:sp>
        <p:nvSpPr>
          <p:cNvPr id="21" name="polish-progress-3-1">
            <a:extLst>
              <a:ext uri="{FF2B5EF4-FFF2-40B4-BE49-F238E27FC236}">
                <a16:creationId xmlns:a16="http://schemas.microsoft.com/office/drawing/2014/main" id="{55C43D78-2D17-4179-B60D-C61051313087}"/>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txBody>
          <a:bodyPr/>
          <a:lstStyle/>
          <a:p>
            <a:endParaRPr/>
          </a:p>
        </p:txBody>
      </p:sp>
      <p:sp>
        <p:nvSpPr>
          <p:cNvPr id="22" name="polish-progress-3-2">
            <a:extLst>
              <a:ext uri="{FF2B5EF4-FFF2-40B4-BE49-F238E27FC236}">
                <a16:creationId xmlns:a16="http://schemas.microsoft.com/office/drawing/2014/main" id="{BEBB211E-2C0B-4AD0-885F-5E8BDE44A389}"/>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txBody>
          <a:bodyPr/>
          <a:lstStyle/>
          <a:p>
            <a:endParaRPr/>
          </a:p>
        </p:txBody>
      </p:sp>
      <p:sp>
        <p:nvSpPr>
          <p:cNvPr id="23" name="polish-progress-3-3">
            <a:extLst>
              <a:ext uri="{FF2B5EF4-FFF2-40B4-BE49-F238E27FC236}">
                <a16:creationId xmlns:a16="http://schemas.microsoft.com/office/drawing/2014/main" id="{509491C9-FC06-42B1-9A90-AB1A4D736CCC}"/>
              </a:ext>
            </a:extLst>
          </p:cNvPr>
          <p:cNvSpPr>
            <a:spLocks noGrp="1"/>
          </p:cNvSpPr>
          <p:nvPr/>
        </p:nvSpPr>
        <p:spPr>
          <a:xfrm>
            <a:off x="5495925" y="6572250"/>
            <a:ext cx="152400" cy="28575"/>
          </a:xfrm>
          <a:prstGeom prst="roundRect">
            <a:avLst>
              <a:gd name="adj" fmla="val 50000"/>
            </a:avLst>
          </a:prstGeom>
          <a:solidFill>
            <a:srgbClr val="279A73"/>
          </a:solidFill>
          <a:ln w="0">
            <a:noFill/>
            <a:prstDash val="solid"/>
          </a:ln>
        </p:spPr>
        <p:txBody>
          <a:bodyPr/>
          <a:lstStyle/>
          <a:p>
            <a:endParaRPr/>
          </a:p>
        </p:txBody>
      </p:sp>
      <p:sp>
        <p:nvSpPr>
          <p:cNvPr id="24" name="polish-progress-3-4">
            <a:extLst>
              <a:ext uri="{FF2B5EF4-FFF2-40B4-BE49-F238E27FC236}">
                <a16:creationId xmlns:a16="http://schemas.microsoft.com/office/drawing/2014/main" id="{31733802-22E1-40B1-BC7E-F7E478509FEE}"/>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txBody>
          <a:bodyPr/>
          <a:lstStyle/>
          <a:p>
            <a:endParaRPr/>
          </a:p>
        </p:txBody>
      </p:sp>
      <p:sp>
        <p:nvSpPr>
          <p:cNvPr id="25" name="polish-progress-3-5">
            <a:extLst>
              <a:ext uri="{FF2B5EF4-FFF2-40B4-BE49-F238E27FC236}">
                <a16:creationId xmlns:a16="http://schemas.microsoft.com/office/drawing/2014/main" id="{18B63E79-5B85-4E5B-B4E3-5549F91BF82F}"/>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txBody>
          <a:bodyPr/>
          <a:lstStyle/>
          <a:p>
            <a:endParaRPr/>
          </a:p>
        </p:txBody>
      </p:sp>
      <p:sp>
        <p:nvSpPr>
          <p:cNvPr id="26" name="polish-progress-3-6">
            <a:extLst>
              <a:ext uri="{FF2B5EF4-FFF2-40B4-BE49-F238E27FC236}">
                <a16:creationId xmlns:a16="http://schemas.microsoft.com/office/drawing/2014/main" id="{F9DD45B4-AF4F-4E66-B378-FDA55E5C638F}"/>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txBody>
          <a:bodyPr/>
          <a:lstStyle/>
          <a:p>
            <a:endParaRPr/>
          </a:p>
        </p:txBody>
      </p:sp>
      <p:sp>
        <p:nvSpPr>
          <p:cNvPr id="27" name="polish-progress-3-7">
            <a:extLst>
              <a:ext uri="{FF2B5EF4-FFF2-40B4-BE49-F238E27FC236}">
                <a16:creationId xmlns:a16="http://schemas.microsoft.com/office/drawing/2014/main" id="{6F8BFA82-F823-4CA2-9C6E-AB7E390A4B1C}"/>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txBody>
          <a:bodyPr/>
          <a:lstStyle/>
          <a:p>
            <a:endParaRPr/>
          </a:p>
        </p:txBody>
      </p:sp>
      <p:sp>
        <p:nvSpPr>
          <p:cNvPr id="28" name="polish-progress-3-8">
            <a:extLst>
              <a:ext uri="{FF2B5EF4-FFF2-40B4-BE49-F238E27FC236}">
                <a16:creationId xmlns:a16="http://schemas.microsoft.com/office/drawing/2014/main" id="{13C2A871-DD84-4F37-9A86-D2D71C04A209}"/>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txBody>
          <a:bodyPr/>
          <a:lstStyle/>
          <a:p>
            <a:endParaRPr/>
          </a:p>
        </p:txBody>
      </p:sp>
      <p:sp>
        <p:nvSpPr>
          <p:cNvPr id="29" name="polish-progress-3-9">
            <a:extLst>
              <a:ext uri="{FF2B5EF4-FFF2-40B4-BE49-F238E27FC236}">
                <a16:creationId xmlns:a16="http://schemas.microsoft.com/office/drawing/2014/main" id="{7D3A38E7-1DCA-4784-AE0C-36A17C8E3098}"/>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txBody>
          <a:bodyPr/>
          <a:lstStyle/>
          <a:p>
            <a:endParaRPr/>
          </a:p>
        </p:txBody>
      </p:sp>
      <p:sp>
        <p:nvSpPr>
          <p:cNvPr id="30" name="polish-progress-3-10">
            <a:extLst>
              <a:ext uri="{FF2B5EF4-FFF2-40B4-BE49-F238E27FC236}">
                <a16:creationId xmlns:a16="http://schemas.microsoft.com/office/drawing/2014/main" id="{4CD05564-092B-415C-BE08-461B76237C60}"/>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txBody>
          <a:bodyPr/>
          <a:lstStyle/>
          <a:p>
            <a:endParaRPr/>
          </a:p>
        </p:txBody>
      </p:sp>
      <p:sp>
        <p:nvSpPr>
          <p:cNvPr id="32" name="visual-feature-input-rule">
            <a:extLst>
              <a:ext uri="{FF2B5EF4-FFF2-40B4-BE49-F238E27FC236}">
                <a16:creationId xmlns:a16="http://schemas.microsoft.com/office/drawing/2014/main" id="{2FE46A8A-B8AF-4E65-A011-E4FD23D60C13}"/>
              </a:ext>
            </a:extLst>
          </p:cNvPr>
          <p:cNvSpPr>
            <a:spLocks noGrp="1"/>
          </p:cNvSpPr>
          <p:nvPr/>
        </p:nvSpPr>
        <p:spPr>
          <a:xfrm>
            <a:off x="6191250" y="1676400"/>
            <a:ext cx="323850" cy="28575"/>
          </a:xfrm>
          <a:prstGeom prst="roundRect">
            <a:avLst>
              <a:gd name="adj" fmla="val 50000"/>
            </a:avLst>
          </a:prstGeom>
          <a:solidFill>
            <a:srgbClr val="279A73"/>
          </a:solidFill>
          <a:ln w="0">
            <a:noFill/>
            <a:prstDash val="solid"/>
          </a:ln>
        </p:spPr>
        <p:txBody>
          <a:bodyPr/>
          <a:lstStyle/>
          <a:p>
            <a:endParaRPr/>
          </a:p>
        </p:txBody>
      </p:sp>
      <p:sp>
        <p:nvSpPr>
          <p:cNvPr id="33" name="visual-feature-input-label">
            <a:extLst>
              <a:ext uri="{FF2B5EF4-FFF2-40B4-BE49-F238E27FC236}">
                <a16:creationId xmlns:a16="http://schemas.microsoft.com/office/drawing/2014/main" id="{1E26BFCB-1982-48DF-9917-BC0FB7AA5BC3}"/>
              </a:ext>
            </a:extLst>
          </p:cNvPr>
          <p:cNvSpPr>
            <a:spLocks noGrp="1"/>
          </p:cNvSpPr>
          <p:nvPr/>
        </p:nvSpPr>
        <p:spPr>
          <a:xfrm>
            <a:off x="6610350" y="1581150"/>
            <a:ext cx="2095500" cy="209550"/>
          </a:xfrm>
          <a:prstGeom prst="rect">
            <a:avLst/>
          </a:prstGeom>
          <a:noFill/>
          <a:ln w="0">
            <a:noFill/>
            <a:prstDash val="solid"/>
          </a:ln>
        </p:spPr>
        <p:txBody>
          <a:bodyPr wrap="square" lIns="0" tIns="0" rIns="0" bIns="0" anchor="t">
            <a:noAutofit/>
          </a:bodyPr>
          <a:lstStyle/>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SEVEN INPUTS</a:t>
            </a:r>
          </a:p>
        </p:txBody>
      </p:sp>
    </p:spTree>
    <p:extLst>
      <p:ext uri="{BB962C8B-B14F-4D97-AF65-F5344CB8AC3E}">
        <p14:creationId xmlns:p14="http://schemas.microsoft.com/office/powerpoint/2010/main" val="2060009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32" name="rule">
            <a:extLst>
              <a:ext uri="{FF2B5EF4-FFF2-40B4-BE49-F238E27FC236}">
                <a16:creationId xmlns:a16="http://schemas.microsoft.com/office/drawing/2014/main" id="{4FA07C47-9A9B-425B-945F-D291EBBA1B11}"/>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6C79190B-9401-4A22-AB15-86F700F213C6}"/>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THE MODELS</a:t>
            </a:r>
          </a:p>
        </p:txBody>
      </p:sp>
      <p:sp>
        <p:nvSpPr>
          <p:cNvPr id="3" name="page-number">
            <a:extLst>
              <a:ext uri="{FF2B5EF4-FFF2-40B4-BE49-F238E27FC236}">
                <a16:creationId xmlns:a16="http://schemas.microsoft.com/office/drawing/2014/main" id="{491B8A36-9359-4BA6-A45A-3FC62302CA3B}"/>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04</a:t>
            </a:r>
          </a:p>
        </p:txBody>
      </p:sp>
      <p:sp>
        <p:nvSpPr>
          <p:cNvPr id="4" name="slide-title">
            <a:extLst>
              <a:ext uri="{FF2B5EF4-FFF2-40B4-BE49-F238E27FC236}">
                <a16:creationId xmlns:a16="http://schemas.microsoft.com/office/drawing/2014/main" id="{1F30AD1B-B3E5-4A3F-9576-D5C7E8EE77F9}"/>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Three models. Same input.</a:t>
            </a:r>
          </a:p>
        </p:txBody>
      </p:sp>
      <p:sp>
        <p:nvSpPr>
          <p:cNvPr id="5" name="slide-subtitle">
            <a:extLst>
              <a:ext uri="{FF2B5EF4-FFF2-40B4-BE49-F238E27FC236}">
                <a16:creationId xmlns:a16="http://schemas.microsoft.com/office/drawing/2014/main" id="{552A3DC7-052C-4767-8CAE-58709272EF84}"/>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I change the model. I keep the data and the test the same.</a:t>
            </a:r>
          </a:p>
        </p:txBody>
      </p:sp>
      <p:sp>
        <p:nvSpPr>
          <p:cNvPr id="6" name="input-title">
            <a:extLst>
              <a:ext uri="{FF2B5EF4-FFF2-40B4-BE49-F238E27FC236}">
                <a16:creationId xmlns:a16="http://schemas.microsoft.com/office/drawing/2014/main" id="{7EEBE447-B39E-408F-B9E2-F440CD8D636E}"/>
              </a:ext>
            </a:extLst>
          </p:cNvPr>
          <p:cNvSpPr>
            <a:spLocks noGrp="1"/>
          </p:cNvSpPr>
          <p:nvPr/>
        </p:nvSpPr>
        <p:spPr>
          <a:xfrm>
            <a:off x="533400" y="2095500"/>
            <a:ext cx="2762250" cy="304800"/>
          </a:xfrm>
          <a:prstGeom prst="rect">
            <a:avLst/>
          </a:prstGeom>
          <a:noFill/>
          <a:ln w="0">
            <a:noFill/>
            <a:prstDash val="solid"/>
          </a:ln>
        </p:spPr>
        <p:txBody>
          <a:bodyPr wrap="square" lIns="0" tIns="0" rIns="0" bIns="0" anchor="t">
            <a:noAutofit/>
          </a:bodyPr>
          <a:lstStyle/>
          <a:p>
            <a:pPr algn="l">
              <a:buNone/>
              <a:defRPr sz="1650" b="1" i="0">
                <a:solidFill>
                  <a:srgbClr val="111827"/>
                </a:solidFill>
                <a:latin typeface="Arial"/>
                <a:ea typeface="Arial"/>
                <a:cs typeface="Arial"/>
              </a:defRPr>
            </a:pPr>
            <a:r>
              <a:rPr sz="1650" b="1" i="0">
                <a:solidFill>
                  <a:srgbClr val="111827"/>
                </a:solidFill>
                <a:latin typeface="Arial"/>
                <a:ea typeface="Arial"/>
                <a:cs typeface="Arial"/>
              </a:rPr>
              <a:t>Same features</a:t>
            </a:r>
          </a:p>
        </p:txBody>
      </p:sp>
      <p:sp>
        <p:nvSpPr>
          <p:cNvPr id="7" name="input-copy">
            <a:extLst>
              <a:ext uri="{FF2B5EF4-FFF2-40B4-BE49-F238E27FC236}">
                <a16:creationId xmlns:a16="http://schemas.microsoft.com/office/drawing/2014/main" id="{A623D880-2EE1-420A-B6A3-E40D7052D740}"/>
              </a:ext>
            </a:extLst>
          </p:cNvPr>
          <p:cNvSpPr>
            <a:spLocks noGrp="1"/>
          </p:cNvSpPr>
          <p:nvPr/>
        </p:nvSpPr>
        <p:spPr>
          <a:xfrm>
            <a:off x="533400" y="2476500"/>
            <a:ext cx="3714750" cy="552450"/>
          </a:xfrm>
          <a:prstGeom prst="rect">
            <a:avLst/>
          </a:prstGeom>
          <a:noFill/>
          <a:ln w="0">
            <a:noFill/>
            <a:prstDash val="solid"/>
          </a:ln>
        </p:spPr>
        <p:txBody>
          <a:bodyPr wrap="square" lIns="0" tIns="0" rIns="0" bIns="0" anchor="t">
            <a:noAutofit/>
          </a:bodyPr>
          <a:lstStyle/>
          <a:p>
            <a:pPr algn="l">
              <a:buNone/>
              <a:defRPr sz="1500" b="0" i="0">
                <a:solidFill>
                  <a:srgbClr val="536172"/>
                </a:solidFill>
                <a:latin typeface="Arial"/>
                <a:ea typeface="Arial"/>
                <a:cs typeface="Arial"/>
              </a:defRPr>
            </a:pPr>
            <a:r>
              <a:rPr sz="1500" b="0" i="0">
                <a:solidFill>
                  <a:srgbClr val="536172"/>
                </a:solidFill>
                <a:latin typeface="Arial"/>
                <a:ea typeface="Arial"/>
                <a:cs typeface="Arial"/>
              </a:rPr>
              <a:t>All three models see the same numbers for each payment.</a:t>
            </a:r>
          </a:p>
        </p:txBody>
      </p:sp>
      <p:sp>
        <p:nvSpPr>
          <p:cNvPr id="8" name="model-path">
            <a:extLst>
              <a:ext uri="{FF2B5EF4-FFF2-40B4-BE49-F238E27FC236}">
                <a16:creationId xmlns:a16="http://schemas.microsoft.com/office/drawing/2014/main" id="{BE9150DA-A6CE-408B-92D8-C2ACFE0193C9}"/>
              </a:ext>
            </a:extLst>
          </p:cNvPr>
          <p:cNvSpPr>
            <a:spLocks noGrp="1"/>
          </p:cNvSpPr>
          <p:nvPr/>
        </p:nvSpPr>
        <p:spPr>
          <a:xfrm>
            <a:off x="3476625" y="3286125"/>
            <a:ext cx="6429375" cy="0"/>
          </a:xfrm>
          <a:prstGeom prst="line">
            <a:avLst/>
          </a:prstGeom>
          <a:noFill/>
          <a:ln w="19050">
            <a:solidFill>
              <a:srgbClr val="AAB5C1"/>
            </a:solidFill>
            <a:prstDash val="solid"/>
          </a:ln>
        </p:spPr>
        <p:txBody>
          <a:bodyPr/>
          <a:lstStyle/>
          <a:p>
            <a:endParaRPr/>
          </a:p>
        </p:txBody>
      </p:sp>
      <p:sp>
        <p:nvSpPr>
          <p:cNvPr id="9" name="arrow-1">
            <a:extLst>
              <a:ext uri="{FF2B5EF4-FFF2-40B4-BE49-F238E27FC236}">
                <a16:creationId xmlns:a16="http://schemas.microsoft.com/office/drawing/2014/main" id="{F793E44F-3DD4-4259-B83C-8F78721E3E4B}"/>
              </a:ext>
            </a:extLst>
          </p:cNvPr>
          <p:cNvSpPr>
            <a:spLocks noGrp="1"/>
          </p:cNvSpPr>
          <p:nvPr/>
        </p:nvSpPr>
        <p:spPr>
          <a:xfrm>
            <a:off x="4552950" y="3152775"/>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0" name="arrow-2">
            <a:extLst>
              <a:ext uri="{FF2B5EF4-FFF2-40B4-BE49-F238E27FC236}">
                <a16:creationId xmlns:a16="http://schemas.microsoft.com/office/drawing/2014/main" id="{8018A1EC-BDF4-474E-B266-E24445EAB73C}"/>
              </a:ext>
            </a:extLst>
          </p:cNvPr>
          <p:cNvSpPr>
            <a:spLocks noGrp="1"/>
          </p:cNvSpPr>
          <p:nvPr/>
        </p:nvSpPr>
        <p:spPr>
          <a:xfrm>
            <a:off x="6705600" y="3152775"/>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1" name="arrow-3">
            <a:extLst>
              <a:ext uri="{FF2B5EF4-FFF2-40B4-BE49-F238E27FC236}">
                <a16:creationId xmlns:a16="http://schemas.microsoft.com/office/drawing/2014/main" id="{AEFCC373-8F73-4D17-9BDE-FDDD51445D18}"/>
              </a:ext>
            </a:extLst>
          </p:cNvPr>
          <p:cNvSpPr>
            <a:spLocks noGrp="1"/>
          </p:cNvSpPr>
          <p:nvPr/>
        </p:nvSpPr>
        <p:spPr>
          <a:xfrm>
            <a:off x="8858250" y="3152775"/>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2" name="input-node">
            <a:extLst>
              <a:ext uri="{FF2B5EF4-FFF2-40B4-BE49-F238E27FC236}">
                <a16:creationId xmlns:a16="http://schemas.microsoft.com/office/drawing/2014/main" id="{AC981B5C-91C0-4704-9E7D-6ACD0F1386AF}"/>
              </a:ext>
            </a:extLst>
          </p:cNvPr>
          <p:cNvSpPr>
            <a:spLocks noGrp="1"/>
          </p:cNvSpPr>
          <p:nvPr/>
        </p:nvSpPr>
        <p:spPr>
          <a:xfrm>
            <a:off x="3143250" y="3048000"/>
            <a:ext cx="476250" cy="476250"/>
          </a:xfrm>
          <a:prstGeom prst="ellipse">
            <a:avLst/>
          </a:prstGeom>
          <a:solidFill>
            <a:srgbClr val="F2F4F7"/>
          </a:solidFill>
          <a:ln w="9525">
            <a:solidFill>
              <a:srgbClr val="AAB5C1"/>
            </a:solidFill>
            <a:prstDash val="solid"/>
          </a:ln>
        </p:spPr>
        <p:txBody>
          <a:bodyPr/>
          <a:lstStyle/>
          <a:p>
            <a:endParaRPr/>
          </a:p>
        </p:txBody>
      </p:sp>
      <p:sp>
        <p:nvSpPr>
          <p:cNvPr id="13" name="input-node-text">
            <a:extLst>
              <a:ext uri="{FF2B5EF4-FFF2-40B4-BE49-F238E27FC236}">
                <a16:creationId xmlns:a16="http://schemas.microsoft.com/office/drawing/2014/main" id="{280355BB-4643-4D48-9CFD-12D21A98E334}"/>
              </a:ext>
            </a:extLst>
          </p:cNvPr>
          <p:cNvSpPr>
            <a:spLocks noGrp="1"/>
          </p:cNvSpPr>
          <p:nvPr/>
        </p:nvSpPr>
        <p:spPr>
          <a:xfrm>
            <a:off x="3295650" y="3114675"/>
            <a:ext cx="171450" cy="190500"/>
          </a:xfrm>
          <a:prstGeom prst="rect">
            <a:avLst/>
          </a:prstGeom>
          <a:noFill/>
          <a:ln w="0">
            <a:noFill/>
            <a:prstDash val="solid"/>
          </a:ln>
        </p:spPr>
        <p:txBody>
          <a:bodyPr wrap="square" lIns="0" tIns="0" rIns="0" bIns="0" anchor="t">
            <a:noAutofit/>
          </a:bodyPr>
          <a:lstStyle/>
          <a:p>
            <a:pPr algn="ctr">
              <a:buNone/>
              <a:defRPr sz="1800" b="1" i="0">
                <a:solidFill>
                  <a:srgbClr val="111827"/>
                </a:solidFill>
                <a:latin typeface="Arial"/>
                <a:ea typeface="Arial"/>
                <a:cs typeface="Arial"/>
              </a:defRPr>
            </a:pPr>
            <a:r>
              <a:rPr sz="1800" b="1" i="0">
                <a:solidFill>
                  <a:srgbClr val="111827"/>
                </a:solidFill>
                <a:latin typeface="Arial"/>
                <a:ea typeface="Arial"/>
                <a:cs typeface="Arial"/>
              </a:rPr>
              <a:t>x</a:t>
            </a:r>
          </a:p>
        </p:txBody>
      </p:sp>
      <p:sp>
        <p:nvSpPr>
          <p:cNvPr id="14" name="lr-node">
            <a:extLst>
              <a:ext uri="{FF2B5EF4-FFF2-40B4-BE49-F238E27FC236}">
                <a16:creationId xmlns:a16="http://schemas.microsoft.com/office/drawing/2014/main" id="{9D5EC2AE-DB2D-4221-B115-5552902263EC}"/>
              </a:ext>
            </a:extLst>
          </p:cNvPr>
          <p:cNvSpPr>
            <a:spLocks noGrp="1"/>
          </p:cNvSpPr>
          <p:nvPr/>
        </p:nvSpPr>
        <p:spPr>
          <a:xfrm>
            <a:off x="5143500" y="3048000"/>
            <a:ext cx="476250" cy="476250"/>
          </a:xfrm>
          <a:prstGeom prst="ellipse">
            <a:avLst/>
          </a:prstGeom>
          <a:solidFill>
            <a:srgbClr val="EAF5FB"/>
          </a:solidFill>
          <a:ln w="9525">
            <a:solidFill>
              <a:srgbClr val="6DCBF4"/>
            </a:solidFill>
            <a:prstDash val="solid"/>
          </a:ln>
        </p:spPr>
        <p:txBody>
          <a:bodyPr/>
          <a:lstStyle/>
          <a:p>
            <a:endParaRPr/>
          </a:p>
        </p:txBody>
      </p:sp>
      <p:sp>
        <p:nvSpPr>
          <p:cNvPr id="15" name="lr-node-text">
            <a:extLst>
              <a:ext uri="{FF2B5EF4-FFF2-40B4-BE49-F238E27FC236}">
                <a16:creationId xmlns:a16="http://schemas.microsoft.com/office/drawing/2014/main" id="{B3D53B19-A7BC-4062-9558-0D1167652DC9}"/>
              </a:ext>
            </a:extLst>
          </p:cNvPr>
          <p:cNvSpPr>
            <a:spLocks noGrp="1"/>
          </p:cNvSpPr>
          <p:nvPr/>
        </p:nvSpPr>
        <p:spPr>
          <a:xfrm>
            <a:off x="5219700" y="3133725"/>
            <a:ext cx="323850" cy="190500"/>
          </a:xfrm>
          <a:prstGeom prst="rect">
            <a:avLst/>
          </a:prstGeom>
          <a:noFill/>
          <a:ln w="0">
            <a:noFill/>
            <a:prstDash val="solid"/>
          </a:ln>
        </p:spPr>
        <p:txBody>
          <a:bodyPr wrap="square" lIns="0" tIns="0" rIns="0" bIns="0" anchor="t">
            <a:noAutofit/>
          </a:bodyPr>
          <a:lstStyle/>
          <a:p>
            <a:pPr algn="ctr">
              <a:buNone/>
              <a:defRPr sz="1200" b="1" i="0">
                <a:solidFill>
                  <a:srgbClr val="5D58E9"/>
                </a:solidFill>
                <a:latin typeface="Arial"/>
                <a:ea typeface="Arial"/>
                <a:cs typeface="Arial"/>
              </a:defRPr>
            </a:pPr>
            <a:r>
              <a:rPr sz="1200" b="1" i="0">
                <a:solidFill>
                  <a:srgbClr val="5D58E9"/>
                </a:solidFill>
                <a:latin typeface="Arial"/>
                <a:ea typeface="Arial"/>
                <a:cs typeface="Arial"/>
              </a:rPr>
              <a:t>LR</a:t>
            </a:r>
          </a:p>
        </p:txBody>
      </p:sp>
      <p:sp>
        <p:nvSpPr>
          <p:cNvPr id="16" name="rf-node">
            <a:extLst>
              <a:ext uri="{FF2B5EF4-FFF2-40B4-BE49-F238E27FC236}">
                <a16:creationId xmlns:a16="http://schemas.microsoft.com/office/drawing/2014/main" id="{2EBFEDD1-209F-45B6-834B-6C5D25346B89}"/>
              </a:ext>
            </a:extLst>
          </p:cNvPr>
          <p:cNvSpPr>
            <a:spLocks noGrp="1"/>
          </p:cNvSpPr>
          <p:nvPr/>
        </p:nvSpPr>
        <p:spPr>
          <a:xfrm>
            <a:off x="7286625" y="3048000"/>
            <a:ext cx="476250" cy="476250"/>
          </a:xfrm>
          <a:prstGeom prst="ellipse">
            <a:avLst/>
          </a:prstGeom>
          <a:solidFill>
            <a:srgbClr val="EAF5FB"/>
          </a:solidFill>
          <a:ln w="9525">
            <a:solidFill>
              <a:srgbClr val="6DCBF4"/>
            </a:solidFill>
            <a:prstDash val="solid"/>
          </a:ln>
        </p:spPr>
        <p:txBody>
          <a:bodyPr/>
          <a:lstStyle/>
          <a:p>
            <a:endParaRPr/>
          </a:p>
        </p:txBody>
      </p:sp>
      <p:sp>
        <p:nvSpPr>
          <p:cNvPr id="17" name="rf-node-text">
            <a:extLst>
              <a:ext uri="{FF2B5EF4-FFF2-40B4-BE49-F238E27FC236}">
                <a16:creationId xmlns:a16="http://schemas.microsoft.com/office/drawing/2014/main" id="{983F25B3-EAB2-4EC0-82E7-0FE26657CD03}"/>
              </a:ext>
            </a:extLst>
          </p:cNvPr>
          <p:cNvSpPr>
            <a:spLocks noGrp="1"/>
          </p:cNvSpPr>
          <p:nvPr/>
        </p:nvSpPr>
        <p:spPr>
          <a:xfrm>
            <a:off x="7362825" y="3133725"/>
            <a:ext cx="323850" cy="190500"/>
          </a:xfrm>
          <a:prstGeom prst="rect">
            <a:avLst/>
          </a:prstGeom>
          <a:noFill/>
          <a:ln w="0">
            <a:noFill/>
            <a:prstDash val="solid"/>
          </a:ln>
        </p:spPr>
        <p:txBody>
          <a:bodyPr wrap="square" lIns="0" tIns="0" rIns="0" bIns="0" anchor="t">
            <a:noAutofit/>
          </a:bodyPr>
          <a:lstStyle/>
          <a:p>
            <a:pPr algn="ctr">
              <a:buNone/>
              <a:defRPr sz="1200" b="1" i="0">
                <a:solidFill>
                  <a:srgbClr val="5D58E9"/>
                </a:solidFill>
                <a:latin typeface="Arial"/>
                <a:ea typeface="Arial"/>
                <a:cs typeface="Arial"/>
              </a:defRPr>
            </a:pPr>
            <a:r>
              <a:rPr sz="1200" b="1" i="0">
                <a:solidFill>
                  <a:srgbClr val="5D58E9"/>
                </a:solidFill>
                <a:latin typeface="Arial"/>
                <a:ea typeface="Arial"/>
                <a:cs typeface="Arial"/>
              </a:rPr>
              <a:t>RF</a:t>
            </a:r>
          </a:p>
        </p:txBody>
      </p:sp>
      <p:sp>
        <p:nvSpPr>
          <p:cNvPr id="18" name="xgb-node">
            <a:extLst>
              <a:ext uri="{FF2B5EF4-FFF2-40B4-BE49-F238E27FC236}">
                <a16:creationId xmlns:a16="http://schemas.microsoft.com/office/drawing/2014/main" id="{FB5CD8C2-8262-4675-BAF6-01D73AB922AA}"/>
              </a:ext>
            </a:extLst>
          </p:cNvPr>
          <p:cNvSpPr>
            <a:spLocks noGrp="1"/>
          </p:cNvSpPr>
          <p:nvPr/>
        </p:nvSpPr>
        <p:spPr>
          <a:xfrm>
            <a:off x="9429750" y="3048000"/>
            <a:ext cx="476250" cy="476250"/>
          </a:xfrm>
          <a:prstGeom prst="ellipse">
            <a:avLst/>
          </a:prstGeom>
          <a:solidFill>
            <a:srgbClr val="3D8DFF"/>
          </a:solidFill>
          <a:ln w="9525">
            <a:solidFill>
              <a:srgbClr val="3D8DFF"/>
            </a:solidFill>
            <a:prstDash val="solid"/>
          </a:ln>
        </p:spPr>
        <p:txBody>
          <a:bodyPr/>
          <a:lstStyle/>
          <a:p>
            <a:endParaRPr/>
          </a:p>
        </p:txBody>
      </p:sp>
      <p:sp>
        <p:nvSpPr>
          <p:cNvPr id="19" name="xgb-node-text">
            <a:extLst>
              <a:ext uri="{FF2B5EF4-FFF2-40B4-BE49-F238E27FC236}">
                <a16:creationId xmlns:a16="http://schemas.microsoft.com/office/drawing/2014/main" id="{5B2FCB23-B2F7-4C4C-A055-14EC2826659D}"/>
              </a:ext>
            </a:extLst>
          </p:cNvPr>
          <p:cNvSpPr>
            <a:spLocks noGrp="1"/>
          </p:cNvSpPr>
          <p:nvPr/>
        </p:nvSpPr>
        <p:spPr>
          <a:xfrm>
            <a:off x="9467850" y="3133725"/>
            <a:ext cx="400050" cy="190500"/>
          </a:xfrm>
          <a:prstGeom prst="rect">
            <a:avLst/>
          </a:prstGeom>
          <a:noFill/>
          <a:ln w="0">
            <a:noFill/>
            <a:prstDash val="solid"/>
          </a:ln>
        </p:spPr>
        <p:txBody>
          <a:bodyPr wrap="square" lIns="0" tIns="0" rIns="0" bIns="0" anchor="t">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XGB</a:t>
            </a:r>
          </a:p>
        </p:txBody>
      </p:sp>
      <p:sp>
        <p:nvSpPr>
          <p:cNvPr id="20" name="input-caption">
            <a:extLst>
              <a:ext uri="{FF2B5EF4-FFF2-40B4-BE49-F238E27FC236}">
                <a16:creationId xmlns:a16="http://schemas.microsoft.com/office/drawing/2014/main" id="{990FA2C1-E391-4B7C-92C4-467544637AE3}"/>
              </a:ext>
            </a:extLst>
          </p:cNvPr>
          <p:cNvSpPr>
            <a:spLocks noGrp="1"/>
          </p:cNvSpPr>
          <p:nvPr/>
        </p:nvSpPr>
        <p:spPr>
          <a:xfrm>
            <a:off x="2781300"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same</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features</a:t>
            </a:r>
          </a:p>
        </p:txBody>
      </p:sp>
      <p:sp>
        <p:nvSpPr>
          <p:cNvPr id="21" name="lr-caption">
            <a:extLst>
              <a:ext uri="{FF2B5EF4-FFF2-40B4-BE49-F238E27FC236}">
                <a16:creationId xmlns:a16="http://schemas.microsoft.com/office/drawing/2014/main" id="{270E1D19-9564-4301-B9C2-170FA1E16625}"/>
              </a:ext>
            </a:extLst>
          </p:cNvPr>
          <p:cNvSpPr>
            <a:spLocks noGrp="1"/>
          </p:cNvSpPr>
          <p:nvPr/>
        </p:nvSpPr>
        <p:spPr>
          <a:xfrm>
            <a:off x="4762500"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simple</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baseline</a:t>
            </a:r>
          </a:p>
        </p:txBody>
      </p:sp>
      <p:sp>
        <p:nvSpPr>
          <p:cNvPr id="22" name="rf-caption">
            <a:extLst>
              <a:ext uri="{FF2B5EF4-FFF2-40B4-BE49-F238E27FC236}">
                <a16:creationId xmlns:a16="http://schemas.microsoft.com/office/drawing/2014/main" id="{84EE471F-9240-4F8B-AB04-6B0F91014763}"/>
              </a:ext>
            </a:extLst>
          </p:cNvPr>
          <p:cNvSpPr>
            <a:spLocks noGrp="1"/>
          </p:cNvSpPr>
          <p:nvPr/>
        </p:nvSpPr>
        <p:spPr>
          <a:xfrm>
            <a:off x="6905625"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many</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rules</a:t>
            </a:r>
          </a:p>
        </p:txBody>
      </p:sp>
      <p:sp>
        <p:nvSpPr>
          <p:cNvPr id="23" name="xgb-caption">
            <a:extLst>
              <a:ext uri="{FF2B5EF4-FFF2-40B4-BE49-F238E27FC236}">
                <a16:creationId xmlns:a16="http://schemas.microsoft.com/office/drawing/2014/main" id="{9FAE3BD6-4B5F-4453-8EB0-AD72AE43FE73}"/>
              </a:ext>
            </a:extLst>
          </p:cNvPr>
          <p:cNvSpPr>
            <a:spLocks noGrp="1"/>
          </p:cNvSpPr>
          <p:nvPr/>
        </p:nvSpPr>
        <p:spPr>
          <a:xfrm>
            <a:off x="9048750"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strongest</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model</a:t>
            </a:r>
          </a:p>
        </p:txBody>
      </p:sp>
      <p:sp>
        <p:nvSpPr>
          <p:cNvPr id="24" name="rule">
            <a:extLst>
              <a:ext uri="{FF2B5EF4-FFF2-40B4-BE49-F238E27FC236}">
                <a16:creationId xmlns:a16="http://schemas.microsoft.com/office/drawing/2014/main" id="{D2E3E1AD-9B54-4341-B098-20497ADBE12A}"/>
              </a:ext>
            </a:extLst>
          </p:cNvPr>
          <p:cNvSpPr>
            <a:spLocks noGrp="1"/>
          </p:cNvSpPr>
          <p:nvPr/>
        </p:nvSpPr>
        <p:spPr>
          <a:xfrm>
            <a:off x="533400" y="4667250"/>
            <a:ext cx="11125200" cy="9525"/>
          </a:xfrm>
          <a:prstGeom prst="rect">
            <a:avLst/>
          </a:prstGeom>
          <a:solidFill>
            <a:srgbClr val="D6DDE5"/>
          </a:solidFill>
          <a:ln w="0">
            <a:noFill/>
            <a:prstDash val="solid"/>
          </a:ln>
        </p:spPr>
        <p:txBody>
          <a:bodyPr/>
          <a:lstStyle/>
          <a:p>
            <a:endParaRPr/>
          </a:p>
        </p:txBody>
      </p:sp>
      <p:sp>
        <p:nvSpPr>
          <p:cNvPr id="25" name="Oval 24">
            <a:extLst>
              <a:ext uri="{FF2B5EF4-FFF2-40B4-BE49-F238E27FC236}">
                <a16:creationId xmlns:a16="http://schemas.microsoft.com/office/drawing/2014/main" id="{26B4E575-CE03-47DB-B0B1-E1CA8970235C}"/>
              </a:ext>
            </a:extLst>
          </p:cNvPr>
          <p:cNvSpPr>
            <a:spLocks noGrp="1"/>
          </p:cNvSpPr>
          <p:nvPr/>
        </p:nvSpPr>
        <p:spPr>
          <a:xfrm>
            <a:off x="685800" y="5076825"/>
            <a:ext cx="66675" cy="66675"/>
          </a:xfrm>
          <a:prstGeom prst="ellipse">
            <a:avLst/>
          </a:prstGeom>
          <a:solidFill>
            <a:srgbClr val="E7864F"/>
          </a:solidFill>
          <a:ln w="0">
            <a:noFill/>
            <a:prstDash val="solid"/>
          </a:ln>
        </p:spPr>
        <p:txBody>
          <a:bodyPr/>
          <a:lstStyle/>
          <a:p>
            <a:endParaRPr/>
          </a:p>
        </p:txBody>
      </p:sp>
      <p:sp>
        <p:nvSpPr>
          <p:cNvPr id="26" name="Rectangle 25">
            <a:extLst>
              <a:ext uri="{FF2B5EF4-FFF2-40B4-BE49-F238E27FC236}">
                <a16:creationId xmlns:a16="http://schemas.microsoft.com/office/drawing/2014/main" id="{FB565827-EFFF-4F62-959A-A1D88E1BEB4B}"/>
              </a:ext>
            </a:extLst>
          </p:cNvPr>
          <p:cNvSpPr>
            <a:spLocks noGrp="1"/>
          </p:cNvSpPr>
          <p:nvPr/>
        </p:nvSpPr>
        <p:spPr>
          <a:xfrm>
            <a:off x="876300" y="5010150"/>
            <a:ext cx="2952750" cy="3810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No fake extra fraud rows.</a:t>
            </a:r>
          </a:p>
        </p:txBody>
      </p:sp>
      <p:sp>
        <p:nvSpPr>
          <p:cNvPr id="27" name="Oval 26">
            <a:extLst>
              <a:ext uri="{FF2B5EF4-FFF2-40B4-BE49-F238E27FC236}">
                <a16:creationId xmlns:a16="http://schemas.microsoft.com/office/drawing/2014/main" id="{F3DF27A8-AC29-4425-8F9B-F64B57DFAF86}"/>
              </a:ext>
            </a:extLst>
          </p:cNvPr>
          <p:cNvSpPr>
            <a:spLocks noGrp="1"/>
          </p:cNvSpPr>
          <p:nvPr/>
        </p:nvSpPr>
        <p:spPr>
          <a:xfrm>
            <a:off x="4324350" y="5076825"/>
            <a:ext cx="66675" cy="66675"/>
          </a:xfrm>
          <a:prstGeom prst="ellipse">
            <a:avLst/>
          </a:prstGeom>
          <a:solidFill>
            <a:srgbClr val="3D8DFF"/>
          </a:solidFill>
          <a:ln w="0">
            <a:noFill/>
            <a:prstDash val="solid"/>
          </a:ln>
        </p:spPr>
        <p:txBody>
          <a:bodyPr/>
          <a:lstStyle/>
          <a:p>
            <a:endParaRPr/>
          </a:p>
        </p:txBody>
      </p:sp>
      <p:sp>
        <p:nvSpPr>
          <p:cNvPr id="28" name="Rectangle 27">
            <a:extLst>
              <a:ext uri="{FF2B5EF4-FFF2-40B4-BE49-F238E27FC236}">
                <a16:creationId xmlns:a16="http://schemas.microsoft.com/office/drawing/2014/main" id="{6762E1EA-5D90-4BA6-B3E0-6F254E833923}"/>
              </a:ext>
            </a:extLst>
          </p:cNvPr>
          <p:cNvSpPr>
            <a:spLocks noGrp="1"/>
          </p:cNvSpPr>
          <p:nvPr/>
        </p:nvSpPr>
        <p:spPr>
          <a:xfrm>
            <a:off x="4514850" y="5010150"/>
            <a:ext cx="2952750" cy="3810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Fraud cases get extra weight.</a:t>
            </a:r>
          </a:p>
        </p:txBody>
      </p:sp>
      <p:sp>
        <p:nvSpPr>
          <p:cNvPr id="29" name="Oval 28">
            <a:extLst>
              <a:ext uri="{FF2B5EF4-FFF2-40B4-BE49-F238E27FC236}">
                <a16:creationId xmlns:a16="http://schemas.microsoft.com/office/drawing/2014/main" id="{9A58D1FA-CDEF-4A86-B48D-084045A5F831}"/>
              </a:ext>
            </a:extLst>
          </p:cNvPr>
          <p:cNvSpPr>
            <a:spLocks noGrp="1"/>
          </p:cNvSpPr>
          <p:nvPr/>
        </p:nvSpPr>
        <p:spPr>
          <a:xfrm>
            <a:off x="7962900" y="5076825"/>
            <a:ext cx="66675" cy="66675"/>
          </a:xfrm>
          <a:prstGeom prst="ellipse">
            <a:avLst/>
          </a:prstGeom>
          <a:solidFill>
            <a:srgbClr val="5D58E9"/>
          </a:solidFill>
          <a:ln w="0">
            <a:noFill/>
            <a:prstDash val="solid"/>
          </a:ln>
        </p:spPr>
        <p:txBody>
          <a:bodyPr/>
          <a:lstStyle/>
          <a:p>
            <a:endParaRPr/>
          </a:p>
        </p:txBody>
      </p:sp>
      <p:sp>
        <p:nvSpPr>
          <p:cNvPr id="30" name="Rectangle 29">
            <a:extLst>
              <a:ext uri="{FF2B5EF4-FFF2-40B4-BE49-F238E27FC236}">
                <a16:creationId xmlns:a16="http://schemas.microsoft.com/office/drawing/2014/main" id="{79EDA699-CC11-45A7-AEAA-F0AFB9074CF4}"/>
              </a:ext>
            </a:extLst>
          </p:cNvPr>
          <p:cNvSpPr>
            <a:spLocks noGrp="1"/>
          </p:cNvSpPr>
          <p:nvPr/>
        </p:nvSpPr>
        <p:spPr>
          <a:xfrm>
            <a:off x="8153400" y="5010150"/>
            <a:ext cx="3048000" cy="3810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I compare F1 and PR-AUC, not accuracy.</a:t>
            </a:r>
          </a:p>
        </p:txBody>
      </p:sp>
      <p:sp>
        <p:nvSpPr>
          <p:cNvPr id="31" name="verdict-tiers">
            <a:extLst>
              <a:ext uri="{FF2B5EF4-FFF2-40B4-BE49-F238E27FC236}">
                <a16:creationId xmlns:a16="http://schemas.microsoft.com/office/drawing/2014/main" id="{76C77F91-3CBF-4B97-A82B-DE5670B7C5BC}"/>
              </a:ext>
            </a:extLst>
          </p:cNvPr>
          <p:cNvSpPr>
            <a:spLocks noGrp="1"/>
          </p:cNvSpPr>
          <p:nvPr/>
        </p:nvSpPr>
        <p:spPr>
          <a:xfrm>
            <a:off x="685800" y="5810250"/>
            <a:ext cx="10096500" cy="266700"/>
          </a:xfrm>
          <a:prstGeom prst="rect">
            <a:avLst/>
          </a:prstGeom>
          <a:noFill/>
          <a:ln w="0">
            <a:noFill/>
            <a:prstDash val="solid"/>
          </a:ln>
        </p:spPr>
        <p:txBody>
          <a:bodyPr wrap="square" lIns="0" tIns="0" rIns="0" bIns="0" anchor="t">
            <a:noAutofit/>
          </a:bodyPr>
          <a:lstStyle/>
          <a:p>
            <a:pPr algn="l">
              <a:buNone/>
              <a:defRPr sz="1275" b="0" i="0">
                <a:solidFill>
                  <a:srgbClr val="536172"/>
                </a:solidFill>
                <a:latin typeface="Arial"/>
                <a:ea typeface="Arial"/>
                <a:cs typeface="Arial"/>
              </a:defRPr>
            </a:pPr>
            <a:r>
              <a:rPr sz="1275" b="0" i="0">
                <a:solidFill>
                  <a:srgbClr val="536172"/>
                </a:solidFill>
                <a:latin typeface="Arial"/>
                <a:ea typeface="Arial"/>
                <a:cs typeface="Arial"/>
              </a:rPr>
              <a:t>Each score becomes: APPROVED, REVIEW, or BLOCKED</a:t>
            </a:r>
          </a:p>
        </p:txBody>
      </p:sp>
      <p:sp>
        <p:nvSpPr>
          <p:cNvPr id="33" name="polish-title-rail-4">
            <a:extLst>
              <a:ext uri="{FF2B5EF4-FFF2-40B4-BE49-F238E27FC236}">
                <a16:creationId xmlns:a16="http://schemas.microsoft.com/office/drawing/2014/main" id="{DBDECC68-F8C8-4999-9C17-521417A46894}"/>
              </a:ext>
            </a:extLst>
          </p:cNvPr>
          <p:cNvSpPr>
            <a:spLocks noGrp="1"/>
          </p:cNvSpPr>
          <p:nvPr/>
        </p:nvSpPr>
        <p:spPr>
          <a:xfrm>
            <a:off x="323850" y="762000"/>
            <a:ext cx="57150" cy="552450"/>
          </a:xfrm>
          <a:prstGeom prst="roundRect">
            <a:avLst>
              <a:gd name="adj" fmla="val 50000"/>
            </a:avLst>
          </a:prstGeom>
          <a:solidFill>
            <a:srgbClr val="5D58E9"/>
          </a:solidFill>
          <a:ln w="0">
            <a:noFill/>
            <a:prstDash val="solid"/>
          </a:ln>
        </p:spPr>
        <p:txBody>
          <a:bodyPr/>
          <a:lstStyle/>
          <a:p>
            <a:endParaRPr/>
          </a:p>
        </p:txBody>
      </p:sp>
      <p:sp>
        <p:nvSpPr>
          <p:cNvPr id="34" name="polish-title-underline-4">
            <a:extLst>
              <a:ext uri="{FF2B5EF4-FFF2-40B4-BE49-F238E27FC236}">
                <a16:creationId xmlns:a16="http://schemas.microsoft.com/office/drawing/2014/main" id="{30EC3AB7-A6B1-4F53-B25E-8DF7CF7EF883}"/>
              </a:ext>
            </a:extLst>
          </p:cNvPr>
          <p:cNvSpPr>
            <a:spLocks noGrp="1"/>
          </p:cNvSpPr>
          <p:nvPr/>
        </p:nvSpPr>
        <p:spPr>
          <a:xfrm>
            <a:off x="533400" y="647700"/>
            <a:ext cx="876300" cy="28575"/>
          </a:xfrm>
          <a:prstGeom prst="roundRect">
            <a:avLst>
              <a:gd name="adj" fmla="val 50000"/>
            </a:avLst>
          </a:prstGeom>
          <a:solidFill>
            <a:srgbClr val="5D58E9"/>
          </a:solidFill>
          <a:ln w="0">
            <a:noFill/>
            <a:prstDash val="solid"/>
          </a:ln>
        </p:spPr>
        <p:txBody>
          <a:bodyPr/>
          <a:lstStyle/>
          <a:p>
            <a:endParaRPr/>
          </a:p>
        </p:txBody>
      </p:sp>
      <p:sp>
        <p:nvSpPr>
          <p:cNvPr id="35" name="polish-progress-4-1">
            <a:extLst>
              <a:ext uri="{FF2B5EF4-FFF2-40B4-BE49-F238E27FC236}">
                <a16:creationId xmlns:a16="http://schemas.microsoft.com/office/drawing/2014/main" id="{E5692A0A-287C-4400-B741-35C062891D25}"/>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txBody>
          <a:bodyPr/>
          <a:lstStyle/>
          <a:p>
            <a:endParaRPr/>
          </a:p>
        </p:txBody>
      </p:sp>
      <p:sp>
        <p:nvSpPr>
          <p:cNvPr id="36" name="polish-progress-4-2">
            <a:extLst>
              <a:ext uri="{FF2B5EF4-FFF2-40B4-BE49-F238E27FC236}">
                <a16:creationId xmlns:a16="http://schemas.microsoft.com/office/drawing/2014/main" id="{8A1D7E84-1177-4B8D-A658-ADFFCAC4D70D}"/>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txBody>
          <a:bodyPr/>
          <a:lstStyle/>
          <a:p>
            <a:endParaRPr/>
          </a:p>
        </p:txBody>
      </p:sp>
      <p:sp>
        <p:nvSpPr>
          <p:cNvPr id="37" name="polish-progress-4-3">
            <a:extLst>
              <a:ext uri="{FF2B5EF4-FFF2-40B4-BE49-F238E27FC236}">
                <a16:creationId xmlns:a16="http://schemas.microsoft.com/office/drawing/2014/main" id="{6F366B47-2C44-4ADD-866B-057697B6C073}"/>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txBody>
          <a:bodyPr/>
          <a:lstStyle/>
          <a:p>
            <a:endParaRPr/>
          </a:p>
        </p:txBody>
      </p:sp>
      <p:sp>
        <p:nvSpPr>
          <p:cNvPr id="38" name="polish-progress-4-4">
            <a:extLst>
              <a:ext uri="{FF2B5EF4-FFF2-40B4-BE49-F238E27FC236}">
                <a16:creationId xmlns:a16="http://schemas.microsoft.com/office/drawing/2014/main" id="{E0F9318C-1D56-4B8E-B562-073FD4C09471}"/>
              </a:ext>
            </a:extLst>
          </p:cNvPr>
          <p:cNvSpPr>
            <a:spLocks noGrp="1"/>
          </p:cNvSpPr>
          <p:nvPr/>
        </p:nvSpPr>
        <p:spPr>
          <a:xfrm>
            <a:off x="5705475" y="6572250"/>
            <a:ext cx="152400" cy="28575"/>
          </a:xfrm>
          <a:prstGeom prst="roundRect">
            <a:avLst>
              <a:gd name="adj" fmla="val 50000"/>
            </a:avLst>
          </a:prstGeom>
          <a:solidFill>
            <a:srgbClr val="5D58E9"/>
          </a:solidFill>
          <a:ln w="0">
            <a:noFill/>
            <a:prstDash val="solid"/>
          </a:ln>
        </p:spPr>
        <p:txBody>
          <a:bodyPr/>
          <a:lstStyle/>
          <a:p>
            <a:endParaRPr/>
          </a:p>
        </p:txBody>
      </p:sp>
      <p:sp>
        <p:nvSpPr>
          <p:cNvPr id="39" name="polish-progress-4-5">
            <a:extLst>
              <a:ext uri="{FF2B5EF4-FFF2-40B4-BE49-F238E27FC236}">
                <a16:creationId xmlns:a16="http://schemas.microsoft.com/office/drawing/2014/main" id="{1EB37A4D-A678-4BA5-840C-50AC1FC6C899}"/>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txBody>
          <a:bodyPr/>
          <a:lstStyle/>
          <a:p>
            <a:endParaRPr/>
          </a:p>
        </p:txBody>
      </p:sp>
      <p:sp>
        <p:nvSpPr>
          <p:cNvPr id="40" name="polish-progress-4-6">
            <a:extLst>
              <a:ext uri="{FF2B5EF4-FFF2-40B4-BE49-F238E27FC236}">
                <a16:creationId xmlns:a16="http://schemas.microsoft.com/office/drawing/2014/main" id="{3C9DADA4-9FF2-4F47-8C09-5C7D1061A31B}"/>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txBody>
          <a:bodyPr/>
          <a:lstStyle/>
          <a:p>
            <a:endParaRPr/>
          </a:p>
        </p:txBody>
      </p:sp>
      <p:sp>
        <p:nvSpPr>
          <p:cNvPr id="41" name="polish-progress-4-7">
            <a:extLst>
              <a:ext uri="{FF2B5EF4-FFF2-40B4-BE49-F238E27FC236}">
                <a16:creationId xmlns:a16="http://schemas.microsoft.com/office/drawing/2014/main" id="{096CBDC0-A347-4E3B-98FE-51C0DC31894A}"/>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txBody>
          <a:bodyPr/>
          <a:lstStyle/>
          <a:p>
            <a:endParaRPr/>
          </a:p>
        </p:txBody>
      </p:sp>
      <p:sp>
        <p:nvSpPr>
          <p:cNvPr id="42" name="polish-progress-4-8">
            <a:extLst>
              <a:ext uri="{FF2B5EF4-FFF2-40B4-BE49-F238E27FC236}">
                <a16:creationId xmlns:a16="http://schemas.microsoft.com/office/drawing/2014/main" id="{C6A10BD5-1C69-4D13-9538-178E39FD12A5}"/>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txBody>
          <a:bodyPr/>
          <a:lstStyle/>
          <a:p>
            <a:endParaRPr/>
          </a:p>
        </p:txBody>
      </p:sp>
      <p:sp>
        <p:nvSpPr>
          <p:cNvPr id="43" name="polish-progress-4-9">
            <a:extLst>
              <a:ext uri="{FF2B5EF4-FFF2-40B4-BE49-F238E27FC236}">
                <a16:creationId xmlns:a16="http://schemas.microsoft.com/office/drawing/2014/main" id="{CAC17ECC-067F-4DE7-9411-04715E0DED5E}"/>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txBody>
          <a:bodyPr/>
          <a:lstStyle/>
          <a:p>
            <a:endParaRPr/>
          </a:p>
        </p:txBody>
      </p:sp>
      <p:sp>
        <p:nvSpPr>
          <p:cNvPr id="44" name="polish-progress-4-10">
            <a:extLst>
              <a:ext uri="{FF2B5EF4-FFF2-40B4-BE49-F238E27FC236}">
                <a16:creationId xmlns:a16="http://schemas.microsoft.com/office/drawing/2014/main" id="{1767EF08-4773-4222-A58A-A3B3AD92650C}"/>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txBody>
          <a:bodyPr/>
          <a:lstStyle/>
          <a:p>
            <a:endParaRPr/>
          </a:p>
        </p:txBody>
      </p:sp>
      <p:sp>
        <p:nvSpPr>
          <p:cNvPr id="45" name="visual-model-tier-baseline">
            <a:extLst>
              <a:ext uri="{FF2B5EF4-FFF2-40B4-BE49-F238E27FC236}">
                <a16:creationId xmlns:a16="http://schemas.microsoft.com/office/drawing/2014/main" id="{BF2FB516-5983-4B6E-ABB1-17F7B47C8949}"/>
              </a:ext>
            </a:extLst>
          </p:cNvPr>
          <p:cNvSpPr>
            <a:spLocks noGrp="1"/>
          </p:cNvSpPr>
          <p:nvPr/>
        </p:nvSpPr>
        <p:spPr>
          <a:xfrm>
            <a:off x="4762500" y="2724150"/>
            <a:ext cx="1238250" cy="190500"/>
          </a:xfrm>
          <a:prstGeom prst="rect">
            <a:avLst/>
          </a:prstGeom>
          <a:noFill/>
          <a:ln w="0">
            <a:noFill/>
            <a:prstDash val="solid"/>
          </a:ln>
        </p:spPr>
        <p:txBody>
          <a:bodyPr wrap="square" lIns="0" tIns="0" rIns="0" bIns="0" anchor="t">
            <a:noAutofit/>
          </a:bodyPr>
          <a:lstStyle/>
          <a:p>
            <a:pPr algn="ctr">
              <a:buNone/>
              <a:defRPr sz="1200" b="1" i="0">
                <a:solidFill>
                  <a:srgbClr val="5D58E9"/>
                </a:solidFill>
                <a:latin typeface="Arial"/>
                <a:ea typeface="Arial"/>
                <a:cs typeface="Arial"/>
              </a:defRPr>
            </a:pPr>
            <a:r>
              <a:rPr sz="1200" b="1" i="0">
                <a:solidFill>
                  <a:srgbClr val="5D58E9"/>
                </a:solidFill>
                <a:latin typeface="Arial"/>
                <a:ea typeface="Arial"/>
                <a:cs typeface="Arial"/>
              </a:rPr>
              <a:t>BASELINE</a:t>
            </a:r>
          </a:p>
        </p:txBody>
      </p:sp>
      <p:sp>
        <p:nvSpPr>
          <p:cNvPr id="46" name="visual-model-tier-nonlinear">
            <a:extLst>
              <a:ext uri="{FF2B5EF4-FFF2-40B4-BE49-F238E27FC236}">
                <a16:creationId xmlns:a16="http://schemas.microsoft.com/office/drawing/2014/main" id="{CA0BD198-8334-41A6-9D76-0160FA6D88D7}"/>
              </a:ext>
            </a:extLst>
          </p:cNvPr>
          <p:cNvSpPr>
            <a:spLocks noGrp="1"/>
          </p:cNvSpPr>
          <p:nvPr/>
        </p:nvSpPr>
        <p:spPr>
          <a:xfrm>
            <a:off x="6905625" y="2724150"/>
            <a:ext cx="1238250" cy="190500"/>
          </a:xfrm>
          <a:prstGeom prst="rect">
            <a:avLst/>
          </a:prstGeom>
          <a:noFill/>
          <a:ln w="0">
            <a:noFill/>
            <a:prstDash val="solid"/>
          </a:ln>
        </p:spPr>
        <p:txBody>
          <a:bodyPr wrap="square" lIns="0" tIns="0" rIns="0" bIns="0" anchor="t">
            <a:noAutofit/>
          </a:bodyPr>
          <a:lstStyle/>
          <a:p>
            <a:pPr algn="ctr">
              <a:buNone/>
              <a:defRPr sz="1200" b="1" i="0">
                <a:solidFill>
                  <a:srgbClr val="6DCBF4"/>
                </a:solidFill>
                <a:latin typeface="Arial"/>
                <a:ea typeface="Arial"/>
                <a:cs typeface="Arial"/>
              </a:defRPr>
            </a:pPr>
            <a:r>
              <a:rPr sz="1200" b="1" i="0">
                <a:solidFill>
                  <a:srgbClr val="6DCBF4"/>
                </a:solidFill>
                <a:latin typeface="Arial"/>
                <a:ea typeface="Arial"/>
                <a:cs typeface="Arial"/>
              </a:rPr>
              <a:t>RULES</a:t>
            </a:r>
          </a:p>
        </p:txBody>
      </p:sp>
      <p:sp>
        <p:nvSpPr>
          <p:cNvPr id="47" name="visual-model-tier-advanced">
            <a:extLst>
              <a:ext uri="{FF2B5EF4-FFF2-40B4-BE49-F238E27FC236}">
                <a16:creationId xmlns:a16="http://schemas.microsoft.com/office/drawing/2014/main" id="{B9E9C3AE-7F5E-49F6-8A5D-E4EF66191206}"/>
              </a:ext>
            </a:extLst>
          </p:cNvPr>
          <p:cNvSpPr>
            <a:spLocks noGrp="1"/>
          </p:cNvSpPr>
          <p:nvPr/>
        </p:nvSpPr>
        <p:spPr>
          <a:xfrm>
            <a:off x="9048750" y="2724150"/>
            <a:ext cx="1238250" cy="190500"/>
          </a:xfrm>
          <a:prstGeom prst="rect">
            <a:avLst/>
          </a:prstGeom>
          <a:noFill/>
          <a:ln w="0">
            <a:noFill/>
            <a:prstDash val="solid"/>
          </a:ln>
        </p:spPr>
        <p:txBody>
          <a:bodyPr wrap="square" lIns="0" tIns="0" rIns="0" bIns="0" anchor="t">
            <a:noAutofit/>
          </a:bodyPr>
          <a:lstStyle/>
          <a:p>
            <a:pPr algn="ctr">
              <a:buNone/>
              <a:defRPr sz="1200" b="1" i="0">
                <a:solidFill>
                  <a:srgbClr val="3D8DFF"/>
                </a:solidFill>
                <a:latin typeface="Arial"/>
                <a:ea typeface="Arial"/>
                <a:cs typeface="Arial"/>
              </a:defRPr>
            </a:pPr>
            <a:r>
              <a:rPr sz="1200" b="1" i="0">
                <a:solidFill>
                  <a:srgbClr val="3D8DFF"/>
                </a:solidFill>
                <a:latin typeface="Arial"/>
                <a:ea typeface="Arial"/>
                <a:cs typeface="Arial"/>
              </a:rPr>
              <a:t>ADVANCED</a:t>
            </a:r>
          </a:p>
        </p:txBody>
      </p:sp>
    </p:spTree>
    <p:extLst>
      <p:ext uri="{BB962C8B-B14F-4D97-AF65-F5344CB8AC3E}">
        <p14:creationId xmlns:p14="http://schemas.microsoft.com/office/powerpoint/2010/main" val="104115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7" name="rule">
            <a:extLst>
              <a:ext uri="{FF2B5EF4-FFF2-40B4-BE49-F238E27FC236}">
                <a16:creationId xmlns:a16="http://schemas.microsoft.com/office/drawing/2014/main" id="{07973F0B-CC7E-46A2-888C-32B1A4ECF031}"/>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7BC15A72-FC05-4CEC-B36C-57F24B4EC7BC}"/>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RESULTS</a:t>
            </a:r>
          </a:p>
        </p:txBody>
      </p:sp>
      <p:sp>
        <p:nvSpPr>
          <p:cNvPr id="3" name="page-number">
            <a:extLst>
              <a:ext uri="{FF2B5EF4-FFF2-40B4-BE49-F238E27FC236}">
                <a16:creationId xmlns:a16="http://schemas.microsoft.com/office/drawing/2014/main" id="{A7C5D330-A21B-44AB-BF0A-BB94799941EF}"/>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05</a:t>
            </a:r>
          </a:p>
        </p:txBody>
      </p:sp>
      <p:sp>
        <p:nvSpPr>
          <p:cNvPr id="4" name="slide-title">
            <a:extLst>
              <a:ext uri="{FF2B5EF4-FFF2-40B4-BE49-F238E27FC236}">
                <a16:creationId xmlns:a16="http://schemas.microsoft.com/office/drawing/2014/main" id="{B418D6CA-8E71-48D7-B0EE-1471901AF4E4}"/>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XGBoost is best on its own.</a:t>
            </a:r>
          </a:p>
        </p:txBody>
      </p:sp>
      <p:sp>
        <p:nvSpPr>
          <p:cNvPr id="5" name="slide-subtitle">
            <a:extLst>
              <a:ext uri="{FF2B5EF4-FFF2-40B4-BE49-F238E27FC236}">
                <a16:creationId xmlns:a16="http://schemas.microsoft.com/office/drawing/2014/main" id="{2A647BC1-B15E-4CDA-BF37-6759D0BFED0A}"/>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Tested on 58,971 later payments. Random Forest is close behind.</a:t>
            </a:r>
          </a:p>
        </p:txBody>
      </p:sp>
      <p:graphicFrame>
        <p:nvGraphicFramePr>
          <p:cNvPr id="40" name="Chart"/>
          <p:cNvGraphicFramePr/>
          <p:nvPr/>
        </p:nvGraphicFramePr>
        <p:xfrm>
          <a:off x="533400" y="1809750"/>
          <a:ext cx="65722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7" name="xgb-callout">
            <a:extLst>
              <a:ext uri="{FF2B5EF4-FFF2-40B4-BE49-F238E27FC236}">
                <a16:creationId xmlns:a16="http://schemas.microsoft.com/office/drawing/2014/main" id="{15236229-CA20-4335-BEB5-4070A5B26C9B}"/>
              </a:ext>
            </a:extLst>
          </p:cNvPr>
          <p:cNvSpPr>
            <a:spLocks noGrp="1"/>
          </p:cNvSpPr>
          <p:nvPr/>
        </p:nvSpPr>
        <p:spPr>
          <a:xfrm>
            <a:off x="7620000" y="1809750"/>
            <a:ext cx="3714750" cy="4000500"/>
          </a:xfrm>
          <a:prstGeom prst="roundRect">
            <a:avLst>
              <a:gd name="adj" fmla="val 3077"/>
            </a:avLst>
          </a:prstGeom>
          <a:solidFill>
            <a:srgbClr val="EAF5FB"/>
          </a:solidFill>
          <a:ln w="9525">
            <a:solidFill>
              <a:srgbClr val="D6DDE5"/>
            </a:solidFill>
            <a:prstDash val="solid"/>
          </a:ln>
        </p:spPr>
        <p:txBody>
          <a:bodyPr/>
          <a:lstStyle/>
          <a:p>
            <a:endParaRPr/>
          </a:p>
        </p:txBody>
      </p:sp>
      <p:sp>
        <p:nvSpPr>
          <p:cNvPr id="8" name="xgb-callout-title">
            <a:extLst>
              <a:ext uri="{FF2B5EF4-FFF2-40B4-BE49-F238E27FC236}">
                <a16:creationId xmlns:a16="http://schemas.microsoft.com/office/drawing/2014/main" id="{02089829-BC27-4211-A112-448E67326DCA}"/>
              </a:ext>
            </a:extLst>
          </p:cNvPr>
          <p:cNvSpPr>
            <a:spLocks noGrp="1"/>
          </p:cNvSpPr>
          <p:nvPr/>
        </p:nvSpPr>
        <p:spPr>
          <a:xfrm>
            <a:off x="7924800" y="2152650"/>
            <a:ext cx="2857500" cy="323850"/>
          </a:xfrm>
          <a:prstGeom prst="rect">
            <a:avLst/>
          </a:prstGeom>
          <a:noFill/>
          <a:ln w="0">
            <a:noFill/>
            <a:prstDash val="solid"/>
          </a:ln>
        </p:spPr>
        <p:txBody>
          <a:bodyPr wrap="square" lIns="0" tIns="0" rIns="0" bIns="0" anchor="t">
            <a:noAutofit/>
          </a:bodyPr>
          <a:lstStyle/>
          <a:p>
            <a:pPr algn="l">
              <a:buNone/>
              <a:defRPr sz="1800" b="1" i="0">
                <a:solidFill>
                  <a:srgbClr val="3D8DFF"/>
                </a:solidFill>
                <a:latin typeface="Arial"/>
                <a:ea typeface="Arial"/>
                <a:cs typeface="Arial"/>
              </a:defRPr>
            </a:pPr>
            <a:r>
              <a:rPr sz="1800" b="1" i="0">
                <a:solidFill>
                  <a:srgbClr val="3D8DFF"/>
                </a:solidFill>
                <a:latin typeface="Arial"/>
                <a:ea typeface="Arial"/>
                <a:cs typeface="Arial"/>
              </a:rPr>
              <a:t>XGBoost</a:t>
            </a:r>
          </a:p>
        </p:txBody>
      </p:sp>
      <p:sp>
        <p:nvSpPr>
          <p:cNvPr id="9" name="xgb-precision">
            <a:extLst>
              <a:ext uri="{FF2B5EF4-FFF2-40B4-BE49-F238E27FC236}">
                <a16:creationId xmlns:a16="http://schemas.microsoft.com/office/drawing/2014/main" id="{DD72ED62-18FE-435A-8DEE-37CCF490DA46}"/>
              </a:ext>
            </a:extLst>
          </p:cNvPr>
          <p:cNvSpPr>
            <a:spLocks noGrp="1"/>
          </p:cNvSpPr>
          <p:nvPr/>
        </p:nvSpPr>
        <p:spPr>
          <a:xfrm>
            <a:off x="7924800" y="2647950"/>
            <a:ext cx="2857500" cy="571500"/>
          </a:xfrm>
          <a:prstGeom prst="rect">
            <a:avLst/>
          </a:prstGeom>
          <a:noFill/>
          <a:ln w="0">
            <a:noFill/>
            <a:prstDash val="solid"/>
          </a:ln>
        </p:spPr>
        <p:txBody>
          <a:bodyPr wrap="square" lIns="0" tIns="0" rIns="0" bIns="0" anchor="t">
            <a:noAutofit/>
          </a:bodyPr>
          <a:lstStyle/>
          <a:p>
            <a:pPr algn="l">
              <a:buNone/>
              <a:defRPr sz="2850" b="1" i="0">
                <a:solidFill>
                  <a:srgbClr val="111827"/>
                </a:solidFill>
                <a:latin typeface="Arial"/>
                <a:ea typeface="Arial"/>
                <a:cs typeface="Arial"/>
              </a:defRPr>
            </a:pPr>
            <a:r>
              <a:rPr sz="2850" b="1" i="0">
                <a:solidFill>
                  <a:srgbClr val="111827"/>
                </a:solidFill>
                <a:latin typeface="Arial"/>
                <a:ea typeface="Arial"/>
                <a:cs typeface="Arial"/>
              </a:rPr>
              <a:t>92.63%</a:t>
            </a:r>
          </a:p>
        </p:txBody>
      </p:sp>
      <p:sp>
        <p:nvSpPr>
          <p:cNvPr id="10" name="metric-label">
            <a:extLst>
              <a:ext uri="{FF2B5EF4-FFF2-40B4-BE49-F238E27FC236}">
                <a16:creationId xmlns:a16="http://schemas.microsoft.com/office/drawing/2014/main" id="{A5F03424-AE00-491B-B0F7-8618425D86C3}"/>
              </a:ext>
            </a:extLst>
          </p:cNvPr>
          <p:cNvSpPr>
            <a:spLocks noGrp="1"/>
          </p:cNvSpPr>
          <p:nvPr/>
        </p:nvSpPr>
        <p:spPr>
          <a:xfrm>
            <a:off x="7924800" y="323850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precision</a:t>
            </a:r>
          </a:p>
        </p:txBody>
      </p:sp>
      <p:sp>
        <p:nvSpPr>
          <p:cNvPr id="11" name="xgb-recall">
            <a:extLst>
              <a:ext uri="{FF2B5EF4-FFF2-40B4-BE49-F238E27FC236}">
                <a16:creationId xmlns:a16="http://schemas.microsoft.com/office/drawing/2014/main" id="{F04AB884-C33F-42BC-8E67-6EBE0DECB1B2}"/>
              </a:ext>
            </a:extLst>
          </p:cNvPr>
          <p:cNvSpPr>
            <a:spLocks noGrp="1"/>
          </p:cNvSpPr>
          <p:nvPr/>
        </p:nvSpPr>
        <p:spPr>
          <a:xfrm>
            <a:off x="7924800" y="3600450"/>
            <a:ext cx="2857500" cy="571500"/>
          </a:xfrm>
          <a:prstGeom prst="rect">
            <a:avLst/>
          </a:prstGeom>
          <a:noFill/>
          <a:ln w="0">
            <a:noFill/>
            <a:prstDash val="solid"/>
          </a:ln>
        </p:spPr>
        <p:txBody>
          <a:bodyPr wrap="square" lIns="0" tIns="0" rIns="0" bIns="0" anchor="t">
            <a:noAutofit/>
          </a:bodyPr>
          <a:lstStyle/>
          <a:p>
            <a:pPr algn="l">
              <a:buNone/>
              <a:defRPr sz="2850" b="1" i="0">
                <a:solidFill>
                  <a:srgbClr val="111827"/>
                </a:solidFill>
                <a:latin typeface="Arial"/>
                <a:ea typeface="Arial"/>
                <a:cs typeface="Arial"/>
              </a:defRPr>
            </a:pPr>
            <a:r>
              <a:rPr sz="2850" b="1" i="0">
                <a:solidFill>
                  <a:srgbClr val="111827"/>
                </a:solidFill>
                <a:latin typeface="Arial"/>
                <a:ea typeface="Arial"/>
                <a:cs typeface="Arial"/>
              </a:rPr>
              <a:t>92.29%</a:t>
            </a:r>
          </a:p>
        </p:txBody>
      </p:sp>
      <p:sp>
        <p:nvSpPr>
          <p:cNvPr id="12" name="metric-label">
            <a:extLst>
              <a:ext uri="{FF2B5EF4-FFF2-40B4-BE49-F238E27FC236}">
                <a16:creationId xmlns:a16="http://schemas.microsoft.com/office/drawing/2014/main" id="{FE386511-33FD-4187-989B-61484788ADA6}"/>
              </a:ext>
            </a:extLst>
          </p:cNvPr>
          <p:cNvSpPr>
            <a:spLocks noGrp="1"/>
          </p:cNvSpPr>
          <p:nvPr/>
        </p:nvSpPr>
        <p:spPr>
          <a:xfrm>
            <a:off x="7924800" y="419100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recall</a:t>
            </a:r>
          </a:p>
        </p:txBody>
      </p:sp>
      <p:sp>
        <p:nvSpPr>
          <p:cNvPr id="13" name="xgb-prauc">
            <a:extLst>
              <a:ext uri="{FF2B5EF4-FFF2-40B4-BE49-F238E27FC236}">
                <a16:creationId xmlns:a16="http://schemas.microsoft.com/office/drawing/2014/main" id="{7E106EA9-05BC-411C-ACEE-7BBC34CA7182}"/>
              </a:ext>
            </a:extLst>
          </p:cNvPr>
          <p:cNvSpPr>
            <a:spLocks noGrp="1"/>
          </p:cNvSpPr>
          <p:nvPr/>
        </p:nvSpPr>
        <p:spPr>
          <a:xfrm>
            <a:off x="7924800" y="4552950"/>
            <a:ext cx="2857500" cy="571500"/>
          </a:xfrm>
          <a:prstGeom prst="rect">
            <a:avLst/>
          </a:prstGeom>
          <a:noFill/>
          <a:ln w="0">
            <a:noFill/>
            <a:prstDash val="solid"/>
          </a:ln>
        </p:spPr>
        <p:txBody>
          <a:bodyPr wrap="square" lIns="0" tIns="0" rIns="0" bIns="0"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97.60%</a:t>
            </a:r>
          </a:p>
        </p:txBody>
      </p:sp>
      <p:sp>
        <p:nvSpPr>
          <p:cNvPr id="14" name="metric-label">
            <a:extLst>
              <a:ext uri="{FF2B5EF4-FFF2-40B4-BE49-F238E27FC236}">
                <a16:creationId xmlns:a16="http://schemas.microsoft.com/office/drawing/2014/main" id="{9A7F78EC-48A5-4DD0-8B04-CD9572BA61F7}"/>
              </a:ext>
            </a:extLst>
          </p:cNvPr>
          <p:cNvSpPr>
            <a:spLocks noGrp="1"/>
          </p:cNvSpPr>
          <p:nvPr/>
        </p:nvSpPr>
        <p:spPr>
          <a:xfrm>
            <a:off x="7924800" y="514350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PR-AUC</a:t>
            </a:r>
          </a:p>
        </p:txBody>
      </p:sp>
      <p:sp>
        <p:nvSpPr>
          <p:cNvPr id="15" name="results-note">
            <a:extLst>
              <a:ext uri="{FF2B5EF4-FFF2-40B4-BE49-F238E27FC236}">
                <a16:creationId xmlns:a16="http://schemas.microsoft.com/office/drawing/2014/main" id="{5C24FDD4-160F-4346-A4BB-561B3200A62D}"/>
              </a:ext>
            </a:extLst>
          </p:cNvPr>
          <p:cNvSpPr>
            <a:spLocks noGrp="1"/>
          </p:cNvSpPr>
          <p:nvPr/>
        </p:nvSpPr>
        <p:spPr>
          <a:xfrm>
            <a:off x="7924800" y="5429250"/>
            <a:ext cx="3048000" cy="457200"/>
          </a:xfrm>
          <a:prstGeom prst="rect">
            <a:avLst/>
          </a:prstGeom>
          <a:noFill/>
          <a:ln w="0">
            <a:noFill/>
            <a:prstDash val="solid"/>
          </a:ln>
        </p:spPr>
        <p:txBody>
          <a:bodyPr wrap="square" lIns="0" tIns="0" rIns="0" bIns="0" anchor="t">
            <a:noAutofit/>
          </a:bodyPr>
          <a:lstStyle/>
          <a:p>
            <a:pPr algn="l">
              <a:buNone/>
              <a:defRPr sz="1125" b="0" i="0">
                <a:solidFill>
                  <a:srgbClr val="536172"/>
                </a:solidFill>
                <a:latin typeface="Arial"/>
                <a:ea typeface="Arial"/>
                <a:cs typeface="Arial"/>
              </a:defRPr>
            </a:pPr>
            <a:r>
              <a:rPr sz="1125" b="0" i="0">
                <a:solidFill>
                  <a:srgbClr val="536172"/>
                </a:solidFill>
                <a:latin typeface="Arial"/>
                <a:ea typeface="Arial"/>
                <a:cs typeface="Arial"/>
              </a:rPr>
              <a:t>Random Forest: 91.29% F1.</a:t>
            </a:r>
          </a:p>
          <a:p>
            <a:pPr algn="l">
              <a:buNone/>
              <a:defRPr sz="1125" b="0" i="0">
                <a:solidFill>
                  <a:srgbClr val="536172"/>
                </a:solidFill>
                <a:latin typeface="Arial"/>
                <a:ea typeface="Arial"/>
                <a:cs typeface="Arial"/>
              </a:defRPr>
            </a:pPr>
            <a:r>
              <a:rPr sz="1125" b="0" i="0">
                <a:solidFill>
                  <a:srgbClr val="536172"/>
                </a:solidFill>
                <a:latin typeface="Arial"/>
                <a:ea typeface="Arial"/>
                <a:cs typeface="Arial"/>
              </a:rPr>
              <a:t>Logistic Regression finds more odd cases, with more false alarms.</a:t>
            </a:r>
          </a:p>
        </p:txBody>
      </p:sp>
      <p:sp>
        <p:nvSpPr>
          <p:cNvPr id="16" name="accuracy-note">
            <a:extLst>
              <a:ext uri="{FF2B5EF4-FFF2-40B4-BE49-F238E27FC236}">
                <a16:creationId xmlns:a16="http://schemas.microsoft.com/office/drawing/2014/main" id="{47A77D18-F567-4DEA-9DB4-300D5C6A17D7}"/>
              </a:ext>
            </a:extLst>
          </p:cNvPr>
          <p:cNvSpPr>
            <a:spLocks noGrp="1"/>
          </p:cNvSpPr>
          <p:nvPr/>
        </p:nvSpPr>
        <p:spPr>
          <a:xfrm>
            <a:off x="533400" y="6057900"/>
            <a:ext cx="6667500" cy="22860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All three look 99% accurate. That number is misleading because fraud is rare.</a:t>
            </a:r>
          </a:p>
        </p:txBody>
      </p:sp>
      <p:sp>
        <p:nvSpPr>
          <p:cNvPr id="19" name="polish-title-rail-5">
            <a:extLst>
              <a:ext uri="{FF2B5EF4-FFF2-40B4-BE49-F238E27FC236}">
                <a16:creationId xmlns:a16="http://schemas.microsoft.com/office/drawing/2014/main" id="{73120548-07A7-42A5-9625-D28EAFF3F828}"/>
              </a:ext>
            </a:extLst>
          </p:cNvPr>
          <p:cNvSpPr>
            <a:spLocks noGrp="1"/>
          </p:cNvSpPr>
          <p:nvPr/>
        </p:nvSpPr>
        <p:spPr>
          <a:xfrm>
            <a:off x="323850" y="762000"/>
            <a:ext cx="57150" cy="552450"/>
          </a:xfrm>
          <a:prstGeom prst="roundRect">
            <a:avLst>
              <a:gd name="adj" fmla="val 50000"/>
            </a:avLst>
          </a:prstGeom>
          <a:solidFill>
            <a:srgbClr val="3D8DFF"/>
          </a:solidFill>
          <a:ln w="0">
            <a:noFill/>
            <a:prstDash val="solid"/>
          </a:ln>
        </p:spPr>
        <p:txBody>
          <a:bodyPr/>
          <a:lstStyle/>
          <a:p>
            <a:endParaRPr/>
          </a:p>
        </p:txBody>
      </p:sp>
      <p:sp>
        <p:nvSpPr>
          <p:cNvPr id="20" name="polish-title-underline-5">
            <a:extLst>
              <a:ext uri="{FF2B5EF4-FFF2-40B4-BE49-F238E27FC236}">
                <a16:creationId xmlns:a16="http://schemas.microsoft.com/office/drawing/2014/main" id="{98979B8C-39DD-4F74-A242-9FD9C32948FF}"/>
              </a:ext>
            </a:extLst>
          </p:cNvPr>
          <p:cNvSpPr>
            <a:spLocks noGrp="1"/>
          </p:cNvSpPr>
          <p:nvPr/>
        </p:nvSpPr>
        <p:spPr>
          <a:xfrm>
            <a:off x="533400" y="647700"/>
            <a:ext cx="876300" cy="28575"/>
          </a:xfrm>
          <a:prstGeom prst="roundRect">
            <a:avLst>
              <a:gd name="adj" fmla="val 50000"/>
            </a:avLst>
          </a:prstGeom>
          <a:solidFill>
            <a:srgbClr val="3D8DFF"/>
          </a:solidFill>
          <a:ln w="0">
            <a:noFill/>
            <a:prstDash val="solid"/>
          </a:ln>
        </p:spPr>
        <p:txBody>
          <a:bodyPr/>
          <a:lstStyle/>
          <a:p>
            <a:endParaRPr/>
          </a:p>
        </p:txBody>
      </p:sp>
      <p:sp>
        <p:nvSpPr>
          <p:cNvPr id="21" name="polish-progress-5-1">
            <a:extLst>
              <a:ext uri="{FF2B5EF4-FFF2-40B4-BE49-F238E27FC236}">
                <a16:creationId xmlns:a16="http://schemas.microsoft.com/office/drawing/2014/main" id="{AAADCC8D-D294-4526-890D-01018F916EEF}"/>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txBody>
          <a:bodyPr/>
          <a:lstStyle/>
          <a:p>
            <a:endParaRPr/>
          </a:p>
        </p:txBody>
      </p:sp>
      <p:sp>
        <p:nvSpPr>
          <p:cNvPr id="22" name="polish-progress-5-2">
            <a:extLst>
              <a:ext uri="{FF2B5EF4-FFF2-40B4-BE49-F238E27FC236}">
                <a16:creationId xmlns:a16="http://schemas.microsoft.com/office/drawing/2014/main" id="{E36D6186-9D38-42E7-A8E8-C180FC762271}"/>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txBody>
          <a:bodyPr/>
          <a:lstStyle/>
          <a:p>
            <a:endParaRPr/>
          </a:p>
        </p:txBody>
      </p:sp>
      <p:sp>
        <p:nvSpPr>
          <p:cNvPr id="23" name="polish-progress-5-3">
            <a:extLst>
              <a:ext uri="{FF2B5EF4-FFF2-40B4-BE49-F238E27FC236}">
                <a16:creationId xmlns:a16="http://schemas.microsoft.com/office/drawing/2014/main" id="{F4199B2C-D402-487B-B673-409192AD5505}"/>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txBody>
          <a:bodyPr/>
          <a:lstStyle/>
          <a:p>
            <a:endParaRPr/>
          </a:p>
        </p:txBody>
      </p:sp>
      <p:sp>
        <p:nvSpPr>
          <p:cNvPr id="24" name="polish-progress-5-4">
            <a:extLst>
              <a:ext uri="{FF2B5EF4-FFF2-40B4-BE49-F238E27FC236}">
                <a16:creationId xmlns:a16="http://schemas.microsoft.com/office/drawing/2014/main" id="{B7BAE533-56C1-4848-960A-8DFDDBD5B47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txBody>
          <a:bodyPr/>
          <a:lstStyle/>
          <a:p>
            <a:endParaRPr/>
          </a:p>
        </p:txBody>
      </p:sp>
      <p:sp>
        <p:nvSpPr>
          <p:cNvPr id="25" name="polish-progress-5-5">
            <a:extLst>
              <a:ext uri="{FF2B5EF4-FFF2-40B4-BE49-F238E27FC236}">
                <a16:creationId xmlns:a16="http://schemas.microsoft.com/office/drawing/2014/main" id="{00ADB59B-FD16-40EC-B640-D204509024CB}"/>
              </a:ext>
            </a:extLst>
          </p:cNvPr>
          <p:cNvSpPr>
            <a:spLocks noGrp="1"/>
          </p:cNvSpPr>
          <p:nvPr/>
        </p:nvSpPr>
        <p:spPr>
          <a:xfrm>
            <a:off x="5915025" y="6572250"/>
            <a:ext cx="152400" cy="28575"/>
          </a:xfrm>
          <a:prstGeom prst="roundRect">
            <a:avLst>
              <a:gd name="adj" fmla="val 50000"/>
            </a:avLst>
          </a:prstGeom>
          <a:solidFill>
            <a:srgbClr val="3D8DFF"/>
          </a:solidFill>
          <a:ln w="0">
            <a:noFill/>
            <a:prstDash val="solid"/>
          </a:ln>
        </p:spPr>
        <p:txBody>
          <a:bodyPr/>
          <a:lstStyle/>
          <a:p>
            <a:endParaRPr/>
          </a:p>
        </p:txBody>
      </p:sp>
      <p:sp>
        <p:nvSpPr>
          <p:cNvPr id="26" name="polish-progress-5-6">
            <a:extLst>
              <a:ext uri="{FF2B5EF4-FFF2-40B4-BE49-F238E27FC236}">
                <a16:creationId xmlns:a16="http://schemas.microsoft.com/office/drawing/2014/main" id="{C2A1886A-D92A-4ED9-8779-962308B1F242}"/>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txBody>
          <a:bodyPr/>
          <a:lstStyle/>
          <a:p>
            <a:endParaRPr/>
          </a:p>
        </p:txBody>
      </p:sp>
      <p:sp>
        <p:nvSpPr>
          <p:cNvPr id="27" name="polish-progress-5-7">
            <a:extLst>
              <a:ext uri="{FF2B5EF4-FFF2-40B4-BE49-F238E27FC236}">
                <a16:creationId xmlns:a16="http://schemas.microsoft.com/office/drawing/2014/main" id="{77F65623-41B3-4AA3-A121-1D9A792F89C2}"/>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txBody>
          <a:bodyPr/>
          <a:lstStyle/>
          <a:p>
            <a:endParaRPr/>
          </a:p>
        </p:txBody>
      </p:sp>
      <p:sp>
        <p:nvSpPr>
          <p:cNvPr id="28" name="polish-progress-5-8">
            <a:extLst>
              <a:ext uri="{FF2B5EF4-FFF2-40B4-BE49-F238E27FC236}">
                <a16:creationId xmlns:a16="http://schemas.microsoft.com/office/drawing/2014/main" id="{032E6778-05F5-4A36-85AF-2655B9923732}"/>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txBody>
          <a:bodyPr/>
          <a:lstStyle/>
          <a:p>
            <a:endParaRPr/>
          </a:p>
        </p:txBody>
      </p:sp>
      <p:sp>
        <p:nvSpPr>
          <p:cNvPr id="29" name="polish-progress-5-9">
            <a:extLst>
              <a:ext uri="{FF2B5EF4-FFF2-40B4-BE49-F238E27FC236}">
                <a16:creationId xmlns:a16="http://schemas.microsoft.com/office/drawing/2014/main" id="{A79BC3B0-31C6-4634-A7B9-A21D228E3B6E}"/>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txBody>
          <a:bodyPr/>
          <a:lstStyle/>
          <a:p>
            <a:endParaRPr/>
          </a:p>
        </p:txBody>
      </p:sp>
      <p:sp>
        <p:nvSpPr>
          <p:cNvPr id="30" name="polish-progress-5-10">
            <a:extLst>
              <a:ext uri="{FF2B5EF4-FFF2-40B4-BE49-F238E27FC236}">
                <a16:creationId xmlns:a16="http://schemas.microsoft.com/office/drawing/2014/main" id="{6B8D09BE-3A19-4F85-BD15-0DA347B81711}"/>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txBody>
          <a:bodyPr/>
          <a:lstStyle/>
          <a:p>
            <a:endParaRPr/>
          </a:p>
        </p:txBody>
      </p:sp>
      <p:sp>
        <p:nvSpPr>
          <p:cNvPr id="32" name="visual-results-best-label">
            <a:extLst>
              <a:ext uri="{FF2B5EF4-FFF2-40B4-BE49-F238E27FC236}">
                <a16:creationId xmlns:a16="http://schemas.microsoft.com/office/drawing/2014/main" id="{04F8AED5-85F0-447C-ADCA-A98E0021BF6D}"/>
              </a:ext>
            </a:extLst>
          </p:cNvPr>
          <p:cNvSpPr>
            <a:spLocks noGrp="1"/>
          </p:cNvSpPr>
          <p:nvPr/>
        </p:nvSpPr>
        <p:spPr>
          <a:xfrm>
            <a:off x="9810750" y="2171700"/>
            <a:ext cx="1257300" cy="190500"/>
          </a:xfrm>
          <a:prstGeom prst="rect">
            <a:avLst/>
          </a:prstGeom>
          <a:noFill/>
          <a:ln w="0">
            <a:noFill/>
            <a:prstDash val="solid"/>
          </a:ln>
        </p:spPr>
        <p:txBody>
          <a:bodyPr wrap="square" lIns="0" tIns="0" rIns="0" bIns="0" anchor="t">
            <a:noAutofit/>
          </a:bodyPr>
          <a:lstStyle/>
          <a:p>
            <a:pPr algn="r">
              <a:buNone/>
              <a:defRPr sz="1200" b="1" i="0">
                <a:solidFill>
                  <a:srgbClr val="3D8DFF"/>
                </a:solidFill>
                <a:latin typeface="Arial"/>
                <a:ea typeface="Arial"/>
                <a:cs typeface="Arial"/>
              </a:defRPr>
            </a:pPr>
            <a:r>
              <a:rPr sz="1200" b="1" i="0">
                <a:solidFill>
                  <a:srgbClr val="3D8DFF"/>
                </a:solidFill>
                <a:latin typeface="Arial"/>
                <a:ea typeface="Arial"/>
                <a:cs typeface="Arial"/>
              </a:rPr>
              <a:t>BEST ALONE</a:t>
            </a:r>
          </a:p>
        </p:txBody>
      </p:sp>
      <p:sp>
        <p:nvSpPr>
          <p:cNvPr id="33" name="visual-results-callout-rule">
            <a:extLst>
              <a:ext uri="{FF2B5EF4-FFF2-40B4-BE49-F238E27FC236}">
                <a16:creationId xmlns:a16="http://schemas.microsoft.com/office/drawing/2014/main" id="{A6F3EEF5-E548-4C15-A644-2E8747F3C647}"/>
              </a:ext>
            </a:extLst>
          </p:cNvPr>
          <p:cNvSpPr>
            <a:spLocks noGrp="1"/>
          </p:cNvSpPr>
          <p:nvPr/>
        </p:nvSpPr>
        <p:spPr>
          <a:xfrm>
            <a:off x="7924800" y="2552700"/>
            <a:ext cx="2857500" cy="19050"/>
          </a:xfrm>
          <a:prstGeom prst="roundRect">
            <a:avLst>
              <a:gd name="adj" fmla="val 50000"/>
            </a:avLst>
          </a:prstGeom>
          <a:solidFill>
            <a:srgbClr val="3D8DFF"/>
          </a:solidFill>
          <a:ln w="0">
            <a:noFill/>
            <a:prstDash val="solid"/>
          </a:ln>
        </p:spPr>
      </p:sp>
    </p:spTree>
    <p:extLst>
      <p:ext uri="{BB962C8B-B14F-4D97-AF65-F5344CB8AC3E}">
        <p14:creationId xmlns:p14="http://schemas.microsoft.com/office/powerpoint/2010/main" val="328930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9" name="rule">
            <a:extLst>
              <a:ext uri="{FF2B5EF4-FFF2-40B4-BE49-F238E27FC236}">
                <a16:creationId xmlns:a16="http://schemas.microsoft.com/office/drawing/2014/main" id="{66ADA59C-3B98-4A4E-8454-C4D5B3ECB77E}"/>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6A444B42-2D1A-481F-98DD-B9D80F0C939F}"/>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COMBINE</a:t>
            </a:r>
          </a:p>
        </p:txBody>
      </p:sp>
      <p:sp>
        <p:nvSpPr>
          <p:cNvPr id="3" name="page-number">
            <a:extLst>
              <a:ext uri="{FF2B5EF4-FFF2-40B4-BE49-F238E27FC236}">
                <a16:creationId xmlns:a16="http://schemas.microsoft.com/office/drawing/2014/main" id="{80125B01-F680-4707-A0EC-97335E34CE5E}"/>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06</a:t>
            </a:r>
          </a:p>
        </p:txBody>
      </p:sp>
      <p:sp>
        <p:nvSpPr>
          <p:cNvPr id="4" name="slide-title">
            <a:extLst>
              <a:ext uri="{FF2B5EF4-FFF2-40B4-BE49-F238E27FC236}">
                <a16:creationId xmlns:a16="http://schemas.microsoft.com/office/drawing/2014/main" id="{D9718A77-6709-49E0-80D0-8B598E66163A}"/>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If one model says block, we block.</a:t>
            </a:r>
          </a:p>
        </p:txBody>
      </p:sp>
      <p:sp>
        <p:nvSpPr>
          <p:cNvPr id="5" name="slide-subtitle">
            <a:extLst>
              <a:ext uri="{FF2B5EF4-FFF2-40B4-BE49-F238E27FC236}">
                <a16:creationId xmlns:a16="http://schemas.microsoft.com/office/drawing/2014/main" id="{E5491262-08E1-42C4-BFBC-E26FF5011E97}"/>
              </a:ext>
            </a:extLst>
          </p:cNvPr>
          <p:cNvSpPr>
            <a:spLocks noGrp="1"/>
          </p:cNvSpPr>
          <p:nvPr/>
        </p:nvSpPr>
        <p:spPr>
          <a:xfrm>
            <a:off x="533400" y="1295400"/>
            <a:ext cx="10668000" cy="40005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We do not take a vote. We keep the strongest warning.</a:t>
            </a:r>
          </a:p>
        </p:txBody>
      </p:sp>
      <p:sp>
        <p:nvSpPr>
          <p:cNvPr id="6" name="shap-title">
            <a:extLst>
              <a:ext uri="{FF2B5EF4-FFF2-40B4-BE49-F238E27FC236}">
                <a16:creationId xmlns:a16="http://schemas.microsoft.com/office/drawing/2014/main" id="{5CC5AD6F-2BBD-4282-A83F-8A51B09971EA}"/>
              </a:ext>
            </a:extLst>
          </p:cNvPr>
          <p:cNvSpPr>
            <a:spLocks noGrp="1"/>
          </p:cNvSpPr>
          <p:nvPr/>
        </p:nvSpPr>
        <p:spPr>
          <a:xfrm>
            <a:off x="533400" y="1752600"/>
            <a:ext cx="11125200" cy="457200"/>
          </a:xfrm>
          <a:prstGeom prst="rect">
            <a:avLst/>
          </a:prstGeom>
          <a:noFill/>
          <a:ln w="0">
            <a:noFill/>
            <a:prstDash val="solid"/>
          </a:ln>
        </p:spPr>
        <p:txBody>
          <a:bodyPr wrap="square" lIns="0" tIns="0" rIns="0" bIns="0" anchor="t">
            <a:noAutofit/>
          </a:bodyPr>
          <a:lstStyle/>
          <a:p>
            <a:pPr algn="l">
              <a:buNone/>
              <a:defRPr sz="1725" b="1" i="0">
                <a:solidFill>
                  <a:srgbClr val="111827"/>
                </a:solidFill>
                <a:latin typeface="Arial"/>
                <a:ea typeface="Arial"/>
                <a:cs typeface="Arial"/>
              </a:defRPr>
            </a:pPr>
            <a:r>
              <a:rPr sz="1725" b="1" i="0">
                <a:solidFill>
                  <a:srgbClr val="111827"/>
                </a:solidFill>
                <a:latin typeface="Arial"/>
                <a:ea typeface="Arial"/>
                <a:cs typeface="Arial"/>
              </a:rPr>
              <a:t>Example: two models say approve. One says block. Final answer: block.</a:t>
            </a:r>
          </a:p>
        </p:txBody>
      </p:sp>
      <p:sp>
        <p:nvSpPr>
          <p:cNvPr id="17" name="ens-arrow-1">
            <a:extLst>
              <a:ext uri="{FF2B5EF4-FFF2-40B4-BE49-F238E27FC236}">
                <a16:creationId xmlns:a16="http://schemas.microsoft.com/office/drawing/2014/main" id="{1C15158E-8CAF-479F-ACE4-257C1953A7AF}"/>
              </a:ext>
            </a:extLst>
          </p:cNvPr>
          <p:cNvSpPr>
            <a:spLocks noGrp="1"/>
          </p:cNvSpPr>
          <p:nvPr/>
        </p:nvSpPr>
        <p:spPr>
          <a:xfrm>
            <a:off x="2966700" y="3086100"/>
            <a:ext cx="266700" cy="342900"/>
          </a:xfrm>
          <a:prstGeom prst="rect">
            <a:avLst/>
          </a:prstGeom>
          <a:noFill/>
          <a:ln w="0">
            <a:noFill/>
            <a:prstDash val="solid"/>
          </a:ln>
        </p:spPr>
        <p:txBody>
          <a:bodyPr wrap="square" lIns="0" tIns="0" rIns="0" bIns="0" anchor="t">
            <a:noAutofit/>
          </a:bodyPr>
          <a:lstStyle/>
          <a:p>
            <a:pPr algn="ctr">
              <a:buNone/>
              <a:defRPr sz="1650" b="1" i="0">
                <a:solidFill>
                  <a:srgbClr val="AAB5C1"/>
                </a:solidFill>
                <a:latin typeface="Arial"/>
                <a:ea typeface="Arial"/>
                <a:cs typeface="Arial"/>
              </a:defRPr>
            </a:pPr>
            <a:r>
              <a:rPr sz="2800" b="1" i="0">
                <a:solidFill>
                  <a:srgbClr val="AAB5C1"/>
                </a:solidFill>
                <a:latin typeface="Arial"/>
                <a:ea typeface="Arial"/>
                <a:cs typeface="Arial"/>
              </a:rPr>
              <a:t>-&gt;</a:t>
            </a:r>
          </a:p>
        </p:txBody>
      </p:sp>
      <p:sp>
        <p:nvSpPr>
          <p:cNvPr id="18" name="ens-arrow-2">
            <a:extLst>
              <a:ext uri="{FF2B5EF4-FFF2-40B4-BE49-F238E27FC236}">
                <a16:creationId xmlns:a16="http://schemas.microsoft.com/office/drawing/2014/main" id="{A6C38F7D-639A-4E55-9879-E56BD9F1E892}"/>
              </a:ext>
            </a:extLst>
          </p:cNvPr>
          <p:cNvSpPr>
            <a:spLocks noGrp="1"/>
          </p:cNvSpPr>
          <p:nvPr/>
        </p:nvSpPr>
        <p:spPr>
          <a:xfrm>
            <a:off x="5671800" y="3086100"/>
            <a:ext cx="266700" cy="342900"/>
          </a:xfrm>
          <a:prstGeom prst="rect">
            <a:avLst/>
          </a:prstGeom>
          <a:noFill/>
          <a:ln w="0">
            <a:noFill/>
            <a:prstDash val="solid"/>
          </a:ln>
        </p:spPr>
        <p:txBody>
          <a:bodyPr wrap="square" lIns="0" tIns="0" rIns="0" bIns="0" anchor="t">
            <a:noAutofit/>
          </a:bodyPr>
          <a:lstStyle/>
          <a:p>
            <a:pPr algn="ctr">
              <a:buNone/>
              <a:defRPr sz="1650" b="1" i="0">
                <a:solidFill>
                  <a:srgbClr val="AAB5C1"/>
                </a:solidFill>
                <a:latin typeface="Arial"/>
                <a:ea typeface="Arial"/>
                <a:cs typeface="Arial"/>
              </a:defRPr>
            </a:pPr>
            <a:r>
              <a:rPr sz="2800" b="1" i="0">
                <a:solidFill>
                  <a:srgbClr val="AAB5C1"/>
                </a:solidFill>
                <a:latin typeface="Arial"/>
                <a:ea typeface="Arial"/>
                <a:cs typeface="Arial"/>
              </a:rPr>
              <a:t>-&gt;</a:t>
            </a:r>
          </a:p>
        </p:txBody>
      </p:sp>
      <p:sp>
        <p:nvSpPr>
          <p:cNvPr id="19" name="ens-arrow-3">
            <a:extLst>
              <a:ext uri="{FF2B5EF4-FFF2-40B4-BE49-F238E27FC236}">
                <a16:creationId xmlns:a16="http://schemas.microsoft.com/office/drawing/2014/main" id="{A5CB8D54-8BF9-4446-A73A-FC6E3E5AC847}"/>
              </a:ext>
            </a:extLst>
          </p:cNvPr>
          <p:cNvSpPr>
            <a:spLocks noGrp="1"/>
          </p:cNvSpPr>
          <p:nvPr/>
        </p:nvSpPr>
        <p:spPr>
          <a:xfrm>
            <a:off x="8376900" y="3086100"/>
            <a:ext cx="266700" cy="342900"/>
          </a:xfrm>
          <a:prstGeom prst="rect">
            <a:avLst/>
          </a:prstGeom>
          <a:noFill/>
          <a:ln w="0">
            <a:noFill/>
            <a:prstDash val="solid"/>
          </a:ln>
        </p:spPr>
        <p:txBody>
          <a:bodyPr wrap="square" lIns="0" tIns="0" rIns="0" bIns="0" anchor="t">
            <a:noAutofit/>
          </a:bodyPr>
          <a:lstStyle/>
          <a:p>
            <a:pPr algn="ctr">
              <a:buNone/>
              <a:defRPr sz="1650" b="1" i="0">
                <a:solidFill>
                  <a:srgbClr val="AAB5C1"/>
                </a:solidFill>
                <a:latin typeface="Arial"/>
                <a:ea typeface="Arial"/>
                <a:cs typeface="Arial"/>
              </a:defRPr>
            </a:pPr>
            <a:r>
              <a:rPr sz="2800" b="1" i="0">
                <a:solidFill>
                  <a:srgbClr val="AAB5C1"/>
                </a:solidFill>
                <a:latin typeface="Arial"/>
                <a:ea typeface="Arial"/>
                <a:cs typeface="Arial"/>
              </a:rPr>
              <a:t>-&gt;</a:t>
            </a:r>
          </a:p>
        </p:txBody>
      </p:sp>
      <p:sp>
        <p:nvSpPr>
          <p:cNvPr id="20" name="lr-output">
            <a:extLst>
              <a:ext uri="{FF2B5EF4-FFF2-40B4-BE49-F238E27FC236}">
                <a16:creationId xmlns:a16="http://schemas.microsoft.com/office/drawing/2014/main" id="{A3D7C116-7C04-45AF-92A6-F70FC9F51F5C}"/>
              </a:ext>
            </a:extLst>
          </p:cNvPr>
          <p:cNvSpPr>
            <a:spLocks noGrp="1"/>
          </p:cNvSpPr>
          <p:nvPr/>
        </p:nvSpPr>
        <p:spPr>
          <a:xfrm>
            <a:off x="533400" y="2400300"/>
            <a:ext cx="2286000" cy="1714500"/>
          </a:xfrm>
          <a:prstGeom prst="roundRect">
            <a:avLst>
              <a:gd name="adj" fmla="val 13333"/>
            </a:avLst>
          </a:prstGeom>
          <a:solidFill>
            <a:srgbClr val="F2F4F7"/>
          </a:solidFill>
          <a:ln w="9525">
            <a:solidFill>
              <a:srgbClr val="D6DDE5"/>
            </a:solidFill>
            <a:prstDash val="solid"/>
          </a:ln>
        </p:spPr>
        <p:txBody>
          <a:bodyPr/>
          <a:lstStyle/>
          <a:p>
            <a:endParaRPr/>
          </a:p>
        </p:txBody>
      </p:sp>
      <p:sp>
        <p:nvSpPr>
          <p:cNvPr id="21" name="lr-output-text">
            <a:extLst>
              <a:ext uri="{FF2B5EF4-FFF2-40B4-BE49-F238E27FC236}">
                <a16:creationId xmlns:a16="http://schemas.microsoft.com/office/drawing/2014/main" id="{8D6E3088-17DF-4264-BF9A-9253FCDC8BF9}"/>
              </a:ext>
            </a:extLst>
          </p:cNvPr>
          <p:cNvSpPr>
            <a:spLocks noGrp="1"/>
          </p:cNvSpPr>
          <p:nvPr/>
        </p:nvSpPr>
        <p:spPr>
          <a:xfrm>
            <a:off x="628650" y="2628900"/>
            <a:ext cx="2095500" cy="1333500"/>
          </a:xfrm>
          <a:prstGeom prst="rect">
            <a:avLst/>
          </a:prstGeom>
          <a:noFill/>
          <a:ln w="0">
            <a:noFill/>
            <a:prstDash val="solid"/>
          </a:ln>
        </p:spPr>
        <p:txBody>
          <a:bodyPr wrap="square" lIns="0" tIns="0" rIns="0" bIns="0" anchor="ctr">
            <a:noAutofit/>
          </a:bodyPr>
          <a:lstStyle/>
          <a:p>
            <a:pPr algn="ctr">
              <a:buNone/>
              <a:defRPr sz="1200" b="1" i="0">
                <a:solidFill>
                  <a:srgbClr val="D95757"/>
                </a:solidFill>
                <a:latin typeface="Arial"/>
                <a:ea typeface="Arial"/>
                <a:cs typeface="Arial"/>
              </a:defRPr>
            </a:pPr>
            <a:r>
              <a:rPr sz="2200" b="1" i="0">
                <a:solidFill>
                  <a:srgbClr val="D95757"/>
                </a:solidFill>
                <a:latin typeface="Arial"/>
                <a:ea typeface="Arial"/>
                <a:cs typeface="Arial"/>
              </a:rPr>
              <a:t>LR</a:t>
            </a:r>
          </a:p>
          <a:p>
            <a:pPr algn="ctr">
              <a:buNone/>
              <a:defRPr sz="1200" b="1" i="0">
                <a:solidFill>
                  <a:srgbClr val="D95757"/>
                </a:solidFill>
                <a:latin typeface="Arial"/>
                <a:ea typeface="Arial"/>
                <a:cs typeface="Arial"/>
              </a:defRPr>
            </a:pPr>
            <a:r>
              <a:rPr sz="2200" b="1" i="0">
                <a:solidFill>
                  <a:srgbClr val="D95757"/>
                </a:solidFill>
                <a:latin typeface="Arial"/>
                <a:ea typeface="Arial"/>
                <a:cs typeface="Arial"/>
              </a:rPr>
              <a:t>100%</a:t>
            </a:r>
          </a:p>
          <a:p>
            <a:pPr algn="ctr"/>
            <a:r>
              <a:rPr sz="2200" b="1" i="0">
                <a:solidFill>
                  <a:srgbClr val="D95757"/>
                </a:solidFill>
                <a:latin typeface="Arial"/>
              </a:rPr>
              <a:t>BLOCK</a:t>
            </a:r>
          </a:p>
        </p:txBody>
      </p:sp>
      <p:sp>
        <p:nvSpPr>
          <p:cNvPr id="22" name="rf-output">
            <a:extLst>
              <a:ext uri="{FF2B5EF4-FFF2-40B4-BE49-F238E27FC236}">
                <a16:creationId xmlns:a16="http://schemas.microsoft.com/office/drawing/2014/main" id="{570BE73D-CCED-49A1-A969-A3A711FDCB54}"/>
              </a:ext>
            </a:extLst>
          </p:cNvPr>
          <p:cNvSpPr>
            <a:spLocks noGrp="1"/>
          </p:cNvSpPr>
          <p:nvPr/>
        </p:nvSpPr>
        <p:spPr>
          <a:xfrm>
            <a:off x="3238500" y="2400300"/>
            <a:ext cx="2286000" cy="1714500"/>
          </a:xfrm>
          <a:prstGeom prst="roundRect">
            <a:avLst>
              <a:gd name="adj" fmla="val 13333"/>
            </a:avLst>
          </a:prstGeom>
          <a:solidFill>
            <a:srgbClr val="F2F4F7"/>
          </a:solidFill>
          <a:ln w="9525">
            <a:solidFill>
              <a:srgbClr val="D6DDE5"/>
            </a:solidFill>
            <a:prstDash val="solid"/>
          </a:ln>
        </p:spPr>
        <p:txBody>
          <a:bodyPr/>
          <a:lstStyle/>
          <a:p>
            <a:endParaRPr/>
          </a:p>
        </p:txBody>
      </p:sp>
      <p:sp>
        <p:nvSpPr>
          <p:cNvPr id="23" name="rf-output-text">
            <a:extLst>
              <a:ext uri="{FF2B5EF4-FFF2-40B4-BE49-F238E27FC236}">
                <a16:creationId xmlns:a16="http://schemas.microsoft.com/office/drawing/2014/main" id="{2521188B-43EF-4373-94DA-76408A4571A5}"/>
              </a:ext>
            </a:extLst>
          </p:cNvPr>
          <p:cNvSpPr>
            <a:spLocks noGrp="1"/>
          </p:cNvSpPr>
          <p:nvPr/>
        </p:nvSpPr>
        <p:spPr>
          <a:xfrm>
            <a:off x="3333750" y="2628900"/>
            <a:ext cx="2095500" cy="1333500"/>
          </a:xfrm>
          <a:prstGeom prst="rect">
            <a:avLst/>
          </a:prstGeom>
          <a:noFill/>
          <a:ln w="0">
            <a:noFill/>
            <a:prstDash val="solid"/>
          </a:ln>
        </p:spPr>
        <p:txBody>
          <a:bodyPr wrap="square" lIns="0" tIns="0" rIns="0" bIns="0" anchor="ctr">
            <a:noAutofit/>
          </a:bodyPr>
          <a:lstStyle/>
          <a:p>
            <a:pPr algn="ctr">
              <a:buNone/>
              <a:defRPr sz="1200" b="1" i="0">
                <a:solidFill>
                  <a:srgbClr val="279A73"/>
                </a:solidFill>
                <a:latin typeface="Arial"/>
                <a:ea typeface="Arial"/>
                <a:cs typeface="Arial"/>
              </a:defRPr>
            </a:pPr>
            <a:r>
              <a:rPr sz="2200" b="1" i="0">
                <a:solidFill>
                  <a:srgbClr val="279A73"/>
                </a:solidFill>
                <a:latin typeface="Arial"/>
                <a:ea typeface="Arial"/>
                <a:cs typeface="Arial"/>
              </a:rPr>
              <a:t>RF</a:t>
            </a:r>
          </a:p>
          <a:p>
            <a:pPr algn="ctr">
              <a:buNone/>
              <a:defRPr sz="1200" b="1" i="0">
                <a:solidFill>
                  <a:srgbClr val="279A73"/>
                </a:solidFill>
                <a:latin typeface="Arial"/>
                <a:ea typeface="Arial"/>
                <a:cs typeface="Arial"/>
              </a:defRPr>
            </a:pPr>
            <a:r>
              <a:rPr sz="2200" b="1" i="0">
                <a:solidFill>
                  <a:srgbClr val="279A73"/>
                </a:solidFill>
                <a:latin typeface="Arial"/>
                <a:ea typeface="Arial"/>
                <a:cs typeface="Arial"/>
              </a:rPr>
              <a:t>9%</a:t>
            </a:r>
          </a:p>
          <a:p>
            <a:pPr algn="ctr"/>
            <a:r>
              <a:rPr sz="2200" b="1" i="0">
                <a:solidFill>
                  <a:srgbClr val="279A73"/>
                </a:solidFill>
                <a:latin typeface="Arial"/>
              </a:rPr>
              <a:t>APPROVE</a:t>
            </a:r>
          </a:p>
        </p:txBody>
      </p:sp>
      <p:sp>
        <p:nvSpPr>
          <p:cNvPr id="24" name="xgb-output">
            <a:extLst>
              <a:ext uri="{FF2B5EF4-FFF2-40B4-BE49-F238E27FC236}">
                <a16:creationId xmlns:a16="http://schemas.microsoft.com/office/drawing/2014/main" id="{1DA786F0-2860-4ADE-8DAB-93CEA7590555}"/>
              </a:ext>
            </a:extLst>
          </p:cNvPr>
          <p:cNvSpPr>
            <a:spLocks noGrp="1"/>
          </p:cNvSpPr>
          <p:nvPr/>
        </p:nvSpPr>
        <p:spPr>
          <a:xfrm>
            <a:off x="5943600" y="2400300"/>
            <a:ext cx="2286000" cy="1714500"/>
          </a:xfrm>
          <a:prstGeom prst="roundRect">
            <a:avLst>
              <a:gd name="adj" fmla="val 13333"/>
            </a:avLst>
          </a:prstGeom>
          <a:solidFill>
            <a:srgbClr val="F2F4F7"/>
          </a:solidFill>
          <a:ln w="9525">
            <a:solidFill>
              <a:srgbClr val="D6DDE5"/>
            </a:solidFill>
            <a:prstDash val="solid"/>
          </a:ln>
        </p:spPr>
        <p:txBody>
          <a:bodyPr/>
          <a:lstStyle/>
          <a:p>
            <a:endParaRPr/>
          </a:p>
        </p:txBody>
      </p:sp>
      <p:sp>
        <p:nvSpPr>
          <p:cNvPr id="25" name="xgb-output-text">
            <a:extLst>
              <a:ext uri="{FF2B5EF4-FFF2-40B4-BE49-F238E27FC236}">
                <a16:creationId xmlns:a16="http://schemas.microsoft.com/office/drawing/2014/main" id="{1DEFECE1-755A-464E-8939-FAB9C67ED010}"/>
              </a:ext>
            </a:extLst>
          </p:cNvPr>
          <p:cNvSpPr>
            <a:spLocks noGrp="1"/>
          </p:cNvSpPr>
          <p:nvPr/>
        </p:nvSpPr>
        <p:spPr>
          <a:xfrm>
            <a:off x="6038850" y="2628900"/>
            <a:ext cx="2095500" cy="1333500"/>
          </a:xfrm>
          <a:prstGeom prst="rect">
            <a:avLst/>
          </a:prstGeom>
          <a:noFill/>
          <a:ln w="0">
            <a:noFill/>
            <a:prstDash val="solid"/>
          </a:ln>
        </p:spPr>
        <p:txBody>
          <a:bodyPr wrap="square" lIns="0" tIns="0" rIns="0" bIns="0" anchor="ctr">
            <a:noAutofit/>
          </a:bodyPr>
          <a:lstStyle/>
          <a:p>
            <a:pPr algn="ctr">
              <a:buNone/>
              <a:defRPr sz="1200" b="1" i="0">
                <a:solidFill>
                  <a:srgbClr val="279A73"/>
                </a:solidFill>
                <a:latin typeface="Arial"/>
                <a:ea typeface="Arial"/>
                <a:cs typeface="Arial"/>
              </a:defRPr>
            </a:pPr>
            <a:r>
              <a:rPr sz="2200" b="1" i="0">
                <a:solidFill>
                  <a:srgbClr val="279A73"/>
                </a:solidFill>
                <a:latin typeface="Arial"/>
                <a:ea typeface="Arial"/>
                <a:cs typeface="Arial"/>
              </a:rPr>
              <a:t>XGB</a:t>
            </a:r>
          </a:p>
          <a:p>
            <a:pPr algn="ctr">
              <a:buNone/>
              <a:defRPr sz="1200" b="1" i="0">
                <a:solidFill>
                  <a:srgbClr val="279A73"/>
                </a:solidFill>
                <a:latin typeface="Arial"/>
                <a:ea typeface="Arial"/>
                <a:cs typeface="Arial"/>
              </a:defRPr>
            </a:pPr>
            <a:r>
              <a:rPr sz="2200" b="1" i="0">
                <a:solidFill>
                  <a:srgbClr val="279A73"/>
                </a:solidFill>
                <a:latin typeface="Arial"/>
                <a:ea typeface="Arial"/>
                <a:cs typeface="Arial"/>
              </a:rPr>
              <a:t>0%</a:t>
            </a:r>
          </a:p>
          <a:p>
            <a:pPr algn="ctr"/>
            <a:r>
              <a:rPr sz="2200" b="1" i="0">
                <a:solidFill>
                  <a:srgbClr val="279A73"/>
                </a:solidFill>
                <a:latin typeface="Arial"/>
              </a:rPr>
              <a:t>APPROVE</a:t>
            </a:r>
          </a:p>
        </p:txBody>
      </p:sp>
      <p:sp>
        <p:nvSpPr>
          <p:cNvPr id="26" name="ensemble-output">
            <a:extLst>
              <a:ext uri="{FF2B5EF4-FFF2-40B4-BE49-F238E27FC236}">
                <a16:creationId xmlns:a16="http://schemas.microsoft.com/office/drawing/2014/main" id="{E5B818BC-1D79-41C4-BC23-F7ECB726C35C}"/>
              </a:ext>
            </a:extLst>
          </p:cNvPr>
          <p:cNvSpPr>
            <a:spLocks noGrp="1"/>
          </p:cNvSpPr>
          <p:nvPr/>
        </p:nvSpPr>
        <p:spPr>
          <a:xfrm>
            <a:off x="8648700" y="2400300"/>
            <a:ext cx="2286000" cy="1714500"/>
          </a:xfrm>
          <a:prstGeom prst="roundRect">
            <a:avLst>
              <a:gd name="adj" fmla="val 10000"/>
            </a:avLst>
          </a:prstGeom>
          <a:solidFill>
            <a:srgbClr val="3D8DFF"/>
          </a:solidFill>
          <a:ln w="9525">
            <a:solidFill>
              <a:srgbClr val="3D8DFF"/>
            </a:solidFill>
            <a:prstDash val="solid"/>
          </a:ln>
        </p:spPr>
        <p:txBody>
          <a:bodyPr/>
          <a:lstStyle/>
          <a:p>
            <a:endParaRPr/>
          </a:p>
        </p:txBody>
      </p:sp>
      <p:sp>
        <p:nvSpPr>
          <p:cNvPr id="27" name="ensemble-output-text">
            <a:extLst>
              <a:ext uri="{FF2B5EF4-FFF2-40B4-BE49-F238E27FC236}">
                <a16:creationId xmlns:a16="http://schemas.microsoft.com/office/drawing/2014/main" id="{01D7028A-8AB0-4C84-B4CA-6BEF29E10159}"/>
              </a:ext>
            </a:extLst>
          </p:cNvPr>
          <p:cNvSpPr>
            <a:spLocks noGrp="1"/>
          </p:cNvSpPr>
          <p:nvPr/>
        </p:nvSpPr>
        <p:spPr>
          <a:xfrm>
            <a:off x="8743950" y="2628900"/>
            <a:ext cx="2095500" cy="1333500"/>
          </a:xfrm>
          <a:prstGeom prst="rect">
            <a:avLst/>
          </a:prstGeom>
          <a:noFill/>
          <a:ln w="0">
            <a:noFill/>
            <a:prstDash val="solid"/>
          </a:ln>
        </p:spPr>
        <p:txBody>
          <a:bodyPr wrap="square" lIns="0" tIns="0" rIns="0" bIns="0" anchor="ctr">
            <a:noAutofit/>
          </a:bodyPr>
          <a:lstStyle/>
          <a:p>
            <a:pPr algn="ctr">
              <a:buNone/>
              <a:defRPr sz="1350" b="1" i="0">
                <a:solidFill>
                  <a:srgbClr val="FFFFFF"/>
                </a:solidFill>
                <a:latin typeface="Arial"/>
                <a:ea typeface="Arial"/>
                <a:cs typeface="Arial"/>
              </a:defRPr>
            </a:pPr>
            <a:r>
              <a:rPr sz="2200" b="1" i="0" dirty="0">
                <a:solidFill>
                  <a:srgbClr val="FFFFFF"/>
                </a:solidFill>
                <a:latin typeface="Arial"/>
                <a:ea typeface="Arial"/>
                <a:cs typeface="Arial"/>
              </a:rPr>
              <a:t>FINAL</a:t>
            </a:r>
          </a:p>
          <a:p>
            <a:pPr algn="ctr">
              <a:buNone/>
              <a:defRPr sz="1350" b="1" i="0">
                <a:solidFill>
                  <a:srgbClr val="FFFFFF"/>
                </a:solidFill>
                <a:latin typeface="Arial"/>
                <a:ea typeface="Arial"/>
                <a:cs typeface="Arial"/>
              </a:defRPr>
            </a:pPr>
            <a:r>
              <a:rPr sz="2200" b="1" i="0" dirty="0">
                <a:solidFill>
                  <a:srgbClr val="FFFFFF"/>
                </a:solidFill>
                <a:latin typeface="Arial"/>
                <a:ea typeface="Arial"/>
                <a:cs typeface="Arial"/>
              </a:rPr>
              <a:t>BLOCK</a:t>
            </a:r>
          </a:p>
        </p:txBody>
      </p:sp>
      <p:sp>
        <p:nvSpPr>
          <p:cNvPr id="28" name="ensemble-note">
            <a:extLst>
              <a:ext uri="{FF2B5EF4-FFF2-40B4-BE49-F238E27FC236}">
                <a16:creationId xmlns:a16="http://schemas.microsoft.com/office/drawing/2014/main" id="{BA67F656-7DC8-40C0-BF61-2186310EF4DC}"/>
              </a:ext>
            </a:extLst>
          </p:cNvPr>
          <p:cNvSpPr>
            <a:spLocks noGrp="1"/>
          </p:cNvSpPr>
          <p:nvPr/>
        </p:nvSpPr>
        <p:spPr>
          <a:xfrm>
            <a:off x="533400" y="4305300"/>
            <a:ext cx="11125200" cy="57150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This way we almost never miss fraud.</a:t>
            </a:r>
          </a:p>
          <a:p>
            <a:pPr algn="l"/>
            <a:r>
              <a:rPr sz="1050" b="0" i="0">
                <a:solidFill>
                  <a:srgbClr val="8190A0"/>
                </a:solidFill>
                <a:latin typeface="Arial"/>
              </a:rPr>
              <a:t>We also block some genuine payments. That is the cost of being careful.</a:t>
            </a:r>
          </a:p>
        </p:txBody>
      </p:sp>
      <p:sp>
        <p:nvSpPr>
          <p:cNvPr id="31" name="polish-title-rail-6">
            <a:extLst>
              <a:ext uri="{FF2B5EF4-FFF2-40B4-BE49-F238E27FC236}">
                <a16:creationId xmlns:a16="http://schemas.microsoft.com/office/drawing/2014/main" id="{326FBD84-FF14-4F9F-8238-A7B74370663C}"/>
              </a:ext>
            </a:extLst>
          </p:cNvPr>
          <p:cNvSpPr>
            <a:spLocks noGrp="1"/>
          </p:cNvSpPr>
          <p:nvPr/>
        </p:nvSpPr>
        <p:spPr>
          <a:xfrm>
            <a:off x="323850" y="762000"/>
            <a:ext cx="57150" cy="552450"/>
          </a:xfrm>
          <a:prstGeom prst="roundRect">
            <a:avLst>
              <a:gd name="adj" fmla="val 50000"/>
            </a:avLst>
          </a:prstGeom>
          <a:solidFill>
            <a:srgbClr val="5D58E9"/>
          </a:solidFill>
          <a:ln w="0">
            <a:noFill/>
            <a:prstDash val="solid"/>
          </a:ln>
        </p:spPr>
      </p:sp>
      <p:sp>
        <p:nvSpPr>
          <p:cNvPr id="32" name="polish-title-underline-6">
            <a:extLst>
              <a:ext uri="{FF2B5EF4-FFF2-40B4-BE49-F238E27FC236}">
                <a16:creationId xmlns:a16="http://schemas.microsoft.com/office/drawing/2014/main" id="{00EC219C-C8EF-461A-B26F-535B7B93306D}"/>
              </a:ext>
            </a:extLst>
          </p:cNvPr>
          <p:cNvSpPr>
            <a:spLocks noGrp="1"/>
          </p:cNvSpPr>
          <p:nvPr/>
        </p:nvSpPr>
        <p:spPr>
          <a:xfrm>
            <a:off x="533400" y="647700"/>
            <a:ext cx="876300" cy="28575"/>
          </a:xfrm>
          <a:prstGeom prst="roundRect">
            <a:avLst>
              <a:gd name="adj" fmla="val 50000"/>
            </a:avLst>
          </a:prstGeom>
          <a:solidFill>
            <a:srgbClr val="5D58E9"/>
          </a:solidFill>
          <a:ln w="0">
            <a:noFill/>
            <a:prstDash val="solid"/>
          </a:ln>
        </p:spPr>
      </p:sp>
      <p:sp>
        <p:nvSpPr>
          <p:cNvPr id="33" name="polish-progress-6-1">
            <a:extLst>
              <a:ext uri="{FF2B5EF4-FFF2-40B4-BE49-F238E27FC236}">
                <a16:creationId xmlns:a16="http://schemas.microsoft.com/office/drawing/2014/main" id="{28910833-3BA8-4FE0-AF3B-61AAB16DCE93}"/>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4" name="polish-progress-6-2">
            <a:extLst>
              <a:ext uri="{FF2B5EF4-FFF2-40B4-BE49-F238E27FC236}">
                <a16:creationId xmlns:a16="http://schemas.microsoft.com/office/drawing/2014/main" id="{DA3CD481-2093-44FD-9C72-BACFED804DEB}"/>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35" name="polish-progress-6-3">
            <a:extLst>
              <a:ext uri="{FF2B5EF4-FFF2-40B4-BE49-F238E27FC236}">
                <a16:creationId xmlns:a16="http://schemas.microsoft.com/office/drawing/2014/main" id="{7D6FF54F-FAA2-41DC-9AEC-2EE08EBCB8E6}"/>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6" name="polish-progress-6-4">
            <a:extLst>
              <a:ext uri="{FF2B5EF4-FFF2-40B4-BE49-F238E27FC236}">
                <a16:creationId xmlns:a16="http://schemas.microsoft.com/office/drawing/2014/main" id="{8363199A-31ED-4910-B013-D803829E2ADE}"/>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7" name="polish-progress-6-5">
            <a:extLst>
              <a:ext uri="{FF2B5EF4-FFF2-40B4-BE49-F238E27FC236}">
                <a16:creationId xmlns:a16="http://schemas.microsoft.com/office/drawing/2014/main" id="{2025FB37-9B5B-49A6-9180-D4350999DAA8}"/>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8" name="polish-progress-6-6">
            <a:extLst>
              <a:ext uri="{FF2B5EF4-FFF2-40B4-BE49-F238E27FC236}">
                <a16:creationId xmlns:a16="http://schemas.microsoft.com/office/drawing/2014/main" id="{5B7AD7DC-B332-458D-8F04-14467764B8CC}"/>
              </a:ext>
            </a:extLst>
          </p:cNvPr>
          <p:cNvSpPr>
            <a:spLocks noGrp="1"/>
          </p:cNvSpPr>
          <p:nvPr/>
        </p:nvSpPr>
        <p:spPr>
          <a:xfrm>
            <a:off x="6124575" y="6572250"/>
            <a:ext cx="152400" cy="28575"/>
          </a:xfrm>
          <a:prstGeom prst="roundRect">
            <a:avLst>
              <a:gd name="adj" fmla="val 50000"/>
            </a:avLst>
          </a:prstGeom>
          <a:solidFill>
            <a:srgbClr val="5D58E9"/>
          </a:solidFill>
          <a:ln w="0">
            <a:noFill/>
            <a:prstDash val="solid"/>
          </a:ln>
        </p:spPr>
      </p:sp>
      <p:sp>
        <p:nvSpPr>
          <p:cNvPr id="39" name="polish-progress-6-7">
            <a:extLst>
              <a:ext uri="{FF2B5EF4-FFF2-40B4-BE49-F238E27FC236}">
                <a16:creationId xmlns:a16="http://schemas.microsoft.com/office/drawing/2014/main" id="{A4A0DDE4-CA30-4845-A819-DA05D806733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40" name="polish-progress-6-8">
            <a:extLst>
              <a:ext uri="{FF2B5EF4-FFF2-40B4-BE49-F238E27FC236}">
                <a16:creationId xmlns:a16="http://schemas.microsoft.com/office/drawing/2014/main" id="{E4464191-05F2-40BC-8031-9F0FA5C2A9A9}"/>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1" name="polish-progress-6-9">
            <a:extLst>
              <a:ext uri="{FF2B5EF4-FFF2-40B4-BE49-F238E27FC236}">
                <a16:creationId xmlns:a16="http://schemas.microsoft.com/office/drawing/2014/main" id="{37AF3667-A606-4F14-9728-F89D57102A47}"/>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42" name="polish-progress-6-10">
            <a:extLst>
              <a:ext uri="{FF2B5EF4-FFF2-40B4-BE49-F238E27FC236}">
                <a16:creationId xmlns:a16="http://schemas.microsoft.com/office/drawing/2014/main" id="{E695C746-79BD-4C75-80FB-D2DABDF0A81A}"/>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Tree>
    <p:extLst>
      <p:ext uri="{BB962C8B-B14F-4D97-AF65-F5344CB8AC3E}">
        <p14:creationId xmlns:p14="http://schemas.microsoft.com/office/powerpoint/2010/main" val="1545712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38" name="rule">
            <a:extLst>
              <a:ext uri="{FF2B5EF4-FFF2-40B4-BE49-F238E27FC236}">
                <a16:creationId xmlns:a16="http://schemas.microsoft.com/office/drawing/2014/main" id="{15E52F42-A4E3-48D8-8F65-9A91CBFA8490}"/>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7A349539-CAD1-46A2-97BF-483AC0252BA1}"/>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HOW IT WORKS</a:t>
            </a:r>
          </a:p>
        </p:txBody>
      </p:sp>
      <p:sp>
        <p:nvSpPr>
          <p:cNvPr id="3" name="page-number">
            <a:extLst>
              <a:ext uri="{FF2B5EF4-FFF2-40B4-BE49-F238E27FC236}">
                <a16:creationId xmlns:a16="http://schemas.microsoft.com/office/drawing/2014/main" id="{CC9003C2-9D70-493F-8D80-7A7B0E64C919}"/>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07</a:t>
            </a:r>
          </a:p>
        </p:txBody>
      </p:sp>
      <p:sp>
        <p:nvSpPr>
          <p:cNvPr id="4" name="slide-title">
            <a:extLst>
              <a:ext uri="{FF2B5EF4-FFF2-40B4-BE49-F238E27FC236}">
                <a16:creationId xmlns:a16="http://schemas.microsoft.com/office/drawing/2014/main" id="{96AD54A2-F101-4EE3-A11A-64D527C961E1}"/>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What happens to one payment</a:t>
            </a:r>
          </a:p>
        </p:txBody>
      </p:sp>
      <p:sp>
        <p:nvSpPr>
          <p:cNvPr id="5" name="slide-subtitle">
            <a:extLst>
              <a:ext uri="{FF2B5EF4-FFF2-40B4-BE49-F238E27FC236}">
                <a16:creationId xmlns:a16="http://schemas.microsoft.com/office/drawing/2014/main" id="{8E9C0564-5434-48BA-9DE7-6B87822E8F2E}"/>
              </a:ext>
            </a:extLst>
          </p:cNvPr>
          <p:cNvSpPr>
            <a:spLocks noGrp="1"/>
          </p:cNvSpPr>
          <p:nvPr/>
        </p:nvSpPr>
        <p:spPr>
          <a:xfrm>
            <a:off x="533400" y="1295400"/>
            <a:ext cx="11049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From the form to a decision a person can check.</a:t>
            </a:r>
          </a:p>
        </p:txBody>
      </p:sp>
      <p:sp>
        <p:nvSpPr>
          <p:cNvPr id="6" name="flow-connector-1">
            <a:extLst>
              <a:ext uri="{FF2B5EF4-FFF2-40B4-BE49-F238E27FC236}">
                <a16:creationId xmlns:a16="http://schemas.microsoft.com/office/drawing/2014/main" id="{A1390183-D1EB-483F-BB75-69FA6EC038A8}"/>
              </a:ext>
            </a:extLst>
          </p:cNvPr>
          <p:cNvSpPr>
            <a:spLocks noGrp="1"/>
          </p:cNvSpPr>
          <p:nvPr/>
        </p:nvSpPr>
        <p:spPr>
          <a:xfrm>
            <a:off x="2438400" y="3248025"/>
            <a:ext cx="342900" cy="0"/>
          </a:xfrm>
          <a:prstGeom prst="line">
            <a:avLst/>
          </a:prstGeom>
          <a:noFill/>
          <a:ln w="19050">
            <a:solidFill>
              <a:srgbClr val="AAB5C1"/>
            </a:solidFill>
            <a:prstDash val="solid"/>
          </a:ln>
        </p:spPr>
        <p:txBody>
          <a:bodyPr/>
          <a:lstStyle/>
          <a:p>
            <a:endParaRPr/>
          </a:p>
        </p:txBody>
      </p:sp>
      <p:sp>
        <p:nvSpPr>
          <p:cNvPr id="7" name="flow-connector-2">
            <a:extLst>
              <a:ext uri="{FF2B5EF4-FFF2-40B4-BE49-F238E27FC236}">
                <a16:creationId xmlns:a16="http://schemas.microsoft.com/office/drawing/2014/main" id="{D0D0B222-1418-44BB-BF66-3043748BC4FF}"/>
              </a:ext>
            </a:extLst>
          </p:cNvPr>
          <p:cNvSpPr>
            <a:spLocks noGrp="1"/>
          </p:cNvSpPr>
          <p:nvPr/>
        </p:nvSpPr>
        <p:spPr>
          <a:xfrm>
            <a:off x="4686300" y="3248025"/>
            <a:ext cx="342900" cy="0"/>
          </a:xfrm>
          <a:prstGeom prst="line">
            <a:avLst/>
          </a:prstGeom>
          <a:noFill/>
          <a:ln w="19050">
            <a:solidFill>
              <a:srgbClr val="AAB5C1"/>
            </a:solidFill>
            <a:prstDash val="solid"/>
          </a:ln>
        </p:spPr>
        <p:txBody>
          <a:bodyPr/>
          <a:lstStyle/>
          <a:p>
            <a:endParaRPr/>
          </a:p>
        </p:txBody>
      </p:sp>
      <p:sp>
        <p:nvSpPr>
          <p:cNvPr id="8" name="flow-connector-3">
            <a:extLst>
              <a:ext uri="{FF2B5EF4-FFF2-40B4-BE49-F238E27FC236}">
                <a16:creationId xmlns:a16="http://schemas.microsoft.com/office/drawing/2014/main" id="{2B480C99-77F5-4C62-B618-87C0E646C473}"/>
              </a:ext>
            </a:extLst>
          </p:cNvPr>
          <p:cNvSpPr>
            <a:spLocks noGrp="1"/>
          </p:cNvSpPr>
          <p:nvPr/>
        </p:nvSpPr>
        <p:spPr>
          <a:xfrm>
            <a:off x="6934200" y="3248025"/>
            <a:ext cx="342900" cy="0"/>
          </a:xfrm>
          <a:prstGeom prst="line">
            <a:avLst/>
          </a:prstGeom>
          <a:noFill/>
          <a:ln w="19050">
            <a:solidFill>
              <a:srgbClr val="AAB5C1"/>
            </a:solidFill>
            <a:prstDash val="solid"/>
          </a:ln>
        </p:spPr>
        <p:txBody>
          <a:bodyPr/>
          <a:lstStyle/>
          <a:p>
            <a:endParaRPr/>
          </a:p>
        </p:txBody>
      </p:sp>
      <p:sp>
        <p:nvSpPr>
          <p:cNvPr id="9" name="flow-connector-4">
            <a:extLst>
              <a:ext uri="{FF2B5EF4-FFF2-40B4-BE49-F238E27FC236}">
                <a16:creationId xmlns:a16="http://schemas.microsoft.com/office/drawing/2014/main" id="{37948994-C2A3-4DB2-BBF0-3D03FD9212E3}"/>
              </a:ext>
            </a:extLst>
          </p:cNvPr>
          <p:cNvSpPr>
            <a:spLocks noGrp="1"/>
          </p:cNvSpPr>
          <p:nvPr/>
        </p:nvSpPr>
        <p:spPr>
          <a:xfrm>
            <a:off x="9182100" y="3248025"/>
            <a:ext cx="342900" cy="0"/>
          </a:xfrm>
          <a:prstGeom prst="line">
            <a:avLst/>
          </a:prstGeom>
          <a:noFill/>
          <a:ln w="19050">
            <a:solidFill>
              <a:srgbClr val="AAB5C1"/>
            </a:solidFill>
            <a:prstDash val="solid"/>
          </a:ln>
        </p:spPr>
        <p:txBody>
          <a:bodyPr/>
          <a:lstStyle/>
          <a:p>
            <a:endParaRPr/>
          </a:p>
        </p:txBody>
      </p:sp>
      <p:sp>
        <p:nvSpPr>
          <p:cNvPr id="10" name="flow-card-1">
            <a:extLst>
              <a:ext uri="{FF2B5EF4-FFF2-40B4-BE49-F238E27FC236}">
                <a16:creationId xmlns:a16="http://schemas.microsoft.com/office/drawing/2014/main" id="{665C3060-BC37-4830-B6F3-1A9F876A731F}"/>
              </a:ext>
            </a:extLst>
          </p:cNvPr>
          <p:cNvSpPr>
            <a:spLocks noGrp="1"/>
          </p:cNvSpPr>
          <p:nvPr/>
        </p:nvSpPr>
        <p:spPr>
          <a:xfrm>
            <a:off x="533400" y="2381250"/>
            <a:ext cx="1905000" cy="1733550"/>
          </a:xfrm>
          <a:prstGeom prst="roundRect">
            <a:avLst>
              <a:gd name="adj" fmla="val 6593"/>
            </a:avLst>
          </a:prstGeom>
          <a:solidFill>
            <a:srgbClr val="F2F4F7"/>
          </a:solidFill>
          <a:ln w="9525">
            <a:solidFill>
              <a:srgbClr val="D6DDE5"/>
            </a:solidFill>
            <a:prstDash val="solid"/>
          </a:ln>
        </p:spPr>
        <p:txBody>
          <a:bodyPr/>
          <a:lstStyle/>
          <a:p>
            <a:endParaRPr/>
          </a:p>
        </p:txBody>
      </p:sp>
      <p:sp>
        <p:nvSpPr>
          <p:cNvPr id="11" name="flow-step-1">
            <a:extLst>
              <a:ext uri="{FF2B5EF4-FFF2-40B4-BE49-F238E27FC236}">
                <a16:creationId xmlns:a16="http://schemas.microsoft.com/office/drawing/2014/main" id="{F5DEBC7A-EB00-447F-9562-8C6C1D857FD3}"/>
              </a:ext>
            </a:extLst>
          </p:cNvPr>
          <p:cNvSpPr>
            <a:spLocks noGrp="1"/>
          </p:cNvSpPr>
          <p:nvPr/>
        </p:nvSpPr>
        <p:spPr>
          <a:xfrm>
            <a:off x="723900" y="2571750"/>
            <a:ext cx="304800" cy="304800"/>
          </a:xfrm>
          <a:prstGeom prst="ellipse">
            <a:avLst/>
          </a:prstGeom>
          <a:solidFill>
            <a:srgbClr val="3D8DFF"/>
          </a:solidFill>
          <a:ln w="0">
            <a:noFill/>
            <a:prstDash val="solid"/>
          </a:ln>
        </p:spPr>
        <p:txBody>
          <a:bodyPr/>
          <a:lstStyle/>
          <a:p>
            <a:endParaRPr/>
          </a:p>
        </p:txBody>
      </p:sp>
      <p:sp>
        <p:nvSpPr>
          <p:cNvPr id="12" name="flow-number-1">
            <a:extLst>
              <a:ext uri="{FF2B5EF4-FFF2-40B4-BE49-F238E27FC236}">
                <a16:creationId xmlns:a16="http://schemas.microsoft.com/office/drawing/2014/main" id="{F689E22A-5579-4BD0-A437-046232FCBCFF}"/>
              </a:ext>
            </a:extLst>
          </p:cNvPr>
          <p:cNvSpPr>
            <a:spLocks noGrp="1"/>
          </p:cNvSpPr>
          <p:nvPr/>
        </p:nvSpPr>
        <p:spPr>
          <a:xfrm>
            <a:off x="7239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3" name="flow-label-1">
            <a:extLst>
              <a:ext uri="{FF2B5EF4-FFF2-40B4-BE49-F238E27FC236}">
                <a16:creationId xmlns:a16="http://schemas.microsoft.com/office/drawing/2014/main" id="{C95C1F59-A583-43A1-94AE-E3723FE3693F}"/>
              </a:ext>
            </a:extLst>
          </p:cNvPr>
          <p:cNvSpPr>
            <a:spLocks noGrp="1"/>
          </p:cNvSpPr>
          <p:nvPr/>
        </p:nvSpPr>
        <p:spPr>
          <a:xfrm>
            <a:off x="11620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3D8DFF"/>
                </a:solidFill>
                <a:latin typeface="Arial"/>
                <a:ea typeface="Arial"/>
                <a:cs typeface="Arial"/>
              </a:defRPr>
            </a:pPr>
            <a:r>
              <a:rPr sz="975" b="1" i="0">
                <a:solidFill>
                  <a:srgbClr val="3D8DFF"/>
                </a:solidFill>
                <a:latin typeface="Arial"/>
                <a:ea typeface="Arial"/>
                <a:cs typeface="Arial"/>
              </a:rPr>
              <a:t>CAPTURE</a:t>
            </a:r>
          </a:p>
        </p:txBody>
      </p:sp>
      <p:sp>
        <p:nvSpPr>
          <p:cNvPr id="14" name="flow-body-1">
            <a:extLst>
              <a:ext uri="{FF2B5EF4-FFF2-40B4-BE49-F238E27FC236}">
                <a16:creationId xmlns:a16="http://schemas.microsoft.com/office/drawing/2014/main" id="{CBCAE38D-D2BB-43E4-824B-48A67BABE80F}"/>
              </a:ext>
            </a:extLst>
          </p:cNvPr>
          <p:cNvSpPr>
            <a:spLocks noGrp="1"/>
          </p:cNvSpPr>
          <p:nvPr/>
        </p:nvSpPr>
        <p:spPr>
          <a:xfrm>
            <a:off x="7239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Amount, time,</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place, shop type</a:t>
            </a:r>
          </a:p>
        </p:txBody>
      </p:sp>
      <p:sp>
        <p:nvSpPr>
          <p:cNvPr id="15" name="flow-card-2">
            <a:extLst>
              <a:ext uri="{FF2B5EF4-FFF2-40B4-BE49-F238E27FC236}">
                <a16:creationId xmlns:a16="http://schemas.microsoft.com/office/drawing/2014/main" id="{B4E30D23-3450-4D1E-BD5F-2E891B914863}"/>
              </a:ext>
            </a:extLst>
          </p:cNvPr>
          <p:cNvSpPr>
            <a:spLocks noGrp="1"/>
          </p:cNvSpPr>
          <p:nvPr/>
        </p:nvSpPr>
        <p:spPr>
          <a:xfrm>
            <a:off x="2781300" y="2381250"/>
            <a:ext cx="1905000" cy="1733550"/>
          </a:xfrm>
          <a:prstGeom prst="roundRect">
            <a:avLst>
              <a:gd name="adj" fmla="val 6593"/>
            </a:avLst>
          </a:prstGeom>
          <a:solidFill>
            <a:srgbClr val="F2F4F7"/>
          </a:solidFill>
          <a:ln w="9525">
            <a:solidFill>
              <a:srgbClr val="D6DDE5"/>
            </a:solidFill>
            <a:prstDash val="solid"/>
          </a:ln>
        </p:spPr>
        <p:txBody>
          <a:bodyPr/>
          <a:lstStyle/>
          <a:p>
            <a:endParaRPr/>
          </a:p>
        </p:txBody>
      </p:sp>
      <p:sp>
        <p:nvSpPr>
          <p:cNvPr id="16" name="flow-step-2">
            <a:extLst>
              <a:ext uri="{FF2B5EF4-FFF2-40B4-BE49-F238E27FC236}">
                <a16:creationId xmlns:a16="http://schemas.microsoft.com/office/drawing/2014/main" id="{3427C0D8-8178-4BA4-B131-41D0B3EBBB2A}"/>
              </a:ext>
            </a:extLst>
          </p:cNvPr>
          <p:cNvSpPr>
            <a:spLocks noGrp="1"/>
          </p:cNvSpPr>
          <p:nvPr/>
        </p:nvSpPr>
        <p:spPr>
          <a:xfrm>
            <a:off x="2971800" y="2571750"/>
            <a:ext cx="304800" cy="304800"/>
          </a:xfrm>
          <a:prstGeom prst="ellipse">
            <a:avLst/>
          </a:prstGeom>
          <a:solidFill>
            <a:srgbClr val="5D58E9"/>
          </a:solidFill>
          <a:ln w="0">
            <a:noFill/>
            <a:prstDash val="solid"/>
          </a:ln>
        </p:spPr>
        <p:txBody>
          <a:bodyPr/>
          <a:lstStyle/>
          <a:p>
            <a:endParaRPr/>
          </a:p>
        </p:txBody>
      </p:sp>
      <p:sp>
        <p:nvSpPr>
          <p:cNvPr id="17" name="flow-number-2">
            <a:extLst>
              <a:ext uri="{FF2B5EF4-FFF2-40B4-BE49-F238E27FC236}">
                <a16:creationId xmlns:a16="http://schemas.microsoft.com/office/drawing/2014/main" id="{8E9FCDF5-FFC5-4FB4-B12C-FAD6EDA3AB20}"/>
              </a:ext>
            </a:extLst>
          </p:cNvPr>
          <p:cNvSpPr>
            <a:spLocks noGrp="1"/>
          </p:cNvSpPr>
          <p:nvPr/>
        </p:nvSpPr>
        <p:spPr>
          <a:xfrm>
            <a:off x="29718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8" name="flow-label-2">
            <a:extLst>
              <a:ext uri="{FF2B5EF4-FFF2-40B4-BE49-F238E27FC236}">
                <a16:creationId xmlns:a16="http://schemas.microsoft.com/office/drawing/2014/main" id="{A08BDB4A-2A18-4941-A71C-70EB5A386AA0}"/>
              </a:ext>
            </a:extLst>
          </p:cNvPr>
          <p:cNvSpPr>
            <a:spLocks noGrp="1"/>
          </p:cNvSpPr>
          <p:nvPr/>
        </p:nvSpPr>
        <p:spPr>
          <a:xfrm>
            <a:off x="34099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5D58E9"/>
                </a:solidFill>
                <a:latin typeface="Arial"/>
                <a:ea typeface="Arial"/>
                <a:cs typeface="Arial"/>
              </a:defRPr>
            </a:pPr>
            <a:r>
              <a:rPr sz="975" b="1" i="0">
                <a:solidFill>
                  <a:srgbClr val="5D58E9"/>
                </a:solidFill>
                <a:latin typeface="Arial"/>
                <a:ea typeface="Arial"/>
                <a:cs typeface="Arial"/>
              </a:rPr>
              <a:t>ENGINEER</a:t>
            </a:r>
          </a:p>
        </p:txBody>
      </p:sp>
      <p:sp>
        <p:nvSpPr>
          <p:cNvPr id="19" name="flow-body-2">
            <a:extLst>
              <a:ext uri="{FF2B5EF4-FFF2-40B4-BE49-F238E27FC236}">
                <a16:creationId xmlns:a16="http://schemas.microsoft.com/office/drawing/2014/main" id="{24876703-F7F0-49F4-9637-08043D79EC15}"/>
              </a:ext>
            </a:extLst>
          </p:cNvPr>
          <p:cNvSpPr>
            <a:spLocks noGrp="1"/>
          </p:cNvSpPr>
          <p:nvPr/>
        </p:nvSpPr>
        <p:spPr>
          <a:xfrm>
            <a:off x="29718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Add distance</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and how unusual the amount is</a:t>
            </a:r>
          </a:p>
        </p:txBody>
      </p:sp>
      <p:sp>
        <p:nvSpPr>
          <p:cNvPr id="20" name="flow-card-3">
            <a:extLst>
              <a:ext uri="{FF2B5EF4-FFF2-40B4-BE49-F238E27FC236}">
                <a16:creationId xmlns:a16="http://schemas.microsoft.com/office/drawing/2014/main" id="{B7842F4E-ADB5-452C-ACD0-EF5C32732247}"/>
              </a:ext>
            </a:extLst>
          </p:cNvPr>
          <p:cNvSpPr>
            <a:spLocks noGrp="1"/>
          </p:cNvSpPr>
          <p:nvPr/>
        </p:nvSpPr>
        <p:spPr>
          <a:xfrm>
            <a:off x="5029200" y="2381250"/>
            <a:ext cx="1905000" cy="1733550"/>
          </a:xfrm>
          <a:prstGeom prst="roundRect">
            <a:avLst>
              <a:gd name="adj" fmla="val 6593"/>
            </a:avLst>
          </a:prstGeom>
          <a:solidFill>
            <a:srgbClr val="F2F4F7"/>
          </a:solidFill>
          <a:ln w="9525">
            <a:solidFill>
              <a:srgbClr val="D6DDE5"/>
            </a:solidFill>
            <a:prstDash val="solid"/>
          </a:ln>
        </p:spPr>
        <p:txBody>
          <a:bodyPr/>
          <a:lstStyle/>
          <a:p>
            <a:endParaRPr/>
          </a:p>
        </p:txBody>
      </p:sp>
      <p:sp>
        <p:nvSpPr>
          <p:cNvPr id="21" name="flow-step-3">
            <a:extLst>
              <a:ext uri="{FF2B5EF4-FFF2-40B4-BE49-F238E27FC236}">
                <a16:creationId xmlns:a16="http://schemas.microsoft.com/office/drawing/2014/main" id="{D8E04EF2-2090-4411-B223-1EDC4539AE84}"/>
              </a:ext>
            </a:extLst>
          </p:cNvPr>
          <p:cNvSpPr>
            <a:spLocks noGrp="1"/>
          </p:cNvSpPr>
          <p:nvPr/>
        </p:nvSpPr>
        <p:spPr>
          <a:xfrm>
            <a:off x="5219700" y="2571750"/>
            <a:ext cx="304800" cy="304800"/>
          </a:xfrm>
          <a:prstGeom prst="ellipse">
            <a:avLst/>
          </a:prstGeom>
          <a:solidFill>
            <a:srgbClr val="6DCBF4"/>
          </a:solidFill>
          <a:ln w="0">
            <a:noFill/>
            <a:prstDash val="solid"/>
          </a:ln>
        </p:spPr>
        <p:txBody>
          <a:bodyPr/>
          <a:lstStyle/>
          <a:p>
            <a:endParaRPr/>
          </a:p>
        </p:txBody>
      </p:sp>
      <p:sp>
        <p:nvSpPr>
          <p:cNvPr id="22" name="flow-number-3">
            <a:extLst>
              <a:ext uri="{FF2B5EF4-FFF2-40B4-BE49-F238E27FC236}">
                <a16:creationId xmlns:a16="http://schemas.microsoft.com/office/drawing/2014/main" id="{3DBE668D-6DCC-4AFB-9957-581B2AAB29D1}"/>
              </a:ext>
            </a:extLst>
          </p:cNvPr>
          <p:cNvSpPr>
            <a:spLocks noGrp="1"/>
          </p:cNvSpPr>
          <p:nvPr/>
        </p:nvSpPr>
        <p:spPr>
          <a:xfrm>
            <a:off x="52197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flow-label-3">
            <a:extLst>
              <a:ext uri="{FF2B5EF4-FFF2-40B4-BE49-F238E27FC236}">
                <a16:creationId xmlns:a16="http://schemas.microsoft.com/office/drawing/2014/main" id="{C723ADF0-7E9B-437E-BDE4-E4DF45CC5A07}"/>
              </a:ext>
            </a:extLst>
          </p:cNvPr>
          <p:cNvSpPr>
            <a:spLocks noGrp="1"/>
          </p:cNvSpPr>
          <p:nvPr/>
        </p:nvSpPr>
        <p:spPr>
          <a:xfrm>
            <a:off x="56578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6DCBF4"/>
                </a:solidFill>
                <a:latin typeface="Arial"/>
                <a:ea typeface="Arial"/>
                <a:cs typeface="Arial"/>
              </a:defRPr>
            </a:pPr>
            <a:r>
              <a:rPr sz="975" b="1" i="0">
                <a:solidFill>
                  <a:srgbClr val="6DCBF4"/>
                </a:solidFill>
                <a:latin typeface="Arial"/>
                <a:ea typeface="Arial"/>
                <a:cs typeface="Arial"/>
              </a:rPr>
              <a:t>SCORE</a:t>
            </a:r>
          </a:p>
        </p:txBody>
      </p:sp>
      <p:sp>
        <p:nvSpPr>
          <p:cNvPr id="24" name="flow-body-3">
            <a:extLst>
              <a:ext uri="{FF2B5EF4-FFF2-40B4-BE49-F238E27FC236}">
                <a16:creationId xmlns:a16="http://schemas.microsoft.com/office/drawing/2014/main" id="{528E8BD5-0BF7-425B-8B6A-1755D4058E53}"/>
              </a:ext>
            </a:extLst>
          </p:cNvPr>
          <p:cNvSpPr>
            <a:spLocks noGrp="1"/>
          </p:cNvSpPr>
          <p:nvPr/>
        </p:nvSpPr>
        <p:spPr>
          <a:xfrm>
            <a:off x="52197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LR, RF, XGB</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each give a %</a:t>
            </a:r>
          </a:p>
        </p:txBody>
      </p:sp>
      <p:sp>
        <p:nvSpPr>
          <p:cNvPr id="25" name="flow-card-4">
            <a:extLst>
              <a:ext uri="{FF2B5EF4-FFF2-40B4-BE49-F238E27FC236}">
                <a16:creationId xmlns:a16="http://schemas.microsoft.com/office/drawing/2014/main" id="{F4A4AAA6-75A2-469F-8535-483C6C9C9117}"/>
              </a:ext>
            </a:extLst>
          </p:cNvPr>
          <p:cNvSpPr>
            <a:spLocks noGrp="1"/>
          </p:cNvSpPr>
          <p:nvPr/>
        </p:nvSpPr>
        <p:spPr>
          <a:xfrm>
            <a:off x="7277100" y="2381250"/>
            <a:ext cx="1905000" cy="1733550"/>
          </a:xfrm>
          <a:prstGeom prst="roundRect">
            <a:avLst>
              <a:gd name="adj" fmla="val 6593"/>
            </a:avLst>
          </a:prstGeom>
          <a:solidFill>
            <a:srgbClr val="F2F4F7"/>
          </a:solidFill>
          <a:ln w="9525">
            <a:solidFill>
              <a:srgbClr val="D6DDE5"/>
            </a:solidFill>
            <a:prstDash val="solid"/>
          </a:ln>
        </p:spPr>
        <p:txBody>
          <a:bodyPr/>
          <a:lstStyle/>
          <a:p>
            <a:endParaRPr/>
          </a:p>
        </p:txBody>
      </p:sp>
      <p:sp>
        <p:nvSpPr>
          <p:cNvPr id="26" name="flow-step-4">
            <a:extLst>
              <a:ext uri="{FF2B5EF4-FFF2-40B4-BE49-F238E27FC236}">
                <a16:creationId xmlns:a16="http://schemas.microsoft.com/office/drawing/2014/main" id="{AA27B3BB-D5A5-446E-9666-273AE4559D3A}"/>
              </a:ext>
            </a:extLst>
          </p:cNvPr>
          <p:cNvSpPr>
            <a:spLocks noGrp="1"/>
          </p:cNvSpPr>
          <p:nvPr/>
        </p:nvSpPr>
        <p:spPr>
          <a:xfrm>
            <a:off x="7467600" y="2571750"/>
            <a:ext cx="304800" cy="304800"/>
          </a:xfrm>
          <a:prstGeom prst="ellipse">
            <a:avLst/>
          </a:prstGeom>
          <a:solidFill>
            <a:srgbClr val="279A73"/>
          </a:solidFill>
          <a:ln w="0">
            <a:noFill/>
            <a:prstDash val="solid"/>
          </a:ln>
        </p:spPr>
        <p:txBody>
          <a:bodyPr/>
          <a:lstStyle/>
          <a:p>
            <a:endParaRPr/>
          </a:p>
        </p:txBody>
      </p:sp>
      <p:sp>
        <p:nvSpPr>
          <p:cNvPr id="27" name="flow-number-4">
            <a:extLst>
              <a:ext uri="{FF2B5EF4-FFF2-40B4-BE49-F238E27FC236}">
                <a16:creationId xmlns:a16="http://schemas.microsoft.com/office/drawing/2014/main" id="{1B19AC01-A4C2-48F6-B372-8CFD64C313A2}"/>
              </a:ext>
            </a:extLst>
          </p:cNvPr>
          <p:cNvSpPr>
            <a:spLocks noGrp="1"/>
          </p:cNvSpPr>
          <p:nvPr/>
        </p:nvSpPr>
        <p:spPr>
          <a:xfrm>
            <a:off x="74676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8" name="flow-label-4">
            <a:extLst>
              <a:ext uri="{FF2B5EF4-FFF2-40B4-BE49-F238E27FC236}">
                <a16:creationId xmlns:a16="http://schemas.microsoft.com/office/drawing/2014/main" id="{C4EF13F2-B8C2-40A8-9A75-A7ACDBCD7D79}"/>
              </a:ext>
            </a:extLst>
          </p:cNvPr>
          <p:cNvSpPr>
            <a:spLocks noGrp="1"/>
          </p:cNvSpPr>
          <p:nvPr/>
        </p:nvSpPr>
        <p:spPr>
          <a:xfrm>
            <a:off x="79057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279A73"/>
                </a:solidFill>
                <a:latin typeface="Arial"/>
                <a:ea typeface="Arial"/>
                <a:cs typeface="Arial"/>
              </a:defRPr>
            </a:pPr>
            <a:r>
              <a:rPr sz="975" b="1" i="0">
                <a:solidFill>
                  <a:srgbClr val="279A73"/>
                </a:solidFill>
                <a:latin typeface="Arial"/>
                <a:ea typeface="Arial"/>
                <a:cs typeface="Arial"/>
              </a:rPr>
              <a:t>EXPLAIN</a:t>
            </a:r>
          </a:p>
        </p:txBody>
      </p:sp>
      <p:sp>
        <p:nvSpPr>
          <p:cNvPr id="29" name="flow-body-4">
            <a:extLst>
              <a:ext uri="{FF2B5EF4-FFF2-40B4-BE49-F238E27FC236}">
                <a16:creationId xmlns:a16="http://schemas.microsoft.com/office/drawing/2014/main" id="{D6F1F5A2-318F-40AC-9BEE-2536950F6895}"/>
              </a:ext>
            </a:extLst>
          </p:cNvPr>
          <p:cNvSpPr>
            <a:spLocks noGrp="1"/>
          </p:cNvSpPr>
          <p:nvPr/>
        </p:nvSpPr>
        <p:spPr>
          <a:xfrm>
            <a:off x="74676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Reasons</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in plain words</a:t>
            </a:r>
          </a:p>
        </p:txBody>
      </p:sp>
      <p:sp>
        <p:nvSpPr>
          <p:cNvPr id="30" name="flow-card-5">
            <a:extLst>
              <a:ext uri="{FF2B5EF4-FFF2-40B4-BE49-F238E27FC236}">
                <a16:creationId xmlns:a16="http://schemas.microsoft.com/office/drawing/2014/main" id="{A597498A-B7F0-45B8-BC9B-3EC306B5F6E7}"/>
              </a:ext>
            </a:extLst>
          </p:cNvPr>
          <p:cNvSpPr>
            <a:spLocks noGrp="1"/>
          </p:cNvSpPr>
          <p:nvPr/>
        </p:nvSpPr>
        <p:spPr>
          <a:xfrm>
            <a:off x="9525000" y="2381250"/>
            <a:ext cx="1905000" cy="1733550"/>
          </a:xfrm>
          <a:prstGeom prst="roundRect">
            <a:avLst>
              <a:gd name="adj" fmla="val 6593"/>
            </a:avLst>
          </a:prstGeom>
          <a:solidFill>
            <a:srgbClr val="EAF5FB"/>
          </a:solidFill>
          <a:ln w="9525">
            <a:solidFill>
              <a:srgbClr val="D6DDE5"/>
            </a:solidFill>
            <a:prstDash val="solid"/>
          </a:ln>
        </p:spPr>
        <p:txBody>
          <a:bodyPr/>
          <a:lstStyle/>
          <a:p>
            <a:endParaRPr/>
          </a:p>
        </p:txBody>
      </p:sp>
      <p:sp>
        <p:nvSpPr>
          <p:cNvPr id="31" name="flow-step-5">
            <a:extLst>
              <a:ext uri="{FF2B5EF4-FFF2-40B4-BE49-F238E27FC236}">
                <a16:creationId xmlns:a16="http://schemas.microsoft.com/office/drawing/2014/main" id="{77FE8D11-D9D5-4CA9-83A4-0A7B6EE501C1}"/>
              </a:ext>
            </a:extLst>
          </p:cNvPr>
          <p:cNvSpPr>
            <a:spLocks noGrp="1"/>
          </p:cNvSpPr>
          <p:nvPr/>
        </p:nvSpPr>
        <p:spPr>
          <a:xfrm>
            <a:off x="9715500" y="2571750"/>
            <a:ext cx="304800" cy="304800"/>
          </a:xfrm>
          <a:prstGeom prst="ellipse">
            <a:avLst/>
          </a:prstGeom>
          <a:solidFill>
            <a:srgbClr val="E7864F"/>
          </a:solidFill>
          <a:ln w="0">
            <a:noFill/>
            <a:prstDash val="solid"/>
          </a:ln>
        </p:spPr>
        <p:txBody>
          <a:bodyPr/>
          <a:lstStyle/>
          <a:p>
            <a:endParaRPr/>
          </a:p>
        </p:txBody>
      </p:sp>
      <p:sp>
        <p:nvSpPr>
          <p:cNvPr id="32" name="flow-number-5">
            <a:extLst>
              <a:ext uri="{FF2B5EF4-FFF2-40B4-BE49-F238E27FC236}">
                <a16:creationId xmlns:a16="http://schemas.microsoft.com/office/drawing/2014/main" id="{65C18DD6-E23E-4AF0-AD94-0F732EB3C74B}"/>
              </a:ext>
            </a:extLst>
          </p:cNvPr>
          <p:cNvSpPr>
            <a:spLocks noGrp="1"/>
          </p:cNvSpPr>
          <p:nvPr/>
        </p:nvSpPr>
        <p:spPr>
          <a:xfrm>
            <a:off x="97155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3" name="flow-label-5">
            <a:extLst>
              <a:ext uri="{FF2B5EF4-FFF2-40B4-BE49-F238E27FC236}">
                <a16:creationId xmlns:a16="http://schemas.microsoft.com/office/drawing/2014/main" id="{F2804D22-400E-452B-BB04-3CFE9531EDD6}"/>
              </a:ext>
            </a:extLst>
          </p:cNvPr>
          <p:cNvSpPr>
            <a:spLocks noGrp="1"/>
          </p:cNvSpPr>
          <p:nvPr/>
        </p:nvSpPr>
        <p:spPr>
          <a:xfrm>
            <a:off x="101536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E7864F"/>
                </a:solidFill>
                <a:latin typeface="Arial"/>
                <a:ea typeface="Arial"/>
                <a:cs typeface="Arial"/>
              </a:defRPr>
            </a:pPr>
            <a:r>
              <a:rPr sz="975" b="1" i="0">
                <a:solidFill>
                  <a:srgbClr val="E7864F"/>
                </a:solidFill>
                <a:latin typeface="Arial"/>
                <a:ea typeface="Arial"/>
                <a:cs typeface="Arial"/>
              </a:rPr>
              <a:t>DECIDE</a:t>
            </a:r>
          </a:p>
        </p:txBody>
      </p:sp>
      <p:sp>
        <p:nvSpPr>
          <p:cNvPr id="34" name="flow-body-5">
            <a:extLst>
              <a:ext uri="{FF2B5EF4-FFF2-40B4-BE49-F238E27FC236}">
                <a16:creationId xmlns:a16="http://schemas.microsoft.com/office/drawing/2014/main" id="{25A4E255-2C39-4DC7-A4E8-EA769D03C63E}"/>
              </a:ext>
            </a:extLst>
          </p:cNvPr>
          <p:cNvSpPr>
            <a:spLocks noGrp="1"/>
          </p:cNvSpPr>
          <p:nvPr/>
        </p:nvSpPr>
        <p:spPr>
          <a:xfrm>
            <a:off x="9715500" y="3162300"/>
            <a:ext cx="1524000" cy="666750"/>
          </a:xfrm>
          <a:prstGeom prst="rect">
            <a:avLst/>
          </a:prstGeom>
          <a:noFill/>
          <a:ln w="0">
            <a:noFill/>
            <a:prstDash val="solid"/>
          </a:ln>
        </p:spPr>
        <p:txBody>
          <a:bodyPr wrap="square" lIns="0" tIns="0" rIns="0" bIns="0" anchor="t">
            <a:noAutofit/>
          </a:bodyPr>
          <a:lstStyle/>
          <a:p>
            <a:pPr algn="l">
              <a:buNone/>
              <a:defRPr sz="1350" b="1" i="0">
                <a:solidFill>
                  <a:srgbClr val="111827"/>
                </a:solidFill>
                <a:latin typeface="Arial"/>
                <a:ea typeface="Arial"/>
                <a:cs typeface="Arial"/>
              </a:defRPr>
            </a:pPr>
            <a:r>
              <a:rPr sz="1350" b="1" i="0">
                <a:solidFill>
                  <a:srgbClr val="111827"/>
                </a:solidFill>
                <a:latin typeface="Arial"/>
                <a:ea typeface="Arial"/>
                <a:cs typeface="Arial"/>
              </a:rPr>
              <a:t>Approve, review,</a:t>
            </a:r>
          </a:p>
          <a:p>
            <a:pPr algn="l">
              <a:buNone/>
              <a:defRPr sz="1350" b="1" i="0">
                <a:solidFill>
                  <a:srgbClr val="111827"/>
                </a:solidFill>
                <a:latin typeface="Arial"/>
                <a:ea typeface="Arial"/>
                <a:cs typeface="Arial"/>
              </a:defRPr>
            </a:pPr>
            <a:r>
              <a:rPr sz="1350" b="1" i="0">
                <a:solidFill>
                  <a:srgbClr val="111827"/>
                </a:solidFill>
                <a:latin typeface="Arial"/>
                <a:ea typeface="Arial"/>
                <a:cs typeface="Arial"/>
              </a:rPr>
              <a:t>or block</a:t>
            </a:r>
          </a:p>
        </p:txBody>
      </p:sp>
      <p:sp>
        <p:nvSpPr>
          <p:cNvPr id="35" name="traceability-callout">
            <a:extLst>
              <a:ext uri="{FF2B5EF4-FFF2-40B4-BE49-F238E27FC236}">
                <a16:creationId xmlns:a16="http://schemas.microsoft.com/office/drawing/2014/main" id="{697B9D77-6D49-496F-9F40-3B3A7D354BB7}"/>
              </a:ext>
            </a:extLst>
          </p:cNvPr>
          <p:cNvSpPr>
            <a:spLocks noGrp="1"/>
          </p:cNvSpPr>
          <p:nvPr/>
        </p:nvSpPr>
        <p:spPr>
          <a:xfrm>
            <a:off x="533400" y="4857750"/>
            <a:ext cx="11125200" cy="762000"/>
          </a:xfrm>
          <a:prstGeom prst="roundRect">
            <a:avLst>
              <a:gd name="adj" fmla="val 15000"/>
            </a:avLst>
          </a:prstGeom>
          <a:solidFill>
            <a:srgbClr val="EAF5FB"/>
          </a:solidFill>
          <a:ln w="9525">
            <a:solidFill>
              <a:srgbClr val="D6DDE5"/>
            </a:solidFill>
            <a:prstDash val="solid"/>
          </a:ln>
        </p:spPr>
        <p:txBody>
          <a:bodyPr/>
          <a:lstStyle/>
          <a:p>
            <a:endParaRPr/>
          </a:p>
        </p:txBody>
      </p:sp>
      <p:sp>
        <p:nvSpPr>
          <p:cNvPr id="36" name="callout-label">
            <a:extLst>
              <a:ext uri="{FF2B5EF4-FFF2-40B4-BE49-F238E27FC236}">
                <a16:creationId xmlns:a16="http://schemas.microsoft.com/office/drawing/2014/main" id="{09AEE03A-F397-4221-B290-584D9532CEA9}"/>
              </a:ext>
            </a:extLst>
          </p:cNvPr>
          <p:cNvSpPr>
            <a:spLocks noGrp="1"/>
          </p:cNvSpPr>
          <p:nvPr/>
        </p:nvSpPr>
        <p:spPr>
          <a:xfrm>
            <a:off x="742950" y="5048250"/>
            <a:ext cx="1619250" cy="209550"/>
          </a:xfrm>
          <a:prstGeom prst="rect">
            <a:avLst/>
          </a:prstGeom>
          <a:noFill/>
          <a:ln w="0">
            <a:noFill/>
            <a:prstDash val="solid"/>
          </a:ln>
        </p:spPr>
        <p:txBody>
          <a:bodyPr wrap="square" lIns="0" tIns="0" rIns="0" bIns="0" anchor="t">
            <a:noAutofit/>
          </a:bodyPr>
          <a:lstStyle/>
          <a:p>
            <a:pPr algn="l">
              <a:buNone/>
              <a:defRPr sz="900" b="1" i="0">
                <a:solidFill>
                  <a:srgbClr val="3D8DFF"/>
                </a:solidFill>
                <a:latin typeface="Arial"/>
                <a:ea typeface="Arial"/>
                <a:cs typeface="Arial"/>
              </a:defRPr>
            </a:pPr>
            <a:r>
              <a:rPr sz="900" b="1" i="0">
                <a:solidFill>
                  <a:srgbClr val="3D8DFF"/>
                </a:solidFill>
                <a:latin typeface="Arial"/>
                <a:ea typeface="Arial"/>
                <a:cs typeface="Arial"/>
              </a:rPr>
              <a:t>MAIN IDEA</a:t>
            </a:r>
          </a:p>
        </p:txBody>
      </p:sp>
      <p:sp>
        <p:nvSpPr>
          <p:cNvPr id="37" name="callout-text">
            <a:extLst>
              <a:ext uri="{FF2B5EF4-FFF2-40B4-BE49-F238E27FC236}">
                <a16:creationId xmlns:a16="http://schemas.microsoft.com/office/drawing/2014/main" id="{F74343EF-0C5A-4BDA-A129-0862F2C52490}"/>
              </a:ext>
            </a:extLst>
          </p:cNvPr>
          <p:cNvSpPr>
            <a:spLocks noGrp="1"/>
          </p:cNvSpPr>
          <p:nvPr/>
        </p:nvSpPr>
        <p:spPr>
          <a:xfrm>
            <a:off x="2590800" y="5000625"/>
            <a:ext cx="8667750" cy="342900"/>
          </a:xfrm>
          <a:prstGeom prst="rect">
            <a:avLst/>
          </a:prstGeom>
          <a:noFill/>
          <a:ln w="0">
            <a:noFill/>
            <a:prstDash val="solid"/>
          </a:ln>
        </p:spPr>
        <p:txBody>
          <a:bodyPr wrap="square" lIns="0" tIns="0" rIns="0" bIns="0" anchor="t">
            <a:noAutofit/>
          </a:bodyPr>
          <a:lstStyle/>
          <a:p>
            <a:pPr algn="l">
              <a:buNone/>
              <a:defRPr sz="1575" b="1" i="0">
                <a:solidFill>
                  <a:srgbClr val="111827"/>
                </a:solidFill>
                <a:latin typeface="Arial"/>
                <a:ea typeface="Arial"/>
                <a:cs typeface="Arial"/>
              </a:defRPr>
            </a:pPr>
            <a:r>
              <a:rPr sz="1575" b="1" i="0">
                <a:solidFill>
                  <a:srgbClr val="111827"/>
                </a:solidFill>
                <a:latin typeface="Arial"/>
                <a:ea typeface="Arial"/>
                <a:cs typeface="Arial"/>
              </a:rPr>
              <a:t>Every decision can be checked. The score is not a black box.</a:t>
            </a:r>
          </a:p>
        </p:txBody>
      </p:sp>
      <p:sp>
        <p:nvSpPr>
          <p:cNvPr id="39" name="polish-title-rail-9">
            <a:extLst>
              <a:ext uri="{FF2B5EF4-FFF2-40B4-BE49-F238E27FC236}">
                <a16:creationId xmlns:a16="http://schemas.microsoft.com/office/drawing/2014/main" id="{D86ED2CF-D234-4C2C-9B48-54DB097CEB5A}"/>
              </a:ext>
            </a:extLst>
          </p:cNvPr>
          <p:cNvSpPr>
            <a:spLocks noGrp="1"/>
          </p:cNvSpPr>
          <p:nvPr/>
        </p:nvSpPr>
        <p:spPr>
          <a:xfrm>
            <a:off x="323850" y="762000"/>
            <a:ext cx="57150" cy="552450"/>
          </a:xfrm>
          <a:prstGeom prst="roundRect">
            <a:avLst>
              <a:gd name="adj" fmla="val 50000"/>
            </a:avLst>
          </a:prstGeom>
          <a:solidFill>
            <a:srgbClr val="3D8DFF"/>
          </a:solidFill>
          <a:ln w="0">
            <a:noFill/>
            <a:prstDash val="solid"/>
          </a:ln>
        </p:spPr>
      </p:sp>
      <p:sp>
        <p:nvSpPr>
          <p:cNvPr id="40" name="polish-title-underline-9">
            <a:extLst>
              <a:ext uri="{FF2B5EF4-FFF2-40B4-BE49-F238E27FC236}">
                <a16:creationId xmlns:a16="http://schemas.microsoft.com/office/drawing/2014/main" id="{138C58B6-F7A2-417B-930E-DA8CD90463E8}"/>
              </a:ext>
            </a:extLst>
          </p:cNvPr>
          <p:cNvSpPr>
            <a:spLocks noGrp="1"/>
          </p:cNvSpPr>
          <p:nvPr/>
        </p:nvSpPr>
        <p:spPr>
          <a:xfrm>
            <a:off x="533400" y="647700"/>
            <a:ext cx="876300" cy="28575"/>
          </a:xfrm>
          <a:prstGeom prst="roundRect">
            <a:avLst>
              <a:gd name="adj" fmla="val 50000"/>
            </a:avLst>
          </a:prstGeom>
          <a:solidFill>
            <a:srgbClr val="3D8DFF"/>
          </a:solidFill>
          <a:ln w="0">
            <a:noFill/>
            <a:prstDash val="solid"/>
          </a:ln>
        </p:spPr>
      </p:sp>
      <p:sp>
        <p:nvSpPr>
          <p:cNvPr id="41" name="polish-progress-9-1">
            <a:extLst>
              <a:ext uri="{FF2B5EF4-FFF2-40B4-BE49-F238E27FC236}">
                <a16:creationId xmlns:a16="http://schemas.microsoft.com/office/drawing/2014/main" id="{B2FD8A17-734F-4177-8732-107D18C5601A}"/>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42" name="polish-progress-9-2">
            <a:extLst>
              <a:ext uri="{FF2B5EF4-FFF2-40B4-BE49-F238E27FC236}">
                <a16:creationId xmlns:a16="http://schemas.microsoft.com/office/drawing/2014/main" id="{8BCD5466-5978-44DA-B073-81E8D27AB422}"/>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43" name="polish-progress-9-3">
            <a:extLst>
              <a:ext uri="{FF2B5EF4-FFF2-40B4-BE49-F238E27FC236}">
                <a16:creationId xmlns:a16="http://schemas.microsoft.com/office/drawing/2014/main" id="{EF274649-8739-4DB1-870F-B0DF3BA2F647}"/>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44" name="polish-progress-9-4">
            <a:extLst>
              <a:ext uri="{FF2B5EF4-FFF2-40B4-BE49-F238E27FC236}">
                <a16:creationId xmlns:a16="http://schemas.microsoft.com/office/drawing/2014/main" id="{CF663BB9-295F-433A-8F6F-BB2DB421EA7E}"/>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45" name="polish-progress-9-5">
            <a:extLst>
              <a:ext uri="{FF2B5EF4-FFF2-40B4-BE49-F238E27FC236}">
                <a16:creationId xmlns:a16="http://schemas.microsoft.com/office/drawing/2014/main" id="{246B0351-9A9D-4D95-91E6-86DB2D889038}"/>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46" name="polish-progress-9-6">
            <a:extLst>
              <a:ext uri="{FF2B5EF4-FFF2-40B4-BE49-F238E27FC236}">
                <a16:creationId xmlns:a16="http://schemas.microsoft.com/office/drawing/2014/main" id="{E2BA5A3A-77D7-4E3F-B348-B598FCAD3430}"/>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47" name="polish-progress-9-7">
            <a:extLst>
              <a:ext uri="{FF2B5EF4-FFF2-40B4-BE49-F238E27FC236}">
                <a16:creationId xmlns:a16="http://schemas.microsoft.com/office/drawing/2014/main" id="{88A89878-2965-4A97-A6DA-FBE436BAF81C}"/>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48" name="polish-progress-9-8">
            <a:extLst>
              <a:ext uri="{FF2B5EF4-FFF2-40B4-BE49-F238E27FC236}">
                <a16:creationId xmlns:a16="http://schemas.microsoft.com/office/drawing/2014/main" id="{7A0478DD-2B50-44ED-8695-47193711C03C}"/>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9" name="polish-progress-9-9">
            <a:extLst>
              <a:ext uri="{FF2B5EF4-FFF2-40B4-BE49-F238E27FC236}">
                <a16:creationId xmlns:a16="http://schemas.microsoft.com/office/drawing/2014/main" id="{FFA1220C-1D68-4C84-9CD4-25EA0F463447}"/>
              </a:ext>
            </a:extLst>
          </p:cNvPr>
          <p:cNvSpPr>
            <a:spLocks noGrp="1"/>
          </p:cNvSpPr>
          <p:nvPr/>
        </p:nvSpPr>
        <p:spPr>
          <a:xfrm>
            <a:off x="6753225" y="6572250"/>
            <a:ext cx="152400" cy="28575"/>
          </a:xfrm>
          <a:prstGeom prst="roundRect">
            <a:avLst>
              <a:gd name="adj" fmla="val 50000"/>
            </a:avLst>
          </a:prstGeom>
          <a:solidFill>
            <a:srgbClr val="3D8DFF"/>
          </a:solidFill>
          <a:ln w="0">
            <a:noFill/>
            <a:prstDash val="solid"/>
          </a:ln>
        </p:spPr>
      </p:sp>
      <p:sp>
        <p:nvSpPr>
          <p:cNvPr id="50" name="polish-progress-9-10">
            <a:extLst>
              <a:ext uri="{FF2B5EF4-FFF2-40B4-BE49-F238E27FC236}">
                <a16:creationId xmlns:a16="http://schemas.microsoft.com/office/drawing/2014/main" id="{838F5CBD-7416-47BA-9AAA-8D8D9F0AE074}"/>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Tree>
    <p:extLst>
      <p:ext uri="{BB962C8B-B14F-4D97-AF65-F5344CB8AC3E}">
        <p14:creationId xmlns:p14="http://schemas.microsoft.com/office/powerpoint/2010/main" val="1822941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9" name="rule">
            <a:extLst>
              <a:ext uri="{FF2B5EF4-FFF2-40B4-BE49-F238E27FC236}">
                <a16:creationId xmlns:a16="http://schemas.microsoft.com/office/drawing/2014/main" id="{7053673C-9847-43B7-825A-9B05EA167C72}"/>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7C3E09A1-7749-4DFD-9887-80163D2EB314}"/>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THE APP</a:t>
            </a:r>
          </a:p>
        </p:txBody>
      </p:sp>
      <p:sp>
        <p:nvSpPr>
          <p:cNvPr id="3" name="page-number">
            <a:extLst>
              <a:ext uri="{FF2B5EF4-FFF2-40B4-BE49-F238E27FC236}">
                <a16:creationId xmlns:a16="http://schemas.microsoft.com/office/drawing/2014/main" id="{7DE512B2-A788-4E1A-BEAB-D8707247B7DB}"/>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08</a:t>
            </a:r>
          </a:p>
        </p:txBody>
      </p:sp>
      <p:sp>
        <p:nvSpPr>
          <p:cNvPr id="4" name="slide-title">
            <a:extLst>
              <a:ext uri="{FF2B5EF4-FFF2-40B4-BE49-F238E27FC236}">
                <a16:creationId xmlns:a16="http://schemas.microsoft.com/office/drawing/2014/main" id="{71A5EECD-D2B4-4558-981E-14AA2F86946B}"/>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A working app, not only a notebook.</a:t>
            </a:r>
          </a:p>
        </p:txBody>
      </p:sp>
      <p:sp>
        <p:nvSpPr>
          <p:cNvPr id="5" name="slide-subtitle">
            <a:extLst>
              <a:ext uri="{FF2B5EF4-FFF2-40B4-BE49-F238E27FC236}">
                <a16:creationId xmlns:a16="http://schemas.microsoft.com/office/drawing/2014/main" id="{B3EC3D92-C1EC-4C01-89F1-69FB5980252E}"/>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Predict. Show reasons. Keep a history.</a:t>
            </a:r>
          </a:p>
        </p:txBody>
      </p:sp>
      <p:sp>
        <p:nvSpPr>
          <p:cNvPr id="6" name="benchmark-label">
            <a:extLst>
              <a:ext uri="{FF2B5EF4-FFF2-40B4-BE49-F238E27FC236}">
                <a16:creationId xmlns:a16="http://schemas.microsoft.com/office/drawing/2014/main" id="{8F4576C8-63D9-4B35-9956-2D60C47FE742}"/>
              </a:ext>
            </a:extLst>
          </p:cNvPr>
          <p:cNvSpPr>
            <a:spLocks noGrp="1"/>
          </p:cNvSpPr>
          <p:nvPr/>
        </p:nvSpPr>
        <p:spPr>
          <a:xfrm>
            <a:off x="533400" y="1981200"/>
            <a:ext cx="2857500" cy="228600"/>
          </a:xfrm>
          <a:prstGeom prst="rect">
            <a:avLst/>
          </a:prstGeom>
          <a:noFill/>
          <a:ln w="0">
            <a:noFill/>
            <a:prstDash val="solid"/>
          </a:ln>
        </p:spPr>
        <p:txBody>
          <a:bodyPr wrap="square" lIns="0" tIns="0" rIns="0" bIns="0" anchor="t">
            <a:noAutofit/>
          </a:bodyPr>
          <a:lstStyle/>
          <a:p>
            <a:pPr algn="l">
              <a:buNone/>
              <a:defRPr sz="975" b="1" i="0">
                <a:solidFill>
                  <a:srgbClr val="8190A0"/>
                </a:solidFill>
                <a:latin typeface="Arial"/>
                <a:ea typeface="Arial"/>
                <a:cs typeface="Arial"/>
              </a:defRPr>
            </a:pPr>
            <a:r>
              <a:rPr sz="975" b="1" i="0">
                <a:solidFill>
                  <a:srgbClr val="8190A0"/>
                </a:solidFill>
                <a:latin typeface="Arial"/>
                <a:ea typeface="Arial"/>
                <a:cs typeface="Arial"/>
              </a:rPr>
              <a:t>MAURITIUS EXAMPLES</a:t>
            </a:r>
          </a:p>
        </p:txBody>
      </p:sp>
      <p:sp>
        <p:nvSpPr>
          <p:cNvPr id="7" name="rule">
            <a:extLst>
              <a:ext uri="{FF2B5EF4-FFF2-40B4-BE49-F238E27FC236}">
                <a16:creationId xmlns:a16="http://schemas.microsoft.com/office/drawing/2014/main" id="{2647D47A-9AA5-4948-A17D-65195396D413}"/>
              </a:ext>
            </a:extLst>
          </p:cNvPr>
          <p:cNvSpPr>
            <a:spLocks noGrp="1"/>
          </p:cNvSpPr>
          <p:nvPr/>
        </p:nvSpPr>
        <p:spPr>
          <a:xfrm>
            <a:off x="533400" y="2324100"/>
            <a:ext cx="5238750" cy="9525"/>
          </a:xfrm>
          <a:prstGeom prst="rect">
            <a:avLst/>
          </a:prstGeom>
          <a:solidFill>
            <a:srgbClr val="D6DDE5"/>
          </a:solidFill>
          <a:ln w="0">
            <a:noFill/>
            <a:prstDash val="solid"/>
          </a:ln>
        </p:spPr>
        <p:txBody>
          <a:bodyPr/>
          <a:lstStyle/>
          <a:p>
            <a:endParaRPr/>
          </a:p>
        </p:txBody>
      </p:sp>
      <p:sp>
        <p:nvSpPr>
          <p:cNvPr id="8" name="e1-id">
            <a:extLst>
              <a:ext uri="{FF2B5EF4-FFF2-40B4-BE49-F238E27FC236}">
                <a16:creationId xmlns:a16="http://schemas.microsoft.com/office/drawing/2014/main" id="{E93485BC-9A3E-4BE1-9D61-99AEF9BD77DE}"/>
              </a:ext>
            </a:extLst>
          </p:cNvPr>
          <p:cNvSpPr>
            <a:spLocks noGrp="1"/>
          </p:cNvSpPr>
          <p:nvPr/>
        </p:nvSpPr>
        <p:spPr>
          <a:xfrm>
            <a:off x="533400" y="2552700"/>
            <a:ext cx="438150" cy="266700"/>
          </a:xfrm>
          <a:prstGeom prst="rect">
            <a:avLst/>
          </a:prstGeom>
          <a:noFill/>
          <a:ln w="0">
            <a:noFill/>
            <a:prstDash val="solid"/>
          </a:ln>
        </p:spPr>
        <p:txBody>
          <a:bodyPr wrap="square" lIns="0" tIns="0" rIns="0" bIns="0" anchor="t">
            <a:noAutofit/>
          </a:bodyPr>
          <a:lstStyle/>
          <a:p>
            <a:pPr algn="l">
              <a:buNone/>
              <a:defRPr sz="1500" b="1" i="0">
                <a:solidFill>
                  <a:srgbClr val="279A73"/>
                </a:solidFill>
                <a:latin typeface="Arial"/>
                <a:ea typeface="Arial"/>
                <a:cs typeface="Arial"/>
              </a:defRPr>
            </a:pPr>
            <a:r>
              <a:rPr sz="1500" b="1" i="0">
                <a:solidFill>
                  <a:srgbClr val="279A73"/>
                </a:solidFill>
                <a:latin typeface="Arial"/>
                <a:ea typeface="Arial"/>
                <a:cs typeface="Arial"/>
              </a:rPr>
              <a:t>E1</a:t>
            </a:r>
          </a:p>
        </p:txBody>
      </p:sp>
      <p:sp>
        <p:nvSpPr>
          <p:cNvPr id="9" name="e1-profile">
            <a:extLst>
              <a:ext uri="{FF2B5EF4-FFF2-40B4-BE49-F238E27FC236}">
                <a16:creationId xmlns:a16="http://schemas.microsoft.com/office/drawing/2014/main" id="{22762C1A-42E4-4F77-8C87-49CA7A2DA3B1}"/>
              </a:ext>
            </a:extLst>
          </p:cNvPr>
          <p:cNvSpPr>
            <a:spLocks noGrp="1"/>
          </p:cNvSpPr>
          <p:nvPr/>
        </p:nvSpPr>
        <p:spPr>
          <a:xfrm>
            <a:off x="1143000" y="2552700"/>
            <a:ext cx="3810000" cy="2667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MUR 2,450 | 10:00 | 3.2 miles</a:t>
            </a:r>
          </a:p>
        </p:txBody>
      </p:sp>
      <p:sp>
        <p:nvSpPr>
          <p:cNvPr id="10" name="e1-verdict">
            <a:extLst>
              <a:ext uri="{FF2B5EF4-FFF2-40B4-BE49-F238E27FC236}">
                <a16:creationId xmlns:a16="http://schemas.microsoft.com/office/drawing/2014/main" id="{8035339F-DB70-4973-8928-18BBA7FF2989}"/>
              </a:ext>
            </a:extLst>
          </p:cNvPr>
          <p:cNvSpPr>
            <a:spLocks noGrp="1"/>
          </p:cNvSpPr>
          <p:nvPr/>
        </p:nvSpPr>
        <p:spPr>
          <a:xfrm>
            <a:off x="4191000" y="2552700"/>
            <a:ext cx="1428750" cy="266700"/>
          </a:xfrm>
          <a:prstGeom prst="rect">
            <a:avLst/>
          </a:prstGeom>
          <a:noFill/>
          <a:ln w="0">
            <a:noFill/>
            <a:prstDash val="solid"/>
          </a:ln>
        </p:spPr>
        <p:txBody>
          <a:bodyPr wrap="square" lIns="0" tIns="0" rIns="0" bIns="0" anchor="t">
            <a:noAutofit/>
          </a:bodyPr>
          <a:lstStyle/>
          <a:p>
            <a:pPr algn="r">
              <a:buNone/>
              <a:defRPr sz="1350" b="1" i="0">
                <a:solidFill>
                  <a:srgbClr val="279A73"/>
                </a:solidFill>
                <a:latin typeface="Arial"/>
                <a:ea typeface="Arial"/>
                <a:cs typeface="Arial"/>
              </a:defRPr>
            </a:pPr>
            <a:r>
              <a:rPr sz="1350" b="1" i="0">
                <a:solidFill>
                  <a:srgbClr val="279A73"/>
                </a:solidFill>
                <a:latin typeface="Arial"/>
                <a:ea typeface="Arial"/>
                <a:cs typeface="Arial"/>
              </a:rPr>
              <a:t>APPROVED</a:t>
            </a:r>
          </a:p>
        </p:txBody>
      </p:sp>
      <p:sp>
        <p:nvSpPr>
          <p:cNvPr id="11" name="rule">
            <a:extLst>
              <a:ext uri="{FF2B5EF4-FFF2-40B4-BE49-F238E27FC236}">
                <a16:creationId xmlns:a16="http://schemas.microsoft.com/office/drawing/2014/main" id="{C89E6F42-3B4E-4D83-9761-552B21E2F874}"/>
              </a:ext>
            </a:extLst>
          </p:cNvPr>
          <p:cNvSpPr>
            <a:spLocks noGrp="1"/>
          </p:cNvSpPr>
          <p:nvPr/>
        </p:nvSpPr>
        <p:spPr>
          <a:xfrm>
            <a:off x="533400" y="2990850"/>
            <a:ext cx="5238750" cy="9525"/>
          </a:xfrm>
          <a:prstGeom prst="rect">
            <a:avLst/>
          </a:prstGeom>
          <a:solidFill>
            <a:srgbClr val="D6DDE5"/>
          </a:solidFill>
          <a:ln w="0">
            <a:noFill/>
            <a:prstDash val="solid"/>
          </a:ln>
        </p:spPr>
        <p:txBody>
          <a:bodyPr/>
          <a:lstStyle/>
          <a:p>
            <a:endParaRPr/>
          </a:p>
        </p:txBody>
      </p:sp>
      <p:sp>
        <p:nvSpPr>
          <p:cNvPr id="12" name="e2-id">
            <a:extLst>
              <a:ext uri="{FF2B5EF4-FFF2-40B4-BE49-F238E27FC236}">
                <a16:creationId xmlns:a16="http://schemas.microsoft.com/office/drawing/2014/main" id="{34B2B565-A2C3-4C1E-AA42-E06F6E32FBD3}"/>
              </a:ext>
            </a:extLst>
          </p:cNvPr>
          <p:cNvSpPr>
            <a:spLocks noGrp="1"/>
          </p:cNvSpPr>
          <p:nvPr/>
        </p:nvSpPr>
        <p:spPr>
          <a:xfrm>
            <a:off x="533400" y="3219450"/>
            <a:ext cx="438150" cy="266700"/>
          </a:xfrm>
          <a:prstGeom prst="rect">
            <a:avLst/>
          </a:prstGeom>
          <a:noFill/>
          <a:ln w="0">
            <a:noFill/>
            <a:prstDash val="solid"/>
          </a:ln>
        </p:spPr>
        <p:txBody>
          <a:bodyPr wrap="square" lIns="0" tIns="0" rIns="0" bIns="0" anchor="t">
            <a:noAutofit/>
          </a:bodyPr>
          <a:lstStyle/>
          <a:p>
            <a:pPr algn="l">
              <a:buNone/>
              <a:defRPr sz="1500" b="1" i="0">
                <a:solidFill>
                  <a:srgbClr val="F2B84B"/>
                </a:solidFill>
                <a:latin typeface="Arial"/>
                <a:ea typeface="Arial"/>
                <a:cs typeface="Arial"/>
              </a:defRPr>
            </a:pPr>
            <a:r>
              <a:rPr sz="1500" b="1" i="0">
                <a:solidFill>
                  <a:srgbClr val="F2B84B"/>
                </a:solidFill>
                <a:latin typeface="Arial"/>
                <a:ea typeface="Arial"/>
                <a:cs typeface="Arial"/>
              </a:rPr>
              <a:t>E2</a:t>
            </a:r>
          </a:p>
        </p:txBody>
      </p:sp>
      <p:sp>
        <p:nvSpPr>
          <p:cNvPr id="13" name="e2-profile">
            <a:extLst>
              <a:ext uri="{FF2B5EF4-FFF2-40B4-BE49-F238E27FC236}">
                <a16:creationId xmlns:a16="http://schemas.microsoft.com/office/drawing/2014/main" id="{88E24B76-3984-4E59-8379-960AB7ED528B}"/>
              </a:ext>
            </a:extLst>
          </p:cNvPr>
          <p:cNvSpPr>
            <a:spLocks noGrp="1"/>
          </p:cNvSpPr>
          <p:nvPr/>
        </p:nvSpPr>
        <p:spPr>
          <a:xfrm>
            <a:off x="1143000" y="3219450"/>
            <a:ext cx="3810000" cy="2667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MUR 18,000 | 23:00 | 85 miles</a:t>
            </a:r>
          </a:p>
        </p:txBody>
      </p:sp>
      <p:sp>
        <p:nvSpPr>
          <p:cNvPr id="14" name="e2-verdict">
            <a:extLst>
              <a:ext uri="{FF2B5EF4-FFF2-40B4-BE49-F238E27FC236}">
                <a16:creationId xmlns:a16="http://schemas.microsoft.com/office/drawing/2014/main" id="{68956B7B-3336-4B97-A754-FFB367A065C4}"/>
              </a:ext>
            </a:extLst>
          </p:cNvPr>
          <p:cNvSpPr>
            <a:spLocks noGrp="1"/>
          </p:cNvSpPr>
          <p:nvPr/>
        </p:nvSpPr>
        <p:spPr>
          <a:xfrm>
            <a:off x="4191000" y="3219450"/>
            <a:ext cx="1428750" cy="266700"/>
          </a:xfrm>
          <a:prstGeom prst="rect">
            <a:avLst/>
          </a:prstGeom>
          <a:noFill/>
          <a:ln w="0">
            <a:noFill/>
            <a:prstDash val="solid"/>
          </a:ln>
        </p:spPr>
        <p:txBody>
          <a:bodyPr wrap="square" lIns="0" tIns="0" rIns="0" bIns="0" anchor="t">
            <a:noAutofit/>
          </a:bodyPr>
          <a:lstStyle/>
          <a:p>
            <a:pPr algn="r">
              <a:buNone/>
              <a:defRPr sz="1350" b="1" i="0">
                <a:solidFill>
                  <a:srgbClr val="F2B84B"/>
                </a:solidFill>
                <a:latin typeface="Arial"/>
                <a:ea typeface="Arial"/>
                <a:cs typeface="Arial"/>
              </a:defRPr>
            </a:pPr>
            <a:r>
              <a:rPr sz="1350" b="1" i="0">
                <a:solidFill>
                  <a:srgbClr val="F2B84B"/>
                </a:solidFill>
                <a:latin typeface="Arial"/>
                <a:ea typeface="Arial"/>
                <a:cs typeface="Arial"/>
              </a:rPr>
              <a:t>APPROVED</a:t>
            </a:r>
          </a:p>
        </p:txBody>
      </p:sp>
      <p:sp>
        <p:nvSpPr>
          <p:cNvPr id="15" name="rule">
            <a:extLst>
              <a:ext uri="{FF2B5EF4-FFF2-40B4-BE49-F238E27FC236}">
                <a16:creationId xmlns:a16="http://schemas.microsoft.com/office/drawing/2014/main" id="{1D11CC0F-0543-43D3-9BBF-81748864155B}"/>
              </a:ext>
            </a:extLst>
          </p:cNvPr>
          <p:cNvSpPr>
            <a:spLocks noGrp="1"/>
          </p:cNvSpPr>
          <p:nvPr/>
        </p:nvSpPr>
        <p:spPr>
          <a:xfrm>
            <a:off x="533400" y="3657600"/>
            <a:ext cx="5238750" cy="9525"/>
          </a:xfrm>
          <a:prstGeom prst="rect">
            <a:avLst/>
          </a:prstGeom>
          <a:solidFill>
            <a:srgbClr val="D6DDE5"/>
          </a:solidFill>
          <a:ln w="0">
            <a:noFill/>
            <a:prstDash val="solid"/>
          </a:ln>
        </p:spPr>
        <p:txBody>
          <a:bodyPr/>
          <a:lstStyle/>
          <a:p>
            <a:endParaRPr/>
          </a:p>
        </p:txBody>
      </p:sp>
      <p:sp>
        <p:nvSpPr>
          <p:cNvPr id="16" name="e3-id">
            <a:extLst>
              <a:ext uri="{FF2B5EF4-FFF2-40B4-BE49-F238E27FC236}">
                <a16:creationId xmlns:a16="http://schemas.microsoft.com/office/drawing/2014/main" id="{007CEE8B-EF46-49AA-8F7D-0904440CC713}"/>
              </a:ext>
            </a:extLst>
          </p:cNvPr>
          <p:cNvSpPr>
            <a:spLocks noGrp="1"/>
          </p:cNvSpPr>
          <p:nvPr/>
        </p:nvSpPr>
        <p:spPr>
          <a:xfrm>
            <a:off x="533400" y="3886200"/>
            <a:ext cx="438150" cy="266700"/>
          </a:xfrm>
          <a:prstGeom prst="rect">
            <a:avLst/>
          </a:prstGeom>
          <a:noFill/>
          <a:ln w="0">
            <a:noFill/>
            <a:prstDash val="solid"/>
          </a:ln>
        </p:spPr>
        <p:txBody>
          <a:bodyPr wrap="square" lIns="0" tIns="0" rIns="0" bIns="0" anchor="t">
            <a:noAutofit/>
          </a:bodyPr>
          <a:lstStyle/>
          <a:p>
            <a:pPr algn="l">
              <a:buNone/>
              <a:defRPr sz="1500" b="1" i="0">
                <a:solidFill>
                  <a:srgbClr val="D95757"/>
                </a:solidFill>
                <a:latin typeface="Arial"/>
                <a:ea typeface="Arial"/>
                <a:cs typeface="Arial"/>
              </a:defRPr>
            </a:pPr>
            <a:r>
              <a:rPr sz="1500" b="1" i="0">
                <a:solidFill>
                  <a:srgbClr val="D95757"/>
                </a:solidFill>
                <a:latin typeface="Arial"/>
                <a:ea typeface="Arial"/>
                <a:cs typeface="Arial"/>
              </a:rPr>
              <a:t>E3</a:t>
            </a:r>
          </a:p>
        </p:txBody>
      </p:sp>
      <p:sp>
        <p:nvSpPr>
          <p:cNvPr id="17" name="e3-profile">
            <a:extLst>
              <a:ext uri="{FF2B5EF4-FFF2-40B4-BE49-F238E27FC236}">
                <a16:creationId xmlns:a16="http://schemas.microsoft.com/office/drawing/2014/main" id="{7ADFEBBA-CA48-4541-854D-178E48514225}"/>
              </a:ext>
            </a:extLst>
          </p:cNvPr>
          <p:cNvSpPr>
            <a:spLocks noGrp="1"/>
          </p:cNvSpPr>
          <p:nvPr/>
        </p:nvSpPr>
        <p:spPr>
          <a:xfrm>
            <a:off x="1143000" y="3886200"/>
            <a:ext cx="3810000" cy="2667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MUR 95,000 | 03:00 | 420 miles</a:t>
            </a:r>
          </a:p>
        </p:txBody>
      </p:sp>
      <p:sp>
        <p:nvSpPr>
          <p:cNvPr id="18" name="e3-verdict">
            <a:extLst>
              <a:ext uri="{FF2B5EF4-FFF2-40B4-BE49-F238E27FC236}">
                <a16:creationId xmlns:a16="http://schemas.microsoft.com/office/drawing/2014/main" id="{6AE0C9C6-3D0D-42F1-9D0F-5384AE1DBBAB}"/>
              </a:ext>
            </a:extLst>
          </p:cNvPr>
          <p:cNvSpPr>
            <a:spLocks noGrp="1"/>
          </p:cNvSpPr>
          <p:nvPr/>
        </p:nvSpPr>
        <p:spPr>
          <a:xfrm>
            <a:off x="3790950" y="3886200"/>
            <a:ext cx="1828800" cy="266700"/>
          </a:xfrm>
          <a:prstGeom prst="rect">
            <a:avLst/>
          </a:prstGeom>
          <a:noFill/>
          <a:ln w="0">
            <a:noFill/>
            <a:prstDash val="solid"/>
          </a:ln>
        </p:spPr>
        <p:txBody>
          <a:bodyPr wrap="square" lIns="0" tIns="0" rIns="0" bIns="0" anchor="t">
            <a:noAutofit/>
          </a:bodyPr>
          <a:lstStyle/>
          <a:p>
            <a:pPr algn="r">
              <a:buNone/>
              <a:defRPr sz="1350" b="1" i="0">
                <a:solidFill>
                  <a:srgbClr val="D95757"/>
                </a:solidFill>
                <a:latin typeface="Arial"/>
                <a:ea typeface="Arial"/>
                <a:cs typeface="Arial"/>
              </a:defRPr>
            </a:pPr>
            <a:r>
              <a:rPr sz="1350" b="1" i="0">
                <a:solidFill>
                  <a:srgbClr val="D95757"/>
                </a:solidFill>
                <a:latin typeface="Arial"/>
                <a:ea typeface="Arial"/>
                <a:cs typeface="Arial"/>
              </a:rPr>
              <a:t>FRAUD BLOCKED</a:t>
            </a:r>
          </a:p>
        </p:txBody>
      </p:sp>
      <p:sp>
        <p:nvSpPr>
          <p:cNvPr id="19" name="benchmark-note">
            <a:extLst>
              <a:ext uri="{FF2B5EF4-FFF2-40B4-BE49-F238E27FC236}">
                <a16:creationId xmlns:a16="http://schemas.microsoft.com/office/drawing/2014/main" id="{DF8A1333-A5F7-4E7A-B5A1-11C42021453D}"/>
              </a:ext>
            </a:extLst>
          </p:cNvPr>
          <p:cNvSpPr>
            <a:spLocks noGrp="1"/>
          </p:cNvSpPr>
          <p:nvPr/>
        </p:nvSpPr>
        <p:spPr>
          <a:xfrm>
            <a:off x="533400" y="4419600"/>
            <a:ext cx="5238750" cy="1047750"/>
          </a:xfrm>
          <a:prstGeom prst="roundRect">
            <a:avLst>
              <a:gd name="adj" fmla="val 7273"/>
            </a:avLst>
          </a:prstGeom>
          <a:solidFill>
            <a:srgbClr val="EAF5FB"/>
          </a:solidFill>
          <a:ln w="9525">
            <a:solidFill>
              <a:srgbClr val="D6DDE5"/>
            </a:solidFill>
            <a:prstDash val="solid"/>
          </a:ln>
        </p:spPr>
        <p:txBody>
          <a:bodyPr/>
          <a:lstStyle/>
          <a:p>
            <a:endParaRPr/>
          </a:p>
        </p:txBody>
      </p:sp>
      <p:sp>
        <p:nvSpPr>
          <p:cNvPr id="20" name="surprise-label">
            <a:extLst>
              <a:ext uri="{FF2B5EF4-FFF2-40B4-BE49-F238E27FC236}">
                <a16:creationId xmlns:a16="http://schemas.microsoft.com/office/drawing/2014/main" id="{C452E3E5-3C0E-4EBD-AF82-438AB547AFE2}"/>
              </a:ext>
            </a:extLst>
          </p:cNvPr>
          <p:cNvSpPr>
            <a:spLocks noGrp="1"/>
          </p:cNvSpPr>
          <p:nvPr/>
        </p:nvSpPr>
        <p:spPr>
          <a:xfrm>
            <a:off x="742950" y="4610100"/>
            <a:ext cx="2095500" cy="247650"/>
          </a:xfrm>
          <a:prstGeom prst="rect">
            <a:avLst/>
          </a:prstGeom>
          <a:noFill/>
          <a:ln w="0">
            <a:noFill/>
            <a:prstDash val="solid"/>
          </a:ln>
        </p:spPr>
        <p:txBody>
          <a:bodyPr wrap="square" lIns="0" tIns="0" rIns="0" bIns="0" anchor="t">
            <a:noAutofit/>
          </a:bodyPr>
          <a:lstStyle/>
          <a:p>
            <a:pPr algn="l">
              <a:buNone/>
              <a:defRPr sz="1350" b="1" i="0">
                <a:solidFill>
                  <a:srgbClr val="5D58E9"/>
                </a:solidFill>
                <a:latin typeface="Arial"/>
                <a:ea typeface="Arial"/>
                <a:cs typeface="Arial"/>
              </a:defRPr>
            </a:pPr>
            <a:r>
              <a:rPr sz="1350" b="1" i="0">
                <a:solidFill>
                  <a:srgbClr val="5D58E9"/>
                </a:solidFill>
                <a:latin typeface="Arial"/>
                <a:ea typeface="Arial"/>
                <a:cs typeface="Arial"/>
              </a:rPr>
              <a:t>What we learned</a:t>
            </a:r>
          </a:p>
        </p:txBody>
      </p:sp>
      <p:sp>
        <p:nvSpPr>
          <p:cNvPr id="21" name="surprise-text">
            <a:extLst>
              <a:ext uri="{FF2B5EF4-FFF2-40B4-BE49-F238E27FC236}">
                <a16:creationId xmlns:a16="http://schemas.microsoft.com/office/drawing/2014/main" id="{65D71A36-A925-4F25-8BE7-A67EB8097BA5}"/>
              </a:ext>
            </a:extLst>
          </p:cNvPr>
          <p:cNvSpPr>
            <a:spLocks noGrp="1"/>
          </p:cNvSpPr>
          <p:nvPr/>
        </p:nvSpPr>
        <p:spPr>
          <a:xfrm>
            <a:off x="742950" y="4953000"/>
            <a:ext cx="4667250" cy="419100"/>
          </a:xfrm>
          <a:prstGeom prst="rect">
            <a:avLst/>
          </a:prstGeom>
          <a:noFill/>
          <a:ln w="0">
            <a:noFill/>
            <a:prstDash val="solid"/>
          </a:ln>
        </p:spPr>
        <p:txBody>
          <a:bodyPr wrap="square" lIns="0" tIns="0" rIns="0" bIns="0" anchor="t">
            <a:noAutofit/>
          </a:bodyPr>
          <a:lstStyle/>
          <a:p>
            <a:pPr algn="l">
              <a:buNone/>
              <a:defRPr sz="1125" b="0" i="0">
                <a:solidFill>
                  <a:srgbClr val="111827"/>
                </a:solidFill>
                <a:latin typeface="Arial"/>
                <a:ea typeface="Arial"/>
                <a:cs typeface="Arial"/>
              </a:defRPr>
            </a:pPr>
            <a:r>
              <a:rPr sz="1125" b="0" i="0">
                <a:solidFill>
                  <a:srgbClr val="111827"/>
                </a:solidFill>
                <a:latin typeface="Arial"/>
                <a:ea typeface="Arial"/>
                <a:cs typeface="Arial"/>
              </a:rPr>
              <a:t>E2 was meant to need review. After the online-only filter, the models approved it. SHAP showed why.</a:t>
            </a:r>
          </a:p>
        </p:txBody>
      </p:sp>
      <p:sp>
        <p:nvSpPr>
          <p:cNvPr id="22" name="batch-prediction-interface-backing">
            <a:extLst>
              <a:ext uri="{FF2B5EF4-FFF2-40B4-BE49-F238E27FC236}">
                <a16:creationId xmlns:a16="http://schemas.microsoft.com/office/drawing/2014/main" id="{C7FE7ADF-D401-4D41-B29C-D3D440621415}"/>
              </a:ext>
            </a:extLst>
          </p:cNvPr>
          <p:cNvSpPr>
            <a:spLocks noGrp="1"/>
          </p:cNvSpPr>
          <p:nvPr/>
        </p:nvSpPr>
        <p:spPr>
          <a:xfrm>
            <a:off x="6572250" y="1905000"/>
            <a:ext cx="4876800" cy="2590800"/>
          </a:xfrm>
          <a:prstGeom prst="roundRect">
            <a:avLst>
              <a:gd name="adj" fmla="val 4412"/>
            </a:avLst>
          </a:prstGeom>
          <a:solidFill>
            <a:srgbClr val="F2F4F7"/>
          </a:solidFill>
          <a:ln w="9525">
            <a:solidFill>
              <a:srgbClr val="D6DDE5"/>
            </a:solidFill>
            <a:prstDash val="solid"/>
          </a:ln>
        </p:spPr>
        <p:txBody>
          <a:bodyPr/>
          <a:lstStyle/>
          <a:p>
            <a:endParaRPr/>
          </a:p>
        </p:txBody>
      </p:sp>
      <p:pic>
        <p:nvPicPr>
          <p:cNvPr id="72" name="Picture 52"/>
          <p:cNvPicPr>
            <a:picLocks noChangeAspect="1"/>
          </p:cNvPicPr>
          <p:nvPr/>
        </p:nvPicPr>
        <p:blipFill>
          <a:blip r:embed="rId3"/>
          <a:stretch/>
        </p:blipFill>
        <p:spPr>
          <a:xfrm>
            <a:off x="6629400" y="2118014"/>
            <a:ext cx="4762500" cy="2164773"/>
          </a:xfrm>
          <a:prstGeom prst="roundRect">
            <a:avLst>
              <a:gd name="adj" fmla="val 3077"/>
            </a:avLst>
          </a:prstGeom>
        </p:spPr>
      </p:pic>
      <p:sp>
        <p:nvSpPr>
          <p:cNvPr id="24" name="stack-react">
            <a:extLst>
              <a:ext uri="{FF2B5EF4-FFF2-40B4-BE49-F238E27FC236}">
                <a16:creationId xmlns:a16="http://schemas.microsoft.com/office/drawing/2014/main" id="{55376DA7-E736-48D6-8D17-574BF90CA0C8}"/>
              </a:ext>
            </a:extLst>
          </p:cNvPr>
          <p:cNvSpPr>
            <a:spLocks noGrp="1"/>
          </p:cNvSpPr>
          <p:nvPr/>
        </p:nvSpPr>
        <p:spPr>
          <a:xfrm>
            <a:off x="6762750" y="4800600"/>
            <a:ext cx="1714500" cy="247650"/>
          </a:xfrm>
          <a:prstGeom prst="rect">
            <a:avLst/>
          </a:prstGeom>
          <a:noFill/>
          <a:ln w="0">
            <a:noFill/>
            <a:prstDash val="solid"/>
          </a:ln>
        </p:spPr>
        <p:txBody>
          <a:bodyPr wrap="square" lIns="0" tIns="0" rIns="0" bIns="0" anchor="t">
            <a:noAutofit/>
          </a:bodyPr>
          <a:lstStyle/>
          <a:p>
            <a:pPr algn="l">
              <a:buNone/>
              <a:defRPr sz="1350" b="1" i="0">
                <a:solidFill>
                  <a:srgbClr val="5D58E9"/>
                </a:solidFill>
                <a:latin typeface="Arial"/>
                <a:ea typeface="Arial"/>
                <a:cs typeface="Arial"/>
              </a:defRPr>
            </a:pPr>
            <a:r>
              <a:rPr sz="1350" b="1" i="0">
                <a:solidFill>
                  <a:srgbClr val="5D58E9"/>
                </a:solidFill>
                <a:latin typeface="Arial"/>
                <a:ea typeface="Arial"/>
                <a:cs typeface="Arial"/>
              </a:rPr>
              <a:t>Web dashboard</a:t>
            </a:r>
          </a:p>
        </p:txBody>
      </p:sp>
      <p:sp>
        <p:nvSpPr>
          <p:cNvPr id="25" name="stack-api">
            <a:extLst>
              <a:ext uri="{FF2B5EF4-FFF2-40B4-BE49-F238E27FC236}">
                <a16:creationId xmlns:a16="http://schemas.microsoft.com/office/drawing/2014/main" id="{88AE5A61-86F8-4E7C-8D02-D4DAFBDD9194}"/>
              </a:ext>
            </a:extLst>
          </p:cNvPr>
          <p:cNvSpPr>
            <a:spLocks noGrp="1"/>
          </p:cNvSpPr>
          <p:nvPr/>
        </p:nvSpPr>
        <p:spPr>
          <a:xfrm>
            <a:off x="8572500" y="4800600"/>
            <a:ext cx="2095500" cy="247650"/>
          </a:xfrm>
          <a:prstGeom prst="rect">
            <a:avLst/>
          </a:prstGeom>
          <a:noFill/>
          <a:ln w="0">
            <a:noFill/>
            <a:prstDash val="solid"/>
          </a:ln>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-&gt; API</a:t>
            </a:r>
          </a:p>
        </p:txBody>
      </p:sp>
      <p:sp>
        <p:nvSpPr>
          <p:cNvPr id="26" name="stack-backend">
            <a:extLst>
              <a:ext uri="{FF2B5EF4-FFF2-40B4-BE49-F238E27FC236}">
                <a16:creationId xmlns:a16="http://schemas.microsoft.com/office/drawing/2014/main" id="{9CE9ABF0-C503-4339-A2E4-48AC7789F53A}"/>
              </a:ext>
            </a:extLst>
          </p:cNvPr>
          <p:cNvSpPr>
            <a:spLocks noGrp="1"/>
          </p:cNvSpPr>
          <p:nvPr/>
        </p:nvSpPr>
        <p:spPr>
          <a:xfrm>
            <a:off x="6762750" y="5162550"/>
            <a:ext cx="4095750" cy="2476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-&gt; models, reasons, history</a:t>
            </a:r>
          </a:p>
        </p:txBody>
      </p:sp>
      <p:sp>
        <p:nvSpPr>
          <p:cNvPr id="27" name="currency-note">
            <a:extLst>
              <a:ext uri="{FF2B5EF4-FFF2-40B4-BE49-F238E27FC236}">
                <a16:creationId xmlns:a16="http://schemas.microsoft.com/office/drawing/2014/main" id="{28F7F938-63EB-4437-B4CF-4E074E8E76B4}"/>
              </a:ext>
            </a:extLst>
          </p:cNvPr>
          <p:cNvSpPr>
            <a:spLocks noGrp="1"/>
          </p:cNvSpPr>
          <p:nvPr/>
        </p:nvSpPr>
        <p:spPr>
          <a:xfrm>
            <a:off x="6762750" y="5572125"/>
            <a:ext cx="4381500" cy="34290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The form takes MUR. The model uses USD. The rate is 49.</a:t>
            </a:r>
          </a:p>
        </p:txBody>
      </p:sp>
      <p:sp>
        <p:nvSpPr>
          <p:cNvPr id="28" name="benchmark-footer">
            <a:extLst>
              <a:ext uri="{FF2B5EF4-FFF2-40B4-BE49-F238E27FC236}">
                <a16:creationId xmlns:a16="http://schemas.microsoft.com/office/drawing/2014/main" id="{5C021F44-DA1C-455D-94FE-0E12D9CD9B30}"/>
              </a:ext>
            </a:extLst>
          </p:cNvPr>
          <p:cNvSpPr>
            <a:spLocks noGrp="1"/>
          </p:cNvSpPr>
          <p:nvPr/>
        </p:nvSpPr>
        <p:spPr>
          <a:xfrm>
            <a:off x="533400" y="6210300"/>
            <a:ext cx="10096500" cy="20955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These three examples are demos. They are not a full Mauritius study.</a:t>
            </a:r>
          </a:p>
        </p:txBody>
      </p:sp>
      <p:sp>
        <p:nvSpPr>
          <p:cNvPr id="31" name="polish-title-rail-7">
            <a:extLst>
              <a:ext uri="{FF2B5EF4-FFF2-40B4-BE49-F238E27FC236}">
                <a16:creationId xmlns:a16="http://schemas.microsoft.com/office/drawing/2014/main" id="{FF4D87C1-437A-4534-B3AD-E128375A7109}"/>
              </a:ext>
            </a:extLst>
          </p:cNvPr>
          <p:cNvSpPr>
            <a:spLocks noGrp="1"/>
          </p:cNvSpPr>
          <p:nvPr/>
        </p:nvSpPr>
        <p:spPr>
          <a:xfrm>
            <a:off x="323850" y="762000"/>
            <a:ext cx="57150" cy="552450"/>
          </a:xfrm>
          <a:prstGeom prst="roundRect">
            <a:avLst>
              <a:gd name="adj" fmla="val 50000"/>
            </a:avLst>
          </a:prstGeom>
          <a:solidFill>
            <a:srgbClr val="279A73"/>
          </a:solidFill>
          <a:ln w="0">
            <a:noFill/>
            <a:prstDash val="solid"/>
          </a:ln>
        </p:spPr>
      </p:sp>
      <p:sp>
        <p:nvSpPr>
          <p:cNvPr id="32" name="polish-title-underline-7">
            <a:extLst>
              <a:ext uri="{FF2B5EF4-FFF2-40B4-BE49-F238E27FC236}">
                <a16:creationId xmlns:a16="http://schemas.microsoft.com/office/drawing/2014/main" id="{CC460D44-01BF-4487-99A7-66DFE7BE344C}"/>
              </a:ext>
            </a:extLst>
          </p:cNvPr>
          <p:cNvSpPr>
            <a:spLocks noGrp="1"/>
          </p:cNvSpPr>
          <p:nvPr/>
        </p:nvSpPr>
        <p:spPr>
          <a:xfrm>
            <a:off x="533400" y="647700"/>
            <a:ext cx="876300" cy="28575"/>
          </a:xfrm>
          <a:prstGeom prst="roundRect">
            <a:avLst>
              <a:gd name="adj" fmla="val 50000"/>
            </a:avLst>
          </a:prstGeom>
          <a:solidFill>
            <a:srgbClr val="279A73"/>
          </a:solidFill>
          <a:ln w="0">
            <a:noFill/>
            <a:prstDash val="solid"/>
          </a:ln>
        </p:spPr>
      </p:sp>
      <p:sp>
        <p:nvSpPr>
          <p:cNvPr id="33" name="polish-progress-7-1">
            <a:extLst>
              <a:ext uri="{FF2B5EF4-FFF2-40B4-BE49-F238E27FC236}">
                <a16:creationId xmlns:a16="http://schemas.microsoft.com/office/drawing/2014/main" id="{23942762-4462-481C-B22A-92A0482B56E0}"/>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4" name="polish-progress-7-2">
            <a:extLst>
              <a:ext uri="{FF2B5EF4-FFF2-40B4-BE49-F238E27FC236}">
                <a16:creationId xmlns:a16="http://schemas.microsoft.com/office/drawing/2014/main" id="{52E42A4C-F86C-4B94-B3FC-E1826411A1DE}"/>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35" name="polish-progress-7-3">
            <a:extLst>
              <a:ext uri="{FF2B5EF4-FFF2-40B4-BE49-F238E27FC236}">
                <a16:creationId xmlns:a16="http://schemas.microsoft.com/office/drawing/2014/main" id="{83605C48-09CF-4DE4-BFD3-E2183CB80305}"/>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6" name="polish-progress-7-4">
            <a:extLst>
              <a:ext uri="{FF2B5EF4-FFF2-40B4-BE49-F238E27FC236}">
                <a16:creationId xmlns:a16="http://schemas.microsoft.com/office/drawing/2014/main" id="{38EE49FD-515B-499A-8044-F750F09F17D9}"/>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7" name="polish-progress-7-5">
            <a:extLst>
              <a:ext uri="{FF2B5EF4-FFF2-40B4-BE49-F238E27FC236}">
                <a16:creationId xmlns:a16="http://schemas.microsoft.com/office/drawing/2014/main" id="{5FFAB853-88B9-4442-AA2A-9A386E42A14C}"/>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8" name="polish-progress-7-6">
            <a:extLst>
              <a:ext uri="{FF2B5EF4-FFF2-40B4-BE49-F238E27FC236}">
                <a16:creationId xmlns:a16="http://schemas.microsoft.com/office/drawing/2014/main" id="{3A1F520E-684E-4527-9E6D-24025E6253F4}"/>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39" name="polish-progress-7-7">
            <a:extLst>
              <a:ext uri="{FF2B5EF4-FFF2-40B4-BE49-F238E27FC236}">
                <a16:creationId xmlns:a16="http://schemas.microsoft.com/office/drawing/2014/main" id="{D3426362-01F2-44B1-A7FD-05BD4EFF8F1D}"/>
              </a:ext>
            </a:extLst>
          </p:cNvPr>
          <p:cNvSpPr>
            <a:spLocks noGrp="1"/>
          </p:cNvSpPr>
          <p:nvPr/>
        </p:nvSpPr>
        <p:spPr>
          <a:xfrm>
            <a:off x="6334125" y="6572250"/>
            <a:ext cx="152400" cy="28575"/>
          </a:xfrm>
          <a:prstGeom prst="roundRect">
            <a:avLst>
              <a:gd name="adj" fmla="val 50000"/>
            </a:avLst>
          </a:prstGeom>
          <a:solidFill>
            <a:srgbClr val="279A73"/>
          </a:solidFill>
          <a:ln w="0">
            <a:noFill/>
            <a:prstDash val="solid"/>
          </a:ln>
        </p:spPr>
      </p:sp>
      <p:sp>
        <p:nvSpPr>
          <p:cNvPr id="40" name="polish-progress-7-8">
            <a:extLst>
              <a:ext uri="{FF2B5EF4-FFF2-40B4-BE49-F238E27FC236}">
                <a16:creationId xmlns:a16="http://schemas.microsoft.com/office/drawing/2014/main" id="{6553246C-B92C-4EFB-BE03-03A38F41187E}"/>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1" name="polish-progress-7-9">
            <a:extLst>
              <a:ext uri="{FF2B5EF4-FFF2-40B4-BE49-F238E27FC236}">
                <a16:creationId xmlns:a16="http://schemas.microsoft.com/office/drawing/2014/main" id="{4D1980F2-63A3-4D0C-BF8A-A05A88174872}"/>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42" name="polish-progress-7-10">
            <a:extLst>
              <a:ext uri="{FF2B5EF4-FFF2-40B4-BE49-F238E27FC236}">
                <a16:creationId xmlns:a16="http://schemas.microsoft.com/office/drawing/2014/main" id="{34CA7BE2-BB93-45A0-8FE6-AB618597FEAB}"/>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44" name="visual-workflow-predict">
            <a:extLst>
              <a:ext uri="{FF2B5EF4-FFF2-40B4-BE49-F238E27FC236}">
                <a16:creationId xmlns:a16="http://schemas.microsoft.com/office/drawing/2014/main" id="{0B0504A2-54C1-441C-B872-BD8566500FF2}"/>
              </a:ext>
            </a:extLst>
          </p:cNvPr>
          <p:cNvSpPr>
            <a:spLocks noGrp="1"/>
          </p:cNvSpPr>
          <p:nvPr/>
        </p:nvSpPr>
        <p:spPr>
          <a:xfrm>
            <a:off x="6762750" y="4572000"/>
            <a:ext cx="952500" cy="209550"/>
          </a:xfrm>
          <a:prstGeom prst="rect">
            <a:avLst/>
          </a:prstGeom>
          <a:noFill/>
          <a:ln w="0">
            <a:noFill/>
            <a:prstDash val="solid"/>
          </a:ln>
        </p:spPr>
        <p:txBody>
          <a:bodyPr wrap="square" lIns="0" tIns="0" rIns="0" bIns="0"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PREDICT</a:t>
            </a:r>
          </a:p>
        </p:txBody>
      </p:sp>
      <p:sp>
        <p:nvSpPr>
          <p:cNvPr id="45" name="visual-workflow-arrow-1">
            <a:extLst>
              <a:ext uri="{FF2B5EF4-FFF2-40B4-BE49-F238E27FC236}">
                <a16:creationId xmlns:a16="http://schemas.microsoft.com/office/drawing/2014/main" id="{05BAD2FD-9042-4DC2-9AAD-353926639C7A}"/>
              </a:ext>
            </a:extLst>
          </p:cNvPr>
          <p:cNvSpPr>
            <a:spLocks noGrp="1"/>
          </p:cNvSpPr>
          <p:nvPr/>
        </p:nvSpPr>
        <p:spPr>
          <a:xfrm>
            <a:off x="7772400" y="4572000"/>
            <a:ext cx="247650" cy="209550"/>
          </a:xfrm>
          <a:prstGeom prst="rect">
            <a:avLst/>
          </a:prstGeom>
          <a:noFill/>
          <a:ln w="0">
            <a:noFill/>
            <a:prstDash val="solid"/>
          </a:ln>
        </p:spPr>
        <p:txBody>
          <a:bodyPr wrap="square" lIns="0" tIns="0" rIns="0" bIns="0" anchor="t">
            <a:noAutofit/>
          </a:bodyPr>
          <a:lstStyle/>
          <a:p>
            <a:pPr algn="ctr">
              <a:buNone/>
              <a:defRPr sz="1350" b="1" i="0">
                <a:solidFill>
                  <a:srgbClr val="8190A0"/>
                </a:solidFill>
                <a:latin typeface="Arial"/>
                <a:ea typeface="Arial"/>
                <a:cs typeface="Arial"/>
              </a:defRPr>
            </a:pPr>
            <a:r>
              <a:rPr sz="1350" b="1" i="0">
                <a:solidFill>
                  <a:srgbClr val="8190A0"/>
                </a:solidFill>
                <a:latin typeface="Arial"/>
                <a:ea typeface="Arial"/>
                <a:cs typeface="Arial"/>
              </a:rPr>
              <a:t>→</a:t>
            </a:r>
          </a:p>
        </p:txBody>
      </p:sp>
      <p:sp>
        <p:nvSpPr>
          <p:cNvPr id="46" name="visual-workflow-explain">
            <a:extLst>
              <a:ext uri="{FF2B5EF4-FFF2-40B4-BE49-F238E27FC236}">
                <a16:creationId xmlns:a16="http://schemas.microsoft.com/office/drawing/2014/main" id="{CEA197DA-9BD1-48C1-8221-96E0106C5BAF}"/>
              </a:ext>
            </a:extLst>
          </p:cNvPr>
          <p:cNvSpPr>
            <a:spLocks noGrp="1"/>
          </p:cNvSpPr>
          <p:nvPr/>
        </p:nvSpPr>
        <p:spPr>
          <a:xfrm>
            <a:off x="8096250" y="4572000"/>
            <a:ext cx="952500" cy="209550"/>
          </a:xfrm>
          <a:prstGeom prst="rect">
            <a:avLst/>
          </a:prstGeom>
          <a:noFill/>
          <a:ln w="0">
            <a:noFill/>
            <a:prstDash val="solid"/>
          </a:ln>
        </p:spPr>
        <p:txBody>
          <a:bodyPr wrap="square" lIns="0" tIns="0" rIns="0" bIns="0" anchor="t">
            <a:noAutofit/>
          </a:bodyPr>
          <a:lstStyle/>
          <a:p>
            <a:pPr algn="l">
              <a:buNone/>
              <a:defRPr sz="1200" b="1" i="0">
                <a:solidFill>
                  <a:srgbClr val="5D58E9"/>
                </a:solidFill>
                <a:latin typeface="Arial"/>
                <a:ea typeface="Arial"/>
                <a:cs typeface="Arial"/>
              </a:defRPr>
            </a:pPr>
            <a:r>
              <a:rPr sz="1200" b="1" i="0">
                <a:solidFill>
                  <a:srgbClr val="5D58E9"/>
                </a:solidFill>
                <a:latin typeface="Arial"/>
                <a:ea typeface="Arial"/>
                <a:cs typeface="Arial"/>
              </a:rPr>
              <a:t>EXPLAIN</a:t>
            </a:r>
          </a:p>
        </p:txBody>
      </p:sp>
      <p:sp>
        <p:nvSpPr>
          <p:cNvPr id="47" name="visual-workflow-arrow-2">
            <a:extLst>
              <a:ext uri="{FF2B5EF4-FFF2-40B4-BE49-F238E27FC236}">
                <a16:creationId xmlns:a16="http://schemas.microsoft.com/office/drawing/2014/main" id="{9C79BAD3-58F2-4CA3-B704-FA4D8915357C}"/>
              </a:ext>
            </a:extLst>
          </p:cNvPr>
          <p:cNvSpPr>
            <a:spLocks noGrp="1"/>
          </p:cNvSpPr>
          <p:nvPr/>
        </p:nvSpPr>
        <p:spPr>
          <a:xfrm>
            <a:off x="9105900" y="4572000"/>
            <a:ext cx="247650" cy="209550"/>
          </a:xfrm>
          <a:prstGeom prst="rect">
            <a:avLst/>
          </a:prstGeom>
          <a:noFill/>
          <a:ln w="0">
            <a:noFill/>
            <a:prstDash val="solid"/>
          </a:ln>
        </p:spPr>
        <p:txBody>
          <a:bodyPr wrap="square" lIns="0" tIns="0" rIns="0" bIns="0" anchor="t">
            <a:noAutofit/>
          </a:bodyPr>
          <a:lstStyle/>
          <a:p>
            <a:pPr algn="ctr">
              <a:buNone/>
              <a:defRPr sz="1350" b="1" i="0">
                <a:solidFill>
                  <a:srgbClr val="8190A0"/>
                </a:solidFill>
                <a:latin typeface="Arial"/>
                <a:ea typeface="Arial"/>
                <a:cs typeface="Arial"/>
              </a:defRPr>
            </a:pPr>
            <a:r>
              <a:rPr sz="1350" b="1" i="0">
                <a:solidFill>
                  <a:srgbClr val="8190A0"/>
                </a:solidFill>
                <a:latin typeface="Arial"/>
                <a:ea typeface="Arial"/>
                <a:cs typeface="Arial"/>
              </a:rPr>
              <a:t>→</a:t>
            </a:r>
          </a:p>
        </p:txBody>
      </p:sp>
      <p:sp>
        <p:nvSpPr>
          <p:cNvPr id="48" name="visual-workflow-review">
            <a:extLst>
              <a:ext uri="{FF2B5EF4-FFF2-40B4-BE49-F238E27FC236}">
                <a16:creationId xmlns:a16="http://schemas.microsoft.com/office/drawing/2014/main" id="{3A717A0A-F0FF-481F-AA24-E01FB79AE400}"/>
              </a:ext>
            </a:extLst>
          </p:cNvPr>
          <p:cNvSpPr>
            <a:spLocks noGrp="1"/>
          </p:cNvSpPr>
          <p:nvPr/>
        </p:nvSpPr>
        <p:spPr>
          <a:xfrm>
            <a:off x="9429750" y="4572000"/>
            <a:ext cx="952500" cy="209550"/>
          </a:xfrm>
          <a:prstGeom prst="rect">
            <a:avLst/>
          </a:prstGeom>
          <a:noFill/>
          <a:ln w="0">
            <a:noFill/>
            <a:prstDash val="solid"/>
          </a:ln>
        </p:spPr>
        <p:txBody>
          <a:bodyPr wrap="square" lIns="0" tIns="0" rIns="0" bIns="0" anchor="t">
            <a:noAutofit/>
          </a:bodyPr>
          <a:lstStyle/>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REVIEW</a:t>
            </a:r>
          </a:p>
        </p:txBody>
      </p:sp>
    </p:spTree>
    <p:extLst>
      <p:ext uri="{BB962C8B-B14F-4D97-AF65-F5344CB8AC3E}">
        <p14:creationId xmlns:p14="http://schemas.microsoft.com/office/powerpoint/2010/main" val="512691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9" name="rule">
            <a:extLst>
              <a:ext uri="{FF2B5EF4-FFF2-40B4-BE49-F238E27FC236}">
                <a16:creationId xmlns:a16="http://schemas.microsoft.com/office/drawing/2014/main" id="{552B6C45-F959-4AB8-8118-62825D2157A0}"/>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4283E677-828F-4BD2-9BC1-CEECF3FA615B}"/>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ANSWERS</a:t>
            </a:r>
          </a:p>
        </p:txBody>
      </p:sp>
      <p:sp>
        <p:nvSpPr>
          <p:cNvPr id="3" name="page-number">
            <a:extLst>
              <a:ext uri="{FF2B5EF4-FFF2-40B4-BE49-F238E27FC236}">
                <a16:creationId xmlns:a16="http://schemas.microsoft.com/office/drawing/2014/main" id="{6BBF6E91-0BA1-4C0E-B619-160916AA96D9}"/>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09</a:t>
            </a:r>
          </a:p>
        </p:txBody>
      </p:sp>
      <p:sp>
        <p:nvSpPr>
          <p:cNvPr id="4" name="slide-title">
            <a:extLst>
              <a:ext uri="{FF2B5EF4-FFF2-40B4-BE49-F238E27FC236}">
                <a16:creationId xmlns:a16="http://schemas.microsoft.com/office/drawing/2014/main" id="{75F2CBA6-E99F-4B98-A9B7-0E17EC7B6767}"/>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Three questions. Three short answers.</a:t>
            </a:r>
          </a:p>
        </p:txBody>
      </p:sp>
      <p:sp>
        <p:nvSpPr>
          <p:cNvPr id="5" name="slide-subtitle">
            <a:extLst>
              <a:ext uri="{FF2B5EF4-FFF2-40B4-BE49-F238E27FC236}">
                <a16:creationId xmlns:a16="http://schemas.microsoft.com/office/drawing/2014/main" id="{63E4E154-E1A2-4987-8B91-3EDD3ACD9C65}"/>
              </a:ext>
            </a:extLst>
          </p:cNvPr>
          <p:cNvSpPr>
            <a:spLocks noGrp="1"/>
          </p:cNvSpPr>
          <p:nvPr/>
        </p:nvSpPr>
        <p:spPr>
          <a:xfrm>
            <a:off x="533400" y="1295400"/>
            <a:ext cx="11049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The app is strong. Claims about Mauritius stay careful.</a:t>
            </a:r>
          </a:p>
        </p:txBody>
      </p:sp>
      <p:sp>
        <p:nvSpPr>
          <p:cNvPr id="6" name="rq-header">
            <a:extLst>
              <a:ext uri="{FF2B5EF4-FFF2-40B4-BE49-F238E27FC236}">
                <a16:creationId xmlns:a16="http://schemas.microsoft.com/office/drawing/2014/main" id="{8B8983CF-F770-4F2C-A4CF-BE189BC60513}"/>
              </a:ext>
            </a:extLst>
          </p:cNvPr>
          <p:cNvSpPr>
            <a:spLocks noGrp="1"/>
          </p:cNvSpPr>
          <p:nvPr/>
        </p:nvSpPr>
        <p:spPr>
          <a:xfrm>
            <a:off x="1714500" y="1752600"/>
            <a:ext cx="36195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QUESTION</a:t>
            </a:r>
          </a:p>
        </p:txBody>
      </p:sp>
      <p:sp>
        <p:nvSpPr>
          <p:cNvPr id="7" name="answer-header">
            <a:extLst>
              <a:ext uri="{FF2B5EF4-FFF2-40B4-BE49-F238E27FC236}">
                <a16:creationId xmlns:a16="http://schemas.microsoft.com/office/drawing/2014/main" id="{E2653822-037A-4923-9602-1F6973E7BD6D}"/>
              </a:ext>
            </a:extLst>
          </p:cNvPr>
          <p:cNvSpPr>
            <a:spLocks noGrp="1"/>
          </p:cNvSpPr>
          <p:nvPr/>
        </p:nvSpPr>
        <p:spPr>
          <a:xfrm>
            <a:off x="5810250" y="1752600"/>
            <a:ext cx="40005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ANSWER</a:t>
            </a:r>
          </a:p>
        </p:txBody>
      </p:sp>
      <p:sp>
        <p:nvSpPr>
          <p:cNvPr id="8" name="rq-row-1">
            <a:extLst>
              <a:ext uri="{FF2B5EF4-FFF2-40B4-BE49-F238E27FC236}">
                <a16:creationId xmlns:a16="http://schemas.microsoft.com/office/drawing/2014/main" id="{B2452208-16FB-4DF8-BF58-AD2256CB3E61}"/>
              </a:ext>
            </a:extLst>
          </p:cNvPr>
          <p:cNvSpPr>
            <a:spLocks noGrp="1"/>
          </p:cNvSpPr>
          <p:nvPr/>
        </p:nvSpPr>
        <p:spPr>
          <a:xfrm>
            <a:off x="533400" y="2076450"/>
            <a:ext cx="11125200" cy="895350"/>
          </a:xfrm>
          <a:prstGeom prst="roundRect">
            <a:avLst>
              <a:gd name="adj" fmla="val 8511"/>
            </a:avLst>
          </a:prstGeom>
          <a:solidFill>
            <a:srgbClr val="F7F9FB"/>
          </a:solidFill>
          <a:ln w="9525">
            <a:solidFill>
              <a:srgbClr val="D6DDE5"/>
            </a:solidFill>
            <a:prstDash val="solid"/>
          </a:ln>
        </p:spPr>
        <p:txBody>
          <a:bodyPr/>
          <a:lstStyle/>
          <a:p>
            <a:endParaRPr/>
          </a:p>
        </p:txBody>
      </p:sp>
      <p:sp>
        <p:nvSpPr>
          <p:cNvPr id="9" name="rq-label-1">
            <a:extLst>
              <a:ext uri="{FF2B5EF4-FFF2-40B4-BE49-F238E27FC236}">
                <a16:creationId xmlns:a16="http://schemas.microsoft.com/office/drawing/2014/main" id="{DBA78A60-E2F1-4069-A85A-325080C18C32}"/>
              </a:ext>
            </a:extLst>
          </p:cNvPr>
          <p:cNvSpPr>
            <a:spLocks noGrp="1"/>
          </p:cNvSpPr>
          <p:nvPr/>
        </p:nvSpPr>
        <p:spPr>
          <a:xfrm>
            <a:off x="742950" y="2390775"/>
            <a:ext cx="742950" cy="228600"/>
          </a:xfrm>
          <a:prstGeom prst="rect">
            <a:avLst/>
          </a:prstGeom>
          <a:noFill/>
          <a:ln w="0">
            <a:noFill/>
            <a:prstDash val="solid"/>
          </a:ln>
        </p:spPr>
        <p:txBody>
          <a:bodyPr wrap="square" lIns="0" tIns="0" rIns="0" bIns="0" anchor="t">
            <a:noAutofit/>
          </a:bodyPr>
          <a:lstStyle/>
          <a:p>
            <a:pPr algn="l">
              <a:buNone/>
              <a:defRPr sz="1275" b="1" i="0">
                <a:solidFill>
                  <a:srgbClr val="279A73"/>
                </a:solidFill>
                <a:latin typeface="Arial"/>
                <a:ea typeface="Arial"/>
                <a:cs typeface="Arial"/>
              </a:defRPr>
            </a:pPr>
            <a:r>
              <a:rPr sz="1275" b="1" i="0">
                <a:solidFill>
                  <a:srgbClr val="279A73"/>
                </a:solidFill>
                <a:latin typeface="Arial"/>
                <a:ea typeface="Arial"/>
                <a:cs typeface="Arial"/>
              </a:rPr>
              <a:t>RQ1</a:t>
            </a:r>
          </a:p>
        </p:txBody>
      </p:sp>
      <p:sp>
        <p:nvSpPr>
          <p:cNvPr id="10" name="rq-question-1">
            <a:extLst>
              <a:ext uri="{FF2B5EF4-FFF2-40B4-BE49-F238E27FC236}">
                <a16:creationId xmlns:a16="http://schemas.microsoft.com/office/drawing/2014/main" id="{B5DA54E3-5073-4D6E-960C-686314826999}"/>
              </a:ext>
            </a:extLst>
          </p:cNvPr>
          <p:cNvSpPr>
            <a:spLocks noGrp="1"/>
          </p:cNvSpPr>
          <p:nvPr/>
        </p:nvSpPr>
        <p:spPr>
          <a:xfrm>
            <a:off x="1714500" y="2209800"/>
            <a:ext cx="3714750" cy="62865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Can models find rare online fraud?</a:t>
            </a:r>
          </a:p>
        </p:txBody>
      </p:sp>
      <p:sp>
        <p:nvSpPr>
          <p:cNvPr id="11" name="rq-verdict-1">
            <a:extLst>
              <a:ext uri="{FF2B5EF4-FFF2-40B4-BE49-F238E27FC236}">
                <a16:creationId xmlns:a16="http://schemas.microsoft.com/office/drawing/2014/main" id="{93AF5877-A49A-4E4D-88B1-B61FF20E071E}"/>
              </a:ext>
            </a:extLst>
          </p:cNvPr>
          <p:cNvSpPr>
            <a:spLocks noGrp="1"/>
          </p:cNvSpPr>
          <p:nvPr/>
        </p:nvSpPr>
        <p:spPr>
          <a:xfrm>
            <a:off x="5810250" y="2400300"/>
            <a:ext cx="704850" cy="266700"/>
          </a:xfrm>
          <a:prstGeom prst="roundRect">
            <a:avLst>
              <a:gd name="adj" fmla="val 28571"/>
            </a:avLst>
          </a:prstGeom>
          <a:solidFill>
            <a:srgbClr val="279A73"/>
          </a:solidFill>
          <a:ln w="0">
            <a:noFill/>
            <a:prstDash val="solid"/>
          </a:ln>
        </p:spPr>
        <p:txBody>
          <a:bodyPr/>
          <a:lstStyle/>
          <a:p>
            <a:endParaRPr/>
          </a:p>
        </p:txBody>
      </p:sp>
      <p:sp>
        <p:nvSpPr>
          <p:cNvPr id="12" name="rq-verdict-text-1">
            <a:extLst>
              <a:ext uri="{FF2B5EF4-FFF2-40B4-BE49-F238E27FC236}">
                <a16:creationId xmlns:a16="http://schemas.microsoft.com/office/drawing/2014/main" id="{53F666D4-3AEB-403F-B1F3-D0A2E4669C93}"/>
              </a:ext>
            </a:extLst>
          </p:cNvPr>
          <p:cNvSpPr>
            <a:spLocks noGrp="1"/>
          </p:cNvSpPr>
          <p:nvPr/>
        </p:nvSpPr>
        <p:spPr>
          <a:xfrm>
            <a:off x="5810250" y="2457450"/>
            <a:ext cx="704850" cy="171450"/>
          </a:xfrm>
          <a:prstGeom prst="rect">
            <a:avLst/>
          </a:prstGeom>
          <a:noFill/>
          <a:ln w="0">
            <a:noFill/>
            <a:prstDash val="solid"/>
          </a:ln>
        </p:spPr>
        <p:txBody>
          <a:bodyPr wrap="square" lIns="0" tIns="0" rIns="0" bIns="0" anchor="t">
            <a:noAutofit/>
          </a:bodyPr>
          <a:lstStyle/>
          <a:p>
            <a:pPr algn="ctr">
              <a:buNone/>
              <a:defRPr sz="825" b="1" i="0">
                <a:solidFill>
                  <a:srgbClr val="FFFFFF"/>
                </a:solidFill>
                <a:latin typeface="Arial"/>
                <a:ea typeface="Arial"/>
                <a:cs typeface="Arial"/>
              </a:defRPr>
            </a:pPr>
            <a:r>
              <a:rPr sz="825" b="1" i="0">
                <a:solidFill>
                  <a:srgbClr val="FFFFFF"/>
                </a:solidFill>
                <a:latin typeface="Arial"/>
                <a:ea typeface="Arial"/>
                <a:cs typeface="Arial"/>
              </a:rPr>
              <a:t>YES</a:t>
            </a:r>
          </a:p>
        </p:txBody>
      </p:sp>
      <p:sp>
        <p:nvSpPr>
          <p:cNvPr id="13" name="rq-answer-1">
            <a:extLst>
              <a:ext uri="{FF2B5EF4-FFF2-40B4-BE49-F238E27FC236}">
                <a16:creationId xmlns:a16="http://schemas.microsoft.com/office/drawing/2014/main" id="{7968FF41-1438-4A31-B414-9F8EAD9EF773}"/>
              </a:ext>
            </a:extLst>
          </p:cNvPr>
          <p:cNvSpPr>
            <a:spLocks noGrp="1"/>
          </p:cNvSpPr>
          <p:nvPr/>
        </p:nvSpPr>
        <p:spPr>
          <a:xfrm>
            <a:off x="6705600" y="2219325"/>
            <a:ext cx="4762500" cy="60960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Yes. XGBoost: 92.63% precision and 97.60% PR-AUC. Random Forest is close.</a:t>
            </a:r>
          </a:p>
        </p:txBody>
      </p:sp>
      <p:sp>
        <p:nvSpPr>
          <p:cNvPr id="14" name="rq-row-2">
            <a:extLst>
              <a:ext uri="{FF2B5EF4-FFF2-40B4-BE49-F238E27FC236}">
                <a16:creationId xmlns:a16="http://schemas.microsoft.com/office/drawing/2014/main" id="{F526DF77-496F-4868-9C67-4739443C6829}"/>
              </a:ext>
            </a:extLst>
          </p:cNvPr>
          <p:cNvSpPr>
            <a:spLocks noGrp="1"/>
          </p:cNvSpPr>
          <p:nvPr/>
        </p:nvSpPr>
        <p:spPr>
          <a:xfrm>
            <a:off x="533400" y="3105150"/>
            <a:ext cx="11125200" cy="895350"/>
          </a:xfrm>
          <a:prstGeom prst="roundRect">
            <a:avLst>
              <a:gd name="adj" fmla="val 8511"/>
            </a:avLst>
          </a:prstGeom>
          <a:solidFill>
            <a:srgbClr val="FFFFFF"/>
          </a:solidFill>
          <a:ln w="9525">
            <a:solidFill>
              <a:srgbClr val="D6DDE5"/>
            </a:solidFill>
            <a:prstDash val="solid"/>
          </a:ln>
        </p:spPr>
        <p:txBody>
          <a:bodyPr/>
          <a:lstStyle/>
          <a:p>
            <a:endParaRPr/>
          </a:p>
        </p:txBody>
      </p:sp>
      <p:sp>
        <p:nvSpPr>
          <p:cNvPr id="15" name="rq-label-2">
            <a:extLst>
              <a:ext uri="{FF2B5EF4-FFF2-40B4-BE49-F238E27FC236}">
                <a16:creationId xmlns:a16="http://schemas.microsoft.com/office/drawing/2014/main" id="{640C44E0-A89B-4E2E-ADD6-761F32C070D6}"/>
              </a:ext>
            </a:extLst>
          </p:cNvPr>
          <p:cNvSpPr>
            <a:spLocks noGrp="1"/>
          </p:cNvSpPr>
          <p:nvPr/>
        </p:nvSpPr>
        <p:spPr>
          <a:xfrm>
            <a:off x="742950" y="3419475"/>
            <a:ext cx="742950" cy="228600"/>
          </a:xfrm>
          <a:prstGeom prst="rect">
            <a:avLst/>
          </a:prstGeom>
          <a:noFill/>
          <a:ln w="0">
            <a:noFill/>
            <a:prstDash val="solid"/>
          </a:ln>
        </p:spPr>
        <p:txBody>
          <a:bodyPr wrap="square" lIns="0" tIns="0" rIns="0" bIns="0" anchor="t">
            <a:noAutofit/>
          </a:bodyPr>
          <a:lstStyle/>
          <a:p>
            <a:pPr algn="l">
              <a:buNone/>
              <a:defRPr sz="1275" b="1" i="0">
                <a:solidFill>
                  <a:srgbClr val="5D58E9"/>
                </a:solidFill>
                <a:latin typeface="Arial"/>
                <a:ea typeface="Arial"/>
                <a:cs typeface="Arial"/>
              </a:defRPr>
            </a:pPr>
            <a:r>
              <a:rPr sz="1275" b="1" i="0">
                <a:solidFill>
                  <a:srgbClr val="5D58E9"/>
                </a:solidFill>
                <a:latin typeface="Arial"/>
                <a:ea typeface="Arial"/>
                <a:cs typeface="Arial"/>
              </a:rPr>
              <a:t>RQ2</a:t>
            </a:r>
          </a:p>
        </p:txBody>
      </p:sp>
      <p:sp>
        <p:nvSpPr>
          <p:cNvPr id="16" name="rq-question-2">
            <a:extLst>
              <a:ext uri="{FF2B5EF4-FFF2-40B4-BE49-F238E27FC236}">
                <a16:creationId xmlns:a16="http://schemas.microsoft.com/office/drawing/2014/main" id="{A7726207-E8D5-4025-A996-A0F8EEE79401}"/>
              </a:ext>
            </a:extLst>
          </p:cNvPr>
          <p:cNvSpPr>
            <a:spLocks noGrp="1"/>
          </p:cNvSpPr>
          <p:nvPr/>
        </p:nvSpPr>
        <p:spPr>
          <a:xfrm>
            <a:off x="1714500" y="3238500"/>
            <a:ext cx="3714750" cy="62865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Can we explain the decision and stay safe?</a:t>
            </a:r>
          </a:p>
        </p:txBody>
      </p:sp>
      <p:sp>
        <p:nvSpPr>
          <p:cNvPr id="17" name="rq-verdict-2">
            <a:extLst>
              <a:ext uri="{FF2B5EF4-FFF2-40B4-BE49-F238E27FC236}">
                <a16:creationId xmlns:a16="http://schemas.microsoft.com/office/drawing/2014/main" id="{F978E177-0C79-4CD3-B884-C2F91F6BCA3A}"/>
              </a:ext>
            </a:extLst>
          </p:cNvPr>
          <p:cNvSpPr>
            <a:spLocks noGrp="1"/>
          </p:cNvSpPr>
          <p:nvPr/>
        </p:nvSpPr>
        <p:spPr>
          <a:xfrm>
            <a:off x="5810250" y="3429000"/>
            <a:ext cx="704850" cy="266700"/>
          </a:xfrm>
          <a:prstGeom prst="roundRect">
            <a:avLst>
              <a:gd name="adj" fmla="val 28571"/>
            </a:avLst>
          </a:prstGeom>
          <a:solidFill>
            <a:srgbClr val="5D58E9"/>
          </a:solidFill>
          <a:ln w="0">
            <a:noFill/>
            <a:prstDash val="solid"/>
          </a:ln>
        </p:spPr>
        <p:txBody>
          <a:bodyPr/>
          <a:lstStyle/>
          <a:p>
            <a:endParaRPr/>
          </a:p>
        </p:txBody>
      </p:sp>
      <p:sp>
        <p:nvSpPr>
          <p:cNvPr id="18" name="rq-verdict-text-2">
            <a:extLst>
              <a:ext uri="{FF2B5EF4-FFF2-40B4-BE49-F238E27FC236}">
                <a16:creationId xmlns:a16="http://schemas.microsoft.com/office/drawing/2014/main" id="{A1632BF3-5374-451C-A5C5-8F746C7721EA}"/>
              </a:ext>
            </a:extLst>
          </p:cNvPr>
          <p:cNvSpPr>
            <a:spLocks noGrp="1"/>
          </p:cNvSpPr>
          <p:nvPr/>
        </p:nvSpPr>
        <p:spPr>
          <a:xfrm>
            <a:off x="5810250" y="3486150"/>
            <a:ext cx="704850" cy="171450"/>
          </a:xfrm>
          <a:prstGeom prst="rect">
            <a:avLst/>
          </a:prstGeom>
          <a:noFill/>
          <a:ln w="0">
            <a:noFill/>
            <a:prstDash val="solid"/>
          </a:ln>
        </p:spPr>
        <p:txBody>
          <a:bodyPr wrap="square" lIns="0" tIns="0" rIns="0" bIns="0" anchor="t">
            <a:noAutofit/>
          </a:bodyPr>
          <a:lstStyle/>
          <a:p>
            <a:pPr algn="ctr">
              <a:buNone/>
              <a:defRPr sz="825" b="1" i="0">
                <a:solidFill>
                  <a:srgbClr val="FFFFFF"/>
                </a:solidFill>
                <a:latin typeface="Arial"/>
                <a:ea typeface="Arial"/>
                <a:cs typeface="Arial"/>
              </a:defRPr>
            </a:pPr>
            <a:r>
              <a:rPr sz="825" b="1" i="0">
                <a:solidFill>
                  <a:srgbClr val="FFFFFF"/>
                </a:solidFill>
                <a:latin typeface="Arial"/>
                <a:ea typeface="Arial"/>
                <a:cs typeface="Arial"/>
              </a:rPr>
              <a:t>YES</a:t>
            </a:r>
          </a:p>
        </p:txBody>
      </p:sp>
      <p:sp>
        <p:nvSpPr>
          <p:cNvPr id="19" name="rq-answer-2">
            <a:extLst>
              <a:ext uri="{FF2B5EF4-FFF2-40B4-BE49-F238E27FC236}">
                <a16:creationId xmlns:a16="http://schemas.microsoft.com/office/drawing/2014/main" id="{9E81B2CF-73D3-45D3-983C-43BD4022D18E}"/>
              </a:ext>
            </a:extLst>
          </p:cNvPr>
          <p:cNvSpPr>
            <a:spLocks noGrp="1"/>
          </p:cNvSpPr>
          <p:nvPr/>
        </p:nvSpPr>
        <p:spPr>
          <a:xfrm>
            <a:off x="6705600" y="3248025"/>
            <a:ext cx="4762500" cy="60960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Yes. SHAP shows the reasons. The strictest model can still block.</a:t>
            </a:r>
          </a:p>
        </p:txBody>
      </p:sp>
      <p:sp>
        <p:nvSpPr>
          <p:cNvPr id="20" name="rq-row-3">
            <a:extLst>
              <a:ext uri="{FF2B5EF4-FFF2-40B4-BE49-F238E27FC236}">
                <a16:creationId xmlns:a16="http://schemas.microsoft.com/office/drawing/2014/main" id="{49D222B4-30A4-414B-8CA9-AC3C6ACE94AC}"/>
              </a:ext>
            </a:extLst>
          </p:cNvPr>
          <p:cNvSpPr>
            <a:spLocks noGrp="1"/>
          </p:cNvSpPr>
          <p:nvPr/>
        </p:nvSpPr>
        <p:spPr>
          <a:xfrm>
            <a:off x="533400" y="4133850"/>
            <a:ext cx="11125200" cy="895350"/>
          </a:xfrm>
          <a:prstGeom prst="roundRect">
            <a:avLst>
              <a:gd name="adj" fmla="val 8511"/>
            </a:avLst>
          </a:prstGeom>
          <a:solidFill>
            <a:srgbClr val="F7F9FB"/>
          </a:solidFill>
          <a:ln w="9525">
            <a:solidFill>
              <a:srgbClr val="D6DDE5"/>
            </a:solidFill>
            <a:prstDash val="solid"/>
          </a:ln>
        </p:spPr>
        <p:txBody>
          <a:bodyPr/>
          <a:lstStyle/>
          <a:p>
            <a:endParaRPr/>
          </a:p>
        </p:txBody>
      </p:sp>
      <p:sp>
        <p:nvSpPr>
          <p:cNvPr id="21" name="rq-label-3">
            <a:extLst>
              <a:ext uri="{FF2B5EF4-FFF2-40B4-BE49-F238E27FC236}">
                <a16:creationId xmlns:a16="http://schemas.microsoft.com/office/drawing/2014/main" id="{734C04D9-AD3A-4FEC-A7C6-B9E086E81389}"/>
              </a:ext>
            </a:extLst>
          </p:cNvPr>
          <p:cNvSpPr>
            <a:spLocks noGrp="1"/>
          </p:cNvSpPr>
          <p:nvPr/>
        </p:nvSpPr>
        <p:spPr>
          <a:xfrm>
            <a:off x="742950" y="4448175"/>
            <a:ext cx="742950" cy="228600"/>
          </a:xfrm>
          <a:prstGeom prst="rect">
            <a:avLst/>
          </a:prstGeom>
          <a:noFill/>
          <a:ln w="0">
            <a:noFill/>
            <a:prstDash val="solid"/>
          </a:ln>
        </p:spPr>
        <p:txBody>
          <a:bodyPr wrap="square" lIns="0" tIns="0" rIns="0" bIns="0" anchor="t">
            <a:noAutofit/>
          </a:bodyPr>
          <a:lstStyle/>
          <a:p>
            <a:pPr algn="l">
              <a:buNone/>
              <a:defRPr sz="1275" b="1" i="0">
                <a:solidFill>
                  <a:srgbClr val="E7864F"/>
                </a:solidFill>
                <a:latin typeface="Arial"/>
                <a:ea typeface="Arial"/>
                <a:cs typeface="Arial"/>
              </a:defRPr>
            </a:pPr>
            <a:r>
              <a:rPr sz="1275" b="1" i="0">
                <a:solidFill>
                  <a:srgbClr val="E7864F"/>
                </a:solidFill>
                <a:latin typeface="Arial"/>
                <a:ea typeface="Arial"/>
                <a:cs typeface="Arial"/>
              </a:rPr>
              <a:t>RQ3</a:t>
            </a:r>
          </a:p>
        </p:txBody>
      </p:sp>
      <p:sp>
        <p:nvSpPr>
          <p:cNvPr id="22" name="rq-question-3">
            <a:extLst>
              <a:ext uri="{FF2B5EF4-FFF2-40B4-BE49-F238E27FC236}">
                <a16:creationId xmlns:a16="http://schemas.microsoft.com/office/drawing/2014/main" id="{AE484975-51E2-4C6E-B566-CCFB4633665E}"/>
              </a:ext>
            </a:extLst>
          </p:cNvPr>
          <p:cNvSpPr>
            <a:spLocks noGrp="1"/>
          </p:cNvSpPr>
          <p:nvPr/>
        </p:nvSpPr>
        <p:spPr>
          <a:xfrm>
            <a:off x="1714500" y="4267200"/>
            <a:ext cx="3714750" cy="62865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Does it already work for Mauritius?</a:t>
            </a:r>
          </a:p>
        </p:txBody>
      </p:sp>
      <p:sp>
        <p:nvSpPr>
          <p:cNvPr id="23" name="rq-verdict-3">
            <a:extLst>
              <a:ext uri="{FF2B5EF4-FFF2-40B4-BE49-F238E27FC236}">
                <a16:creationId xmlns:a16="http://schemas.microsoft.com/office/drawing/2014/main" id="{87484D8E-445A-459A-B35F-6214E9BEE155}"/>
              </a:ext>
            </a:extLst>
          </p:cNvPr>
          <p:cNvSpPr>
            <a:spLocks noGrp="1"/>
          </p:cNvSpPr>
          <p:nvPr/>
        </p:nvSpPr>
        <p:spPr>
          <a:xfrm>
            <a:off x="5810250" y="4457700"/>
            <a:ext cx="1066800" cy="266700"/>
          </a:xfrm>
          <a:prstGeom prst="roundRect">
            <a:avLst>
              <a:gd name="adj" fmla="val 28571"/>
            </a:avLst>
          </a:prstGeom>
          <a:solidFill>
            <a:srgbClr val="E7864F"/>
          </a:solidFill>
          <a:ln w="0">
            <a:noFill/>
            <a:prstDash val="solid"/>
          </a:ln>
        </p:spPr>
        <p:txBody>
          <a:bodyPr/>
          <a:lstStyle/>
          <a:p>
            <a:endParaRPr/>
          </a:p>
        </p:txBody>
      </p:sp>
      <p:sp>
        <p:nvSpPr>
          <p:cNvPr id="24" name="rq-verdict-text-3">
            <a:extLst>
              <a:ext uri="{FF2B5EF4-FFF2-40B4-BE49-F238E27FC236}">
                <a16:creationId xmlns:a16="http://schemas.microsoft.com/office/drawing/2014/main" id="{AC549A8A-4FC5-4DAA-B808-122BBE57D08F}"/>
              </a:ext>
            </a:extLst>
          </p:cNvPr>
          <p:cNvSpPr>
            <a:spLocks noGrp="1"/>
          </p:cNvSpPr>
          <p:nvPr/>
        </p:nvSpPr>
        <p:spPr>
          <a:xfrm>
            <a:off x="5810250" y="4514850"/>
            <a:ext cx="1066800" cy="171450"/>
          </a:xfrm>
          <a:prstGeom prst="rect">
            <a:avLst/>
          </a:prstGeom>
          <a:noFill/>
          <a:ln w="0">
            <a:noFill/>
            <a:prstDash val="solid"/>
          </a:ln>
        </p:spPr>
        <p:txBody>
          <a:bodyPr wrap="square" lIns="0" tIns="0" rIns="0" bIns="0" anchor="t">
            <a:noAutofit/>
          </a:bodyPr>
          <a:lstStyle/>
          <a:p>
            <a:pPr algn="ctr">
              <a:buNone/>
              <a:defRPr sz="825" b="1" i="0">
                <a:solidFill>
                  <a:srgbClr val="FFFFFF"/>
                </a:solidFill>
                <a:latin typeface="Arial"/>
                <a:ea typeface="Arial"/>
                <a:cs typeface="Arial"/>
              </a:defRPr>
            </a:pPr>
            <a:r>
              <a:rPr sz="825" b="1" i="0">
                <a:solidFill>
                  <a:srgbClr val="FFFFFF"/>
                </a:solidFill>
                <a:latin typeface="Arial"/>
                <a:ea typeface="Arial"/>
                <a:cs typeface="Arial"/>
              </a:rPr>
              <a:t>PRELIMINARY</a:t>
            </a:r>
          </a:p>
        </p:txBody>
      </p:sp>
      <p:sp>
        <p:nvSpPr>
          <p:cNvPr id="25" name="rq-answer-3">
            <a:extLst>
              <a:ext uri="{FF2B5EF4-FFF2-40B4-BE49-F238E27FC236}">
                <a16:creationId xmlns:a16="http://schemas.microsoft.com/office/drawing/2014/main" id="{28C39304-2F32-41FF-A4B7-60A0992D4FEE}"/>
              </a:ext>
            </a:extLst>
          </p:cNvPr>
          <p:cNvSpPr>
            <a:spLocks noGrp="1"/>
          </p:cNvSpPr>
          <p:nvPr/>
        </p:nvSpPr>
        <p:spPr>
          <a:xfrm>
            <a:off x="7067550" y="4276725"/>
            <a:ext cx="4191000" cy="60960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Too soon. Two of three demos matched. We still need real local data.</a:t>
            </a:r>
          </a:p>
        </p:txBody>
      </p:sp>
      <p:sp>
        <p:nvSpPr>
          <p:cNvPr id="26" name="overall-callout">
            <a:extLst>
              <a:ext uri="{FF2B5EF4-FFF2-40B4-BE49-F238E27FC236}">
                <a16:creationId xmlns:a16="http://schemas.microsoft.com/office/drawing/2014/main" id="{6AFBA85F-9367-47EA-8876-4085FDCA5C1C}"/>
              </a:ext>
            </a:extLst>
          </p:cNvPr>
          <p:cNvSpPr>
            <a:spLocks noGrp="1"/>
          </p:cNvSpPr>
          <p:nvPr/>
        </p:nvSpPr>
        <p:spPr>
          <a:xfrm>
            <a:off x="533400" y="5334000"/>
            <a:ext cx="11125200" cy="685800"/>
          </a:xfrm>
          <a:prstGeom prst="roundRect">
            <a:avLst>
              <a:gd name="adj" fmla="val 16667"/>
            </a:avLst>
          </a:prstGeom>
          <a:solidFill>
            <a:srgbClr val="EAF5FB"/>
          </a:solidFill>
          <a:ln w="9525">
            <a:solidFill>
              <a:srgbClr val="D6DDE5"/>
            </a:solidFill>
            <a:prstDash val="solid"/>
          </a:ln>
        </p:spPr>
        <p:txBody>
          <a:bodyPr/>
          <a:lstStyle/>
          <a:p>
            <a:endParaRPr/>
          </a:p>
        </p:txBody>
      </p:sp>
      <p:sp>
        <p:nvSpPr>
          <p:cNvPr id="27" name="overall-label">
            <a:extLst>
              <a:ext uri="{FF2B5EF4-FFF2-40B4-BE49-F238E27FC236}">
                <a16:creationId xmlns:a16="http://schemas.microsoft.com/office/drawing/2014/main" id="{59D1650B-EDCC-48DA-A09C-9DC6E5AE5C58}"/>
              </a:ext>
            </a:extLst>
          </p:cNvPr>
          <p:cNvSpPr>
            <a:spLocks noGrp="1"/>
          </p:cNvSpPr>
          <p:nvPr/>
        </p:nvSpPr>
        <p:spPr>
          <a:xfrm>
            <a:off x="742950" y="5562600"/>
            <a:ext cx="1790700" cy="209550"/>
          </a:xfrm>
          <a:prstGeom prst="rect">
            <a:avLst/>
          </a:prstGeom>
          <a:noFill/>
          <a:ln w="0">
            <a:noFill/>
            <a:prstDash val="solid"/>
          </a:ln>
        </p:spPr>
        <p:txBody>
          <a:bodyPr wrap="square" lIns="0" tIns="0" rIns="0" bIns="0" anchor="t">
            <a:noAutofit/>
          </a:bodyPr>
          <a:lstStyle/>
          <a:p>
            <a:pPr algn="l">
              <a:buNone/>
              <a:defRPr sz="900" b="1" i="0">
                <a:solidFill>
                  <a:srgbClr val="3D8DFF"/>
                </a:solidFill>
                <a:latin typeface="Arial"/>
                <a:ea typeface="Arial"/>
                <a:cs typeface="Arial"/>
              </a:defRPr>
            </a:pPr>
            <a:r>
              <a:rPr sz="900" b="1" i="0">
                <a:solidFill>
                  <a:srgbClr val="3D8DFF"/>
                </a:solidFill>
                <a:latin typeface="Arial"/>
                <a:ea typeface="Arial"/>
                <a:cs typeface="Arial"/>
              </a:rPr>
              <a:t>OVERALL TAKEAWAY</a:t>
            </a:r>
          </a:p>
        </p:txBody>
      </p:sp>
      <p:sp>
        <p:nvSpPr>
          <p:cNvPr id="28" name="overall-text">
            <a:extLst>
              <a:ext uri="{FF2B5EF4-FFF2-40B4-BE49-F238E27FC236}">
                <a16:creationId xmlns:a16="http://schemas.microsoft.com/office/drawing/2014/main" id="{891069BA-9C28-49D8-A73E-E85457487FB0}"/>
              </a:ext>
            </a:extLst>
          </p:cNvPr>
          <p:cNvSpPr>
            <a:spLocks noGrp="1"/>
          </p:cNvSpPr>
          <p:nvPr/>
        </p:nvSpPr>
        <p:spPr>
          <a:xfrm>
            <a:off x="2743200" y="5495925"/>
            <a:ext cx="8572500" cy="323850"/>
          </a:xfrm>
          <a:prstGeom prst="rect">
            <a:avLst/>
          </a:prstGeom>
          <a:noFill/>
          <a:ln w="0">
            <a:noFill/>
            <a:prstDash val="solid"/>
          </a:ln>
        </p:spPr>
        <p:txBody>
          <a:bodyPr wrap="square" lIns="0" tIns="0" rIns="0" bIns="0" anchor="t">
            <a:noAutofit/>
          </a:bodyPr>
          <a:lstStyle/>
          <a:p>
            <a:pPr algn="l">
              <a:buNone/>
              <a:defRPr sz="1500" b="1" i="0">
                <a:solidFill>
                  <a:srgbClr val="111827"/>
                </a:solidFill>
                <a:latin typeface="Arial"/>
                <a:ea typeface="Arial"/>
                <a:cs typeface="Arial"/>
              </a:defRPr>
            </a:pPr>
            <a:r>
              <a:rPr sz="1500" b="1" i="0">
                <a:solidFill>
                  <a:srgbClr val="111827"/>
                </a:solidFill>
                <a:latin typeface="Arial"/>
                <a:ea typeface="Arial"/>
                <a:cs typeface="Arial"/>
              </a:rPr>
              <a:t>Good detector. Easy to review. Local proof still needed.</a:t>
            </a:r>
          </a:p>
        </p:txBody>
      </p:sp>
      <p:sp>
        <p:nvSpPr>
          <p:cNvPr id="30" name="polish-title-rail-10">
            <a:extLst>
              <a:ext uri="{FF2B5EF4-FFF2-40B4-BE49-F238E27FC236}">
                <a16:creationId xmlns:a16="http://schemas.microsoft.com/office/drawing/2014/main" id="{5CFD2D6B-8973-4966-A3FD-0D1EC312F95A}"/>
              </a:ext>
            </a:extLst>
          </p:cNvPr>
          <p:cNvSpPr>
            <a:spLocks noGrp="1"/>
          </p:cNvSpPr>
          <p:nvPr/>
        </p:nvSpPr>
        <p:spPr>
          <a:xfrm>
            <a:off x="323850" y="762000"/>
            <a:ext cx="57150" cy="552450"/>
          </a:xfrm>
          <a:prstGeom prst="roundRect">
            <a:avLst>
              <a:gd name="adj" fmla="val 50000"/>
            </a:avLst>
          </a:prstGeom>
          <a:solidFill>
            <a:srgbClr val="E7864F"/>
          </a:solidFill>
          <a:ln w="0">
            <a:noFill/>
            <a:prstDash val="solid"/>
          </a:ln>
        </p:spPr>
      </p:sp>
      <p:sp>
        <p:nvSpPr>
          <p:cNvPr id="31" name="polish-title-underline-10">
            <a:extLst>
              <a:ext uri="{FF2B5EF4-FFF2-40B4-BE49-F238E27FC236}">
                <a16:creationId xmlns:a16="http://schemas.microsoft.com/office/drawing/2014/main" id="{1F95A3B8-1B5D-425D-BCF0-A8B5D94670E1}"/>
              </a:ext>
            </a:extLst>
          </p:cNvPr>
          <p:cNvSpPr>
            <a:spLocks noGrp="1"/>
          </p:cNvSpPr>
          <p:nvPr/>
        </p:nvSpPr>
        <p:spPr>
          <a:xfrm>
            <a:off x="533400" y="647700"/>
            <a:ext cx="876300" cy="28575"/>
          </a:xfrm>
          <a:prstGeom prst="roundRect">
            <a:avLst>
              <a:gd name="adj" fmla="val 50000"/>
            </a:avLst>
          </a:prstGeom>
          <a:solidFill>
            <a:srgbClr val="E7864F"/>
          </a:solidFill>
          <a:ln w="0">
            <a:noFill/>
            <a:prstDash val="solid"/>
          </a:ln>
        </p:spPr>
      </p:sp>
      <p:sp>
        <p:nvSpPr>
          <p:cNvPr id="32" name="polish-progress-10-1">
            <a:extLst>
              <a:ext uri="{FF2B5EF4-FFF2-40B4-BE49-F238E27FC236}">
                <a16:creationId xmlns:a16="http://schemas.microsoft.com/office/drawing/2014/main" id="{22E24E30-14AA-4AEE-BCA2-49FD074759CF}"/>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3" name="polish-progress-10-2">
            <a:extLst>
              <a:ext uri="{FF2B5EF4-FFF2-40B4-BE49-F238E27FC236}">
                <a16:creationId xmlns:a16="http://schemas.microsoft.com/office/drawing/2014/main" id="{9F3773F4-A3F1-4C22-872A-0527895C037A}"/>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34" name="polish-progress-10-3">
            <a:extLst>
              <a:ext uri="{FF2B5EF4-FFF2-40B4-BE49-F238E27FC236}">
                <a16:creationId xmlns:a16="http://schemas.microsoft.com/office/drawing/2014/main" id="{F916C23D-EAE5-482C-A9AA-CD35F224EDD7}"/>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5" name="polish-progress-10-4">
            <a:extLst>
              <a:ext uri="{FF2B5EF4-FFF2-40B4-BE49-F238E27FC236}">
                <a16:creationId xmlns:a16="http://schemas.microsoft.com/office/drawing/2014/main" id="{052277DF-4A51-4C81-8CAA-F0CA6DBEC68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6" name="polish-progress-10-5">
            <a:extLst>
              <a:ext uri="{FF2B5EF4-FFF2-40B4-BE49-F238E27FC236}">
                <a16:creationId xmlns:a16="http://schemas.microsoft.com/office/drawing/2014/main" id="{2CCD6794-7DC1-4FC2-99AE-48EB9DF3CC66}"/>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7" name="polish-progress-10-6">
            <a:extLst>
              <a:ext uri="{FF2B5EF4-FFF2-40B4-BE49-F238E27FC236}">
                <a16:creationId xmlns:a16="http://schemas.microsoft.com/office/drawing/2014/main" id="{9FEEFDBC-9340-4117-88FA-18FAD9F57F8A}"/>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38" name="polish-progress-10-7">
            <a:extLst>
              <a:ext uri="{FF2B5EF4-FFF2-40B4-BE49-F238E27FC236}">
                <a16:creationId xmlns:a16="http://schemas.microsoft.com/office/drawing/2014/main" id="{1FA15183-8BC8-46AB-A249-6C34AD5C662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39" name="polish-progress-10-8">
            <a:extLst>
              <a:ext uri="{FF2B5EF4-FFF2-40B4-BE49-F238E27FC236}">
                <a16:creationId xmlns:a16="http://schemas.microsoft.com/office/drawing/2014/main" id="{E277C9FD-8AA4-4FD4-99E9-A89B9C67001A}"/>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0" name="polish-progress-10-9">
            <a:extLst>
              <a:ext uri="{FF2B5EF4-FFF2-40B4-BE49-F238E27FC236}">
                <a16:creationId xmlns:a16="http://schemas.microsoft.com/office/drawing/2014/main" id="{85E5CC66-FEEA-4EB3-8D04-022D033189E5}"/>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41" name="polish-progress-10-10">
            <a:extLst>
              <a:ext uri="{FF2B5EF4-FFF2-40B4-BE49-F238E27FC236}">
                <a16:creationId xmlns:a16="http://schemas.microsoft.com/office/drawing/2014/main" id="{C748F7BB-A9B3-4D7F-A077-E4ACB6C23DCF}"/>
              </a:ext>
            </a:extLst>
          </p:cNvPr>
          <p:cNvSpPr>
            <a:spLocks noGrp="1"/>
          </p:cNvSpPr>
          <p:nvPr/>
        </p:nvSpPr>
        <p:spPr>
          <a:xfrm>
            <a:off x="6962775" y="6572250"/>
            <a:ext cx="152400" cy="28575"/>
          </a:xfrm>
          <a:prstGeom prst="roundRect">
            <a:avLst>
              <a:gd name="adj" fmla="val 50000"/>
            </a:avLst>
          </a:prstGeom>
          <a:solidFill>
            <a:srgbClr val="E7864F"/>
          </a:solidFill>
          <a:ln w="0">
            <a:noFill/>
            <a:prstDash val="solid"/>
          </a:ln>
        </p:spPr>
      </p:sp>
    </p:spTree>
    <p:extLst>
      <p:ext uri="{BB962C8B-B14F-4D97-AF65-F5344CB8AC3E}">
        <p14:creationId xmlns:p14="http://schemas.microsoft.com/office/powerpoint/2010/main" val="442565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2" name="rule">
            <a:extLst>
              <a:ext uri="{FF2B5EF4-FFF2-40B4-BE49-F238E27FC236}">
                <a16:creationId xmlns:a16="http://schemas.microsoft.com/office/drawing/2014/main" id="{49DC6BB5-7026-42A6-8071-A531AD883214}"/>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section-label">
            <a:extLst>
              <a:ext uri="{FF2B5EF4-FFF2-40B4-BE49-F238E27FC236}">
                <a16:creationId xmlns:a16="http://schemas.microsoft.com/office/drawing/2014/main" id="{AD7A1034-7B90-4BBA-BD3B-88E51CA0C18E}"/>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CONCLUSION</a:t>
            </a:r>
          </a:p>
        </p:txBody>
      </p:sp>
      <p:sp>
        <p:nvSpPr>
          <p:cNvPr id="3" name="page-number">
            <a:extLst>
              <a:ext uri="{FF2B5EF4-FFF2-40B4-BE49-F238E27FC236}">
                <a16:creationId xmlns:a16="http://schemas.microsoft.com/office/drawing/2014/main" id="{A089EAE6-359E-4758-A5EE-00B88F8217F1}"/>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10</a:t>
            </a:r>
          </a:p>
        </p:txBody>
      </p:sp>
      <p:sp>
        <p:nvSpPr>
          <p:cNvPr id="4" name="closing-title">
            <a:extLst>
              <a:ext uri="{FF2B5EF4-FFF2-40B4-BE49-F238E27FC236}">
                <a16:creationId xmlns:a16="http://schemas.microsoft.com/office/drawing/2014/main" id="{16101E95-8BB8-49A7-A413-50045A81BA2D}"/>
              </a:ext>
            </a:extLst>
          </p:cNvPr>
          <p:cNvSpPr>
            <a:spLocks noGrp="1"/>
          </p:cNvSpPr>
          <p:nvPr/>
        </p:nvSpPr>
        <p:spPr>
          <a:xfrm>
            <a:off x="533400" y="1485900"/>
            <a:ext cx="9429750" cy="1524000"/>
          </a:xfrm>
          <a:prstGeom prst="rect">
            <a:avLst/>
          </a:prstGeom>
          <a:noFill/>
          <a:ln w="0">
            <a:noFill/>
            <a:prstDash val="solid"/>
          </a:ln>
        </p:spPr>
        <p:txBody>
          <a:bodyPr wrap="square" lIns="0" tIns="0" rIns="0" bIns="0" anchor="t">
            <a:noAutofit/>
          </a:bodyPr>
          <a:lstStyle/>
          <a:p>
            <a:pPr algn="l">
              <a:buNone/>
              <a:defRPr sz="3600" b="1" i="0">
                <a:solidFill>
                  <a:srgbClr val="111827"/>
                </a:solidFill>
                <a:latin typeface="Arial"/>
                <a:ea typeface="Arial"/>
                <a:cs typeface="Arial"/>
              </a:defRPr>
            </a:pPr>
            <a:r>
              <a:rPr sz="3600" b="1" i="0">
                <a:solidFill>
                  <a:srgbClr val="111827"/>
                </a:solidFill>
                <a:latin typeface="Arial"/>
                <a:ea typeface="Arial"/>
                <a:cs typeface="Arial"/>
              </a:rPr>
              <a:t>The system works.</a:t>
            </a:r>
          </a:p>
          <a:p>
            <a:pPr algn="l">
              <a:buNone/>
              <a:defRPr sz="3600" b="1" i="0">
                <a:solidFill>
                  <a:srgbClr val="111827"/>
                </a:solidFill>
                <a:latin typeface="Arial"/>
                <a:ea typeface="Arial"/>
                <a:cs typeface="Arial"/>
              </a:defRPr>
            </a:pPr>
            <a:r>
              <a:rPr sz="3600" b="1" i="0">
                <a:solidFill>
                  <a:srgbClr val="111827"/>
                </a:solidFill>
                <a:latin typeface="Arial"/>
                <a:ea typeface="Arial"/>
                <a:cs typeface="Arial"/>
              </a:rPr>
              <a:t>Mauritius proof is still early.</a:t>
            </a:r>
          </a:p>
        </p:txBody>
      </p:sp>
      <p:sp>
        <p:nvSpPr>
          <p:cNvPr id="5" name="closing-subtitle">
            <a:extLst>
              <a:ext uri="{FF2B5EF4-FFF2-40B4-BE49-F238E27FC236}">
                <a16:creationId xmlns:a16="http://schemas.microsoft.com/office/drawing/2014/main" id="{929E4B19-17C3-4715-A123-C5A05CCA1BA8}"/>
              </a:ext>
            </a:extLst>
          </p:cNvPr>
          <p:cNvSpPr>
            <a:spLocks noGrp="1"/>
          </p:cNvSpPr>
          <p:nvPr/>
        </p:nvSpPr>
        <p:spPr>
          <a:xfrm>
            <a:off x="533400" y="3333750"/>
            <a:ext cx="7239000" cy="419100"/>
          </a:xfrm>
          <a:prstGeom prst="rect">
            <a:avLst/>
          </a:prstGeom>
          <a:noFill/>
          <a:ln w="0">
            <a:noFill/>
            <a:prstDash val="solid"/>
          </a:ln>
        </p:spPr>
        <p:txBody>
          <a:bodyPr wrap="square" lIns="0" tIns="0" rIns="0" bIns="0" anchor="t">
            <a:noAutofit/>
          </a:bodyPr>
          <a:lstStyle/>
          <a:p>
            <a:pPr algn="l">
              <a:buNone/>
              <a:defRPr sz="1650" b="0" i="0">
                <a:solidFill>
                  <a:srgbClr val="536172"/>
                </a:solidFill>
                <a:latin typeface="Arial"/>
                <a:ea typeface="Arial"/>
                <a:cs typeface="Arial"/>
              </a:defRPr>
            </a:pPr>
            <a:r>
              <a:rPr sz="1650" b="0" i="0">
                <a:solidFill>
                  <a:srgbClr val="536172"/>
                </a:solidFill>
                <a:latin typeface="Arial"/>
                <a:ea typeface="Arial"/>
                <a:cs typeface="Arial"/>
              </a:rPr>
              <a:t>Next step: real local payment data.</a:t>
            </a:r>
          </a:p>
        </p:txBody>
      </p:sp>
      <p:sp>
        <p:nvSpPr>
          <p:cNvPr id="6" name="rule">
            <a:extLst>
              <a:ext uri="{FF2B5EF4-FFF2-40B4-BE49-F238E27FC236}">
                <a16:creationId xmlns:a16="http://schemas.microsoft.com/office/drawing/2014/main" id="{04DEC5F7-250B-4E5C-9942-B1269BA4AD1F}"/>
              </a:ext>
            </a:extLst>
          </p:cNvPr>
          <p:cNvSpPr>
            <a:spLocks noGrp="1"/>
          </p:cNvSpPr>
          <p:nvPr/>
        </p:nvSpPr>
        <p:spPr>
          <a:xfrm>
            <a:off x="533400" y="4171950"/>
            <a:ext cx="11125200" cy="9525"/>
          </a:xfrm>
          <a:prstGeom prst="rect">
            <a:avLst/>
          </a:prstGeom>
          <a:solidFill>
            <a:srgbClr val="D6DDE5"/>
          </a:solidFill>
          <a:ln w="0">
            <a:noFill/>
            <a:prstDash val="solid"/>
          </a:ln>
        </p:spPr>
        <p:txBody>
          <a:bodyPr/>
          <a:lstStyle/>
          <a:p>
            <a:endParaRPr/>
          </a:p>
        </p:txBody>
      </p:sp>
      <p:sp>
        <p:nvSpPr>
          <p:cNvPr id="7" name="adds-title">
            <a:extLst>
              <a:ext uri="{FF2B5EF4-FFF2-40B4-BE49-F238E27FC236}">
                <a16:creationId xmlns:a16="http://schemas.microsoft.com/office/drawing/2014/main" id="{A90A98A6-7A41-41A9-B93F-4422939B1356}"/>
              </a:ext>
            </a:extLst>
          </p:cNvPr>
          <p:cNvSpPr>
            <a:spLocks noGrp="1"/>
          </p:cNvSpPr>
          <p:nvPr/>
        </p:nvSpPr>
        <p:spPr>
          <a:xfrm>
            <a:off x="533400" y="4438650"/>
            <a:ext cx="2857500" cy="285750"/>
          </a:xfrm>
          <a:prstGeom prst="rect">
            <a:avLst/>
          </a:prstGeom>
          <a:noFill/>
          <a:ln w="0">
            <a:noFill/>
            <a:prstDash val="solid"/>
          </a:ln>
        </p:spPr>
        <p:txBody>
          <a:bodyPr wrap="square" lIns="0" tIns="0" rIns="0" bIns="0" anchor="t">
            <a:noAutofit/>
          </a:bodyPr>
          <a:lstStyle/>
          <a:p>
            <a:pPr algn="l">
              <a:buNone/>
              <a:defRPr sz="1650" b="1" i="0">
                <a:solidFill>
                  <a:srgbClr val="3D8DFF"/>
                </a:solidFill>
                <a:latin typeface="Arial"/>
                <a:ea typeface="Arial"/>
                <a:cs typeface="Arial"/>
              </a:defRPr>
            </a:pPr>
            <a:r>
              <a:rPr sz="1650" b="1" i="0">
                <a:solidFill>
                  <a:srgbClr val="3D8DFF"/>
                </a:solidFill>
                <a:latin typeface="Arial"/>
                <a:ea typeface="Arial"/>
                <a:cs typeface="Arial"/>
              </a:rPr>
              <a:t>What I built</a:t>
            </a:r>
          </a:p>
        </p:txBody>
      </p:sp>
      <p:sp>
        <p:nvSpPr>
          <p:cNvPr id="8" name="contributions">
            <a:extLst>
              <a:ext uri="{FF2B5EF4-FFF2-40B4-BE49-F238E27FC236}">
                <a16:creationId xmlns:a16="http://schemas.microsoft.com/office/drawing/2014/main" id="{86439FDE-9FC6-42D8-BEA2-26710DD644C1}"/>
              </a:ext>
            </a:extLst>
          </p:cNvPr>
          <p:cNvSpPr>
            <a:spLocks noGrp="1"/>
          </p:cNvSpPr>
          <p:nvPr/>
        </p:nvSpPr>
        <p:spPr>
          <a:xfrm>
            <a:off x="533400" y="4876800"/>
            <a:ext cx="4953000" cy="1066800"/>
          </a:xfrm>
          <a:prstGeom prst="rect">
            <a:avLst/>
          </a:prstGeom>
          <a:noFill/>
          <a:ln w="0">
            <a:noFill/>
            <a:prstDash val="solid"/>
          </a:ln>
        </p:spPr>
        <p:txBody>
          <a:bodyPr wrap="square" lIns="0" tIns="0" rIns="0" bIns="0" anchor="t">
            <a:noAutofit/>
          </a:bodyPr>
          <a:lstStyle/>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01  Simple named features</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02  Reasons in plain English</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03  A careful combined decision</a:t>
            </a:r>
          </a:p>
        </p:txBody>
      </p:sp>
      <p:sp>
        <p:nvSpPr>
          <p:cNvPr id="9" name="next-title">
            <a:extLst>
              <a:ext uri="{FF2B5EF4-FFF2-40B4-BE49-F238E27FC236}">
                <a16:creationId xmlns:a16="http://schemas.microsoft.com/office/drawing/2014/main" id="{577D1583-9BF0-42B5-ADAF-3D8AAF1A43F3}"/>
              </a:ext>
            </a:extLst>
          </p:cNvPr>
          <p:cNvSpPr>
            <a:spLocks noGrp="1"/>
          </p:cNvSpPr>
          <p:nvPr/>
        </p:nvSpPr>
        <p:spPr>
          <a:xfrm>
            <a:off x="7239000" y="4438650"/>
            <a:ext cx="2381250" cy="285750"/>
          </a:xfrm>
          <a:prstGeom prst="rect">
            <a:avLst/>
          </a:prstGeom>
          <a:noFill/>
          <a:ln w="0">
            <a:noFill/>
            <a:prstDash val="solid"/>
          </a:ln>
        </p:spPr>
        <p:txBody>
          <a:bodyPr wrap="square" lIns="0" tIns="0" rIns="0" bIns="0" anchor="t">
            <a:noAutofit/>
          </a:bodyPr>
          <a:lstStyle/>
          <a:p>
            <a:pPr algn="l">
              <a:buNone/>
              <a:defRPr sz="1650" b="1" i="0">
                <a:solidFill>
                  <a:srgbClr val="5D58E9"/>
                </a:solidFill>
                <a:latin typeface="Arial"/>
                <a:ea typeface="Arial"/>
                <a:cs typeface="Arial"/>
              </a:defRPr>
            </a:pPr>
            <a:r>
              <a:rPr sz="1650" b="1" i="0">
                <a:solidFill>
                  <a:srgbClr val="5D58E9"/>
                </a:solidFill>
                <a:latin typeface="Arial"/>
                <a:ea typeface="Arial"/>
                <a:cs typeface="Arial"/>
              </a:rPr>
              <a:t>What is next</a:t>
            </a:r>
          </a:p>
        </p:txBody>
      </p:sp>
      <p:sp>
        <p:nvSpPr>
          <p:cNvPr id="10" name="next-steps">
            <a:extLst>
              <a:ext uri="{FF2B5EF4-FFF2-40B4-BE49-F238E27FC236}">
                <a16:creationId xmlns:a16="http://schemas.microsoft.com/office/drawing/2014/main" id="{C6A8D43B-5538-4BEA-B134-D90E94025420}"/>
              </a:ext>
            </a:extLst>
          </p:cNvPr>
          <p:cNvSpPr>
            <a:spLocks noGrp="1"/>
          </p:cNvSpPr>
          <p:nvPr/>
        </p:nvSpPr>
        <p:spPr>
          <a:xfrm>
            <a:off x="7239000" y="4876800"/>
            <a:ext cx="3905250" cy="1066800"/>
          </a:xfrm>
          <a:prstGeom prst="rect">
            <a:avLst/>
          </a:prstGeom>
          <a:noFill/>
          <a:ln w="0">
            <a:noFill/>
            <a:prstDash val="solid"/>
          </a:ln>
        </p:spPr>
        <p:txBody>
          <a:bodyPr wrap="square" lIns="0" tIns="0" rIns="0" bIns="0" anchor="t">
            <a:noAutofit/>
          </a:bodyPr>
          <a:lstStyle/>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Real Mauritius data</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More time-based features</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Better score cut-offs</a:t>
            </a:r>
          </a:p>
        </p:txBody>
      </p:sp>
      <p:sp>
        <p:nvSpPr>
          <p:cNvPr id="11" name="questions">
            <a:extLst>
              <a:ext uri="{FF2B5EF4-FFF2-40B4-BE49-F238E27FC236}">
                <a16:creationId xmlns:a16="http://schemas.microsoft.com/office/drawing/2014/main" id="{CACC2154-998A-4979-9847-676E70D36A07}"/>
              </a:ext>
            </a:extLst>
          </p:cNvPr>
          <p:cNvSpPr>
            <a:spLocks noGrp="1"/>
          </p:cNvSpPr>
          <p:nvPr/>
        </p:nvSpPr>
        <p:spPr>
          <a:xfrm>
            <a:off x="533400" y="6362700"/>
            <a:ext cx="1905000" cy="228600"/>
          </a:xfrm>
          <a:prstGeom prst="rect">
            <a:avLst/>
          </a:prstGeom>
          <a:noFill/>
          <a:ln w="0">
            <a:noFill/>
            <a:prstDash val="solid"/>
          </a:ln>
        </p:spPr>
        <p:txBody>
          <a:bodyPr wrap="square" lIns="0" tIns="0" rIns="0" bIns="0" anchor="t">
            <a:noAutofit/>
          </a:bodyPr>
          <a:lstStyle/>
          <a:p>
            <a:pPr algn="l">
              <a:buNone/>
              <a:defRPr sz="1200" b="1" i="0">
                <a:solidFill>
                  <a:srgbClr val="8190A0"/>
                </a:solidFill>
                <a:latin typeface="Arial"/>
                <a:ea typeface="Arial"/>
                <a:cs typeface="Arial"/>
              </a:defRPr>
            </a:pPr>
            <a:r>
              <a:rPr sz="1200" b="1" i="0">
                <a:solidFill>
                  <a:srgbClr val="8190A0"/>
                </a:solidFill>
                <a:latin typeface="Arial"/>
                <a:ea typeface="Arial"/>
                <a:cs typeface="Arial"/>
              </a:rPr>
              <a:t>Questions</a:t>
            </a:r>
          </a:p>
        </p:txBody>
      </p:sp>
      <p:sp>
        <p:nvSpPr>
          <p:cNvPr id="13" name="polish-title-rail-8">
            <a:extLst>
              <a:ext uri="{FF2B5EF4-FFF2-40B4-BE49-F238E27FC236}">
                <a16:creationId xmlns:a16="http://schemas.microsoft.com/office/drawing/2014/main" id="{801EB70D-CC39-44CD-97DA-134DBBD1BC9F}"/>
              </a:ext>
            </a:extLst>
          </p:cNvPr>
          <p:cNvSpPr>
            <a:spLocks noGrp="1"/>
          </p:cNvSpPr>
          <p:nvPr/>
        </p:nvSpPr>
        <p:spPr>
          <a:xfrm>
            <a:off x="323850" y="1504950"/>
            <a:ext cx="57150" cy="1504950"/>
          </a:xfrm>
          <a:prstGeom prst="roundRect">
            <a:avLst>
              <a:gd name="adj" fmla="val 50000"/>
            </a:avLst>
          </a:prstGeom>
          <a:solidFill>
            <a:srgbClr val="5D58E9"/>
          </a:solidFill>
          <a:ln w="0">
            <a:noFill/>
            <a:prstDash val="solid"/>
          </a:ln>
        </p:spPr>
      </p:sp>
      <p:sp>
        <p:nvSpPr>
          <p:cNvPr id="14" name="polish-title-underline-8">
            <a:extLst>
              <a:ext uri="{FF2B5EF4-FFF2-40B4-BE49-F238E27FC236}">
                <a16:creationId xmlns:a16="http://schemas.microsoft.com/office/drawing/2014/main" id="{345EC39B-3103-45EF-B943-7FEB520FDD4A}"/>
              </a:ext>
            </a:extLst>
          </p:cNvPr>
          <p:cNvSpPr>
            <a:spLocks noGrp="1"/>
          </p:cNvSpPr>
          <p:nvPr/>
        </p:nvSpPr>
        <p:spPr>
          <a:xfrm>
            <a:off x="533400" y="1390650"/>
            <a:ext cx="876300" cy="28575"/>
          </a:xfrm>
          <a:prstGeom prst="roundRect">
            <a:avLst>
              <a:gd name="adj" fmla="val 50000"/>
            </a:avLst>
          </a:prstGeom>
          <a:solidFill>
            <a:srgbClr val="5D58E9"/>
          </a:solidFill>
          <a:ln w="0">
            <a:noFill/>
            <a:prstDash val="solid"/>
          </a:ln>
        </p:spPr>
      </p:sp>
      <p:sp>
        <p:nvSpPr>
          <p:cNvPr id="15" name="polish-progress-8-1">
            <a:extLst>
              <a:ext uri="{FF2B5EF4-FFF2-40B4-BE49-F238E27FC236}">
                <a16:creationId xmlns:a16="http://schemas.microsoft.com/office/drawing/2014/main" id="{1020EFD1-B85C-4190-B83F-18391E1E89B7}"/>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16" name="polish-progress-8-2">
            <a:extLst>
              <a:ext uri="{FF2B5EF4-FFF2-40B4-BE49-F238E27FC236}">
                <a16:creationId xmlns:a16="http://schemas.microsoft.com/office/drawing/2014/main" id="{26BB9CD1-CC8B-4F61-A2C1-BBE6F116FB9D}"/>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17" name="polish-progress-8-3">
            <a:extLst>
              <a:ext uri="{FF2B5EF4-FFF2-40B4-BE49-F238E27FC236}">
                <a16:creationId xmlns:a16="http://schemas.microsoft.com/office/drawing/2014/main" id="{50D25FB3-BEAC-419F-9414-895DE6005EB2}"/>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18" name="polish-progress-8-4">
            <a:extLst>
              <a:ext uri="{FF2B5EF4-FFF2-40B4-BE49-F238E27FC236}">
                <a16:creationId xmlns:a16="http://schemas.microsoft.com/office/drawing/2014/main" id="{1DEB11F5-A6A1-4DF4-AF79-C2F3004BF184}"/>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19" name="polish-progress-8-5">
            <a:extLst>
              <a:ext uri="{FF2B5EF4-FFF2-40B4-BE49-F238E27FC236}">
                <a16:creationId xmlns:a16="http://schemas.microsoft.com/office/drawing/2014/main" id="{228D095E-28FA-4AED-B91C-0E8209D95F40}"/>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20" name="polish-progress-8-6">
            <a:extLst>
              <a:ext uri="{FF2B5EF4-FFF2-40B4-BE49-F238E27FC236}">
                <a16:creationId xmlns:a16="http://schemas.microsoft.com/office/drawing/2014/main" id="{5C56FDD5-6C88-4102-BA9C-C17BA4CE0663}"/>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21" name="polish-progress-8-7">
            <a:extLst>
              <a:ext uri="{FF2B5EF4-FFF2-40B4-BE49-F238E27FC236}">
                <a16:creationId xmlns:a16="http://schemas.microsoft.com/office/drawing/2014/main" id="{225D0F51-0F25-46BC-BEBB-6A2F1D6CEFA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2" name="polish-progress-8-8">
            <a:extLst>
              <a:ext uri="{FF2B5EF4-FFF2-40B4-BE49-F238E27FC236}">
                <a16:creationId xmlns:a16="http://schemas.microsoft.com/office/drawing/2014/main" id="{CD641366-1B41-4258-8A2C-94B85751E894}"/>
              </a:ext>
            </a:extLst>
          </p:cNvPr>
          <p:cNvSpPr>
            <a:spLocks noGrp="1"/>
          </p:cNvSpPr>
          <p:nvPr/>
        </p:nvSpPr>
        <p:spPr>
          <a:xfrm>
            <a:off x="6543675" y="6572250"/>
            <a:ext cx="152400" cy="28575"/>
          </a:xfrm>
          <a:prstGeom prst="roundRect">
            <a:avLst>
              <a:gd name="adj" fmla="val 50000"/>
            </a:avLst>
          </a:prstGeom>
          <a:solidFill>
            <a:srgbClr val="5D58E9"/>
          </a:solidFill>
          <a:ln w="0">
            <a:noFill/>
            <a:prstDash val="solid"/>
          </a:ln>
        </p:spPr>
      </p:sp>
      <p:sp>
        <p:nvSpPr>
          <p:cNvPr id="23" name="polish-progress-8-9">
            <a:extLst>
              <a:ext uri="{FF2B5EF4-FFF2-40B4-BE49-F238E27FC236}">
                <a16:creationId xmlns:a16="http://schemas.microsoft.com/office/drawing/2014/main" id="{07B007C6-1B98-449A-836B-835D6DB3C8E9}"/>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24" name="polish-progress-8-10">
            <a:extLst>
              <a:ext uri="{FF2B5EF4-FFF2-40B4-BE49-F238E27FC236}">
                <a16:creationId xmlns:a16="http://schemas.microsoft.com/office/drawing/2014/main" id="{A3F3365C-2500-4200-9594-9D3B6443F748}"/>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25" name="visual-conclusion-adds-rail">
            <a:extLst>
              <a:ext uri="{FF2B5EF4-FFF2-40B4-BE49-F238E27FC236}">
                <a16:creationId xmlns:a16="http://schemas.microsoft.com/office/drawing/2014/main" id="{C06E511F-9BCF-42E6-98CA-594806FE56F4}"/>
              </a:ext>
            </a:extLst>
          </p:cNvPr>
          <p:cNvSpPr>
            <a:spLocks noGrp="1"/>
          </p:cNvSpPr>
          <p:nvPr/>
        </p:nvSpPr>
        <p:spPr>
          <a:xfrm>
            <a:off x="400050" y="4438650"/>
            <a:ext cx="47625" cy="1485900"/>
          </a:xfrm>
          <a:prstGeom prst="roundRect">
            <a:avLst>
              <a:gd name="adj" fmla="val 50000"/>
            </a:avLst>
          </a:prstGeom>
          <a:solidFill>
            <a:srgbClr val="3D8DFF"/>
          </a:solidFill>
          <a:ln w="0">
            <a:noFill/>
            <a:prstDash val="solid"/>
          </a:ln>
        </p:spPr>
      </p:sp>
      <p:sp>
        <p:nvSpPr>
          <p:cNvPr id="26" name="visual-conclusion-next-rail">
            <a:extLst>
              <a:ext uri="{FF2B5EF4-FFF2-40B4-BE49-F238E27FC236}">
                <a16:creationId xmlns:a16="http://schemas.microsoft.com/office/drawing/2014/main" id="{D0F22808-9979-4BDC-9FE5-592713F1B311}"/>
              </a:ext>
            </a:extLst>
          </p:cNvPr>
          <p:cNvSpPr>
            <a:spLocks noGrp="1"/>
          </p:cNvSpPr>
          <p:nvPr/>
        </p:nvSpPr>
        <p:spPr>
          <a:xfrm>
            <a:off x="7105650" y="4438650"/>
            <a:ext cx="47625" cy="1485900"/>
          </a:xfrm>
          <a:prstGeom prst="roundRect">
            <a:avLst>
              <a:gd name="adj" fmla="val 50000"/>
            </a:avLst>
          </a:prstGeom>
          <a:solidFill>
            <a:srgbClr val="5D58E9"/>
          </a:solidFill>
          <a:ln w="0">
            <a:noFill/>
            <a:prstDash val="solid"/>
          </a:ln>
        </p:spPr>
      </p:sp>
    </p:spTree>
    <p:extLst>
      <p:ext uri="{BB962C8B-B14F-4D97-AF65-F5344CB8AC3E}">
        <p14:creationId xmlns:p14="http://schemas.microsoft.com/office/powerpoint/2010/main" val="104682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4" name="thanks-top-rule">
            <a:extLst>
              <a:ext uri="{FF2B5EF4-FFF2-40B4-BE49-F238E27FC236}">
                <a16:creationId xmlns:a16="http://schemas.microsoft.com/office/drawing/2014/main" id="{A52FF73F-81DE-40F0-B316-B68F2DB9BCC6}"/>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2" name="thanks-section-label">
            <a:extLst>
              <a:ext uri="{FF2B5EF4-FFF2-40B4-BE49-F238E27FC236}">
                <a16:creationId xmlns:a16="http://schemas.microsoft.com/office/drawing/2014/main" id="{241A9F05-FD31-4A8D-99DC-DFC1016064EC}"/>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defRPr sz="975" b="1">
                <a:solidFill>
                  <a:srgbClr val="8190A0"/>
                </a:solidFill>
                <a:latin typeface="Arial"/>
                <a:ea typeface="Arial"/>
                <a:cs typeface="Arial"/>
              </a:defRPr>
            </a:pPr>
            <a:r>
              <a:rPr sz="975" b="1">
                <a:solidFill>
                  <a:srgbClr val="8190A0"/>
                </a:solidFill>
                <a:latin typeface="Arial"/>
                <a:ea typeface="Arial"/>
                <a:cs typeface="Arial"/>
              </a:rPr>
              <a:t>CLOSING</a:t>
            </a:r>
          </a:p>
        </p:txBody>
      </p:sp>
      <p:sp>
        <p:nvSpPr>
          <p:cNvPr id="3" name="thanks-title-rail">
            <a:extLst>
              <a:ext uri="{FF2B5EF4-FFF2-40B4-BE49-F238E27FC236}">
                <a16:creationId xmlns:a16="http://schemas.microsoft.com/office/drawing/2014/main" id="{F53E73B6-276B-4155-B78A-111C3FB6CAAD}"/>
              </a:ext>
            </a:extLst>
          </p:cNvPr>
          <p:cNvSpPr>
            <a:spLocks noGrp="1"/>
          </p:cNvSpPr>
          <p:nvPr/>
        </p:nvSpPr>
        <p:spPr>
          <a:xfrm>
            <a:off x="323850" y="2000250"/>
            <a:ext cx="57150" cy="1466850"/>
          </a:xfrm>
          <a:prstGeom prst="roundRect">
            <a:avLst>
              <a:gd name="adj" fmla="val 50000"/>
            </a:avLst>
          </a:prstGeom>
          <a:solidFill>
            <a:srgbClr val="3D8DFF"/>
          </a:solidFill>
          <a:ln w="0">
            <a:noFill/>
            <a:prstDash val="solid"/>
          </a:ln>
        </p:spPr>
        <p:txBody>
          <a:bodyPr/>
          <a:lstStyle/>
          <a:p>
            <a:endParaRPr/>
          </a:p>
        </p:txBody>
      </p:sp>
      <p:sp>
        <p:nvSpPr>
          <p:cNvPr id="4" name="thanks-title-underline">
            <a:extLst>
              <a:ext uri="{FF2B5EF4-FFF2-40B4-BE49-F238E27FC236}">
                <a16:creationId xmlns:a16="http://schemas.microsoft.com/office/drawing/2014/main" id="{CD331204-CCD4-4A94-915D-6B1081270D74}"/>
              </a:ext>
            </a:extLst>
          </p:cNvPr>
          <p:cNvSpPr>
            <a:spLocks noGrp="1"/>
          </p:cNvSpPr>
          <p:nvPr/>
        </p:nvSpPr>
        <p:spPr>
          <a:xfrm>
            <a:off x="533400" y="1885950"/>
            <a:ext cx="1104900" cy="28575"/>
          </a:xfrm>
          <a:prstGeom prst="roundRect">
            <a:avLst>
              <a:gd name="adj" fmla="val 50000"/>
            </a:avLst>
          </a:prstGeom>
          <a:solidFill>
            <a:srgbClr val="5D58E9"/>
          </a:solidFill>
          <a:ln w="0">
            <a:noFill/>
            <a:prstDash val="solid"/>
          </a:ln>
        </p:spPr>
        <p:txBody>
          <a:bodyPr/>
          <a:lstStyle/>
          <a:p>
            <a:endParaRPr/>
          </a:p>
        </p:txBody>
      </p:sp>
      <p:sp>
        <p:nvSpPr>
          <p:cNvPr id="5" name="thanks-title">
            <a:extLst>
              <a:ext uri="{FF2B5EF4-FFF2-40B4-BE49-F238E27FC236}">
                <a16:creationId xmlns:a16="http://schemas.microsoft.com/office/drawing/2014/main" id="{BD5A60DD-96FB-442A-BCF6-505184C52A5D}"/>
              </a:ext>
            </a:extLst>
          </p:cNvPr>
          <p:cNvSpPr>
            <a:spLocks noGrp="1"/>
          </p:cNvSpPr>
          <p:nvPr/>
        </p:nvSpPr>
        <p:spPr>
          <a:xfrm>
            <a:off x="533400" y="2133600"/>
            <a:ext cx="6286500" cy="685800"/>
          </a:xfrm>
          <a:prstGeom prst="rect">
            <a:avLst/>
          </a:prstGeom>
          <a:noFill/>
          <a:ln w="0">
            <a:noFill/>
            <a:prstDash val="solid"/>
          </a:ln>
        </p:spPr>
        <p:txBody>
          <a:bodyPr wrap="square" lIns="0" tIns="0" rIns="0" bIns="0" anchor="t">
            <a:noAutofit/>
          </a:bodyPr>
          <a:lstStyle/>
          <a:p>
            <a:pPr algn="l">
              <a:defRPr sz="3900" b="1">
                <a:solidFill>
                  <a:srgbClr val="111827"/>
                </a:solidFill>
                <a:latin typeface="Arial"/>
                <a:ea typeface="Arial"/>
                <a:cs typeface="Arial"/>
              </a:defRPr>
            </a:pPr>
            <a:r>
              <a:rPr sz="3900" b="1">
                <a:solidFill>
                  <a:srgbClr val="111827"/>
                </a:solidFill>
                <a:latin typeface="Arial"/>
                <a:ea typeface="Arial"/>
                <a:cs typeface="Arial"/>
              </a:rPr>
              <a:t>Thank you</a:t>
            </a:r>
          </a:p>
        </p:txBody>
      </p:sp>
      <p:sp>
        <p:nvSpPr>
          <p:cNvPr id="7" name="thanks-project-label">
            <a:extLst>
              <a:ext uri="{FF2B5EF4-FFF2-40B4-BE49-F238E27FC236}">
                <a16:creationId xmlns:a16="http://schemas.microsoft.com/office/drawing/2014/main" id="{9C8DF47A-43A1-4801-A017-F836571BB133}"/>
              </a:ext>
            </a:extLst>
          </p:cNvPr>
          <p:cNvSpPr>
            <a:spLocks noGrp="1"/>
          </p:cNvSpPr>
          <p:nvPr/>
        </p:nvSpPr>
        <p:spPr>
          <a:xfrm>
            <a:off x="533400" y="3676650"/>
            <a:ext cx="5715000" cy="285750"/>
          </a:xfrm>
          <a:prstGeom prst="rect">
            <a:avLst/>
          </a:prstGeom>
          <a:noFill/>
          <a:ln w="0">
            <a:noFill/>
            <a:prstDash val="solid"/>
          </a:ln>
        </p:spPr>
        <p:txBody>
          <a:bodyPr wrap="square" lIns="0" tIns="0" rIns="0" bIns="0" anchor="t">
            <a:noAutofit/>
          </a:bodyPr>
          <a:lstStyle/>
          <a:p>
            <a:pPr algn="l">
              <a:defRPr sz="1350" b="0">
                <a:solidFill>
                  <a:srgbClr val="8190A0"/>
                </a:solidFill>
                <a:latin typeface="Arial"/>
                <a:ea typeface="Arial"/>
                <a:cs typeface="Arial"/>
              </a:defRPr>
            </a:pPr>
            <a:r>
              <a:rPr sz="1350" b="0">
                <a:solidFill>
                  <a:srgbClr val="8190A0"/>
                </a:solidFill>
                <a:latin typeface="Arial"/>
                <a:ea typeface="Arial"/>
                <a:cs typeface="Arial"/>
              </a:rPr>
              <a:t>Interpretable ML for CNP fraud detection</a:t>
            </a:r>
          </a:p>
        </p:txBody>
      </p:sp>
      <p:sp>
        <p:nvSpPr>
          <p:cNvPr id="8" name="thanks-discussion-panel">
            <a:extLst>
              <a:ext uri="{FF2B5EF4-FFF2-40B4-BE49-F238E27FC236}">
                <a16:creationId xmlns:a16="http://schemas.microsoft.com/office/drawing/2014/main" id="{E34BE745-DC4A-4B25-8D27-4D1BD49E85AD}"/>
              </a:ext>
            </a:extLst>
          </p:cNvPr>
          <p:cNvSpPr>
            <a:spLocks noGrp="1"/>
          </p:cNvSpPr>
          <p:nvPr/>
        </p:nvSpPr>
        <p:spPr>
          <a:xfrm>
            <a:off x="7543800" y="1676400"/>
            <a:ext cx="3429000" cy="3143250"/>
          </a:xfrm>
          <a:prstGeom prst="roundRect">
            <a:avLst>
              <a:gd name="adj" fmla="val 3636"/>
            </a:avLst>
          </a:prstGeom>
          <a:solidFill>
            <a:srgbClr val="EAF5FB"/>
          </a:solidFill>
          <a:ln w="9525">
            <a:solidFill>
              <a:srgbClr val="D6DDE5"/>
            </a:solidFill>
            <a:prstDash val="solid"/>
          </a:ln>
        </p:spPr>
      </p:sp>
      <p:sp>
        <p:nvSpPr>
          <p:cNvPr id="9" name="thanks-discussion-label">
            <a:extLst>
              <a:ext uri="{FF2B5EF4-FFF2-40B4-BE49-F238E27FC236}">
                <a16:creationId xmlns:a16="http://schemas.microsoft.com/office/drawing/2014/main" id="{2C615297-0926-428E-8ECA-3B17C48087F8}"/>
              </a:ext>
            </a:extLst>
          </p:cNvPr>
          <p:cNvSpPr>
            <a:spLocks noGrp="1"/>
          </p:cNvSpPr>
          <p:nvPr/>
        </p:nvSpPr>
        <p:spPr>
          <a:xfrm>
            <a:off x="8020050" y="1924050"/>
            <a:ext cx="2476500" cy="228600"/>
          </a:xfrm>
          <a:prstGeom prst="rect">
            <a:avLst/>
          </a:prstGeom>
          <a:noFill/>
          <a:ln w="0">
            <a:noFill/>
            <a:prstDash val="solid"/>
          </a:ln>
        </p:spPr>
        <p:txBody>
          <a:bodyPr wrap="square" lIns="0" tIns="0" rIns="0" bIns="0" anchor="t">
            <a:noAutofit/>
          </a:bodyPr>
          <a:lstStyle/>
          <a:p>
            <a:pPr algn="ctr">
              <a:defRPr sz="1200" b="1">
                <a:solidFill>
                  <a:srgbClr val="5D58E9"/>
                </a:solidFill>
                <a:latin typeface="Arial"/>
                <a:ea typeface="Arial"/>
                <a:cs typeface="Arial"/>
              </a:defRPr>
            </a:pPr>
            <a:r>
              <a:rPr sz="1200" b="1">
                <a:solidFill>
                  <a:srgbClr val="5D58E9"/>
                </a:solidFill>
                <a:latin typeface="Arial"/>
                <a:ea typeface="Arial"/>
                <a:cs typeface="Arial"/>
              </a:rPr>
              <a:t>OPEN DISCUSSION</a:t>
            </a:r>
          </a:p>
        </p:txBody>
      </p:sp>
      <p:sp>
        <p:nvSpPr>
          <p:cNvPr id="10" name="thanks-question-circle">
            <a:extLst>
              <a:ext uri="{FF2B5EF4-FFF2-40B4-BE49-F238E27FC236}">
                <a16:creationId xmlns:a16="http://schemas.microsoft.com/office/drawing/2014/main" id="{47348CAE-DA03-4ABE-A23A-28DB2773F8CD}"/>
              </a:ext>
            </a:extLst>
          </p:cNvPr>
          <p:cNvSpPr>
            <a:spLocks noGrp="1"/>
          </p:cNvSpPr>
          <p:nvPr/>
        </p:nvSpPr>
        <p:spPr>
          <a:xfrm>
            <a:off x="8629650" y="2381250"/>
            <a:ext cx="1257300" cy="1257300"/>
          </a:xfrm>
          <a:prstGeom prst="ellipse">
            <a:avLst/>
          </a:prstGeom>
          <a:solidFill>
            <a:srgbClr val="3D8DFF"/>
          </a:solidFill>
          <a:ln w="0">
            <a:noFill/>
            <a:prstDash val="solid"/>
          </a:ln>
        </p:spPr>
      </p:sp>
      <p:sp>
        <p:nvSpPr>
          <p:cNvPr id="11" name="thanks-question-mark">
            <a:extLst>
              <a:ext uri="{FF2B5EF4-FFF2-40B4-BE49-F238E27FC236}">
                <a16:creationId xmlns:a16="http://schemas.microsoft.com/office/drawing/2014/main" id="{0CD6F08B-4350-4E24-9AE2-7F55FDCC6A8A}"/>
              </a:ext>
            </a:extLst>
          </p:cNvPr>
          <p:cNvSpPr>
            <a:spLocks noGrp="1"/>
          </p:cNvSpPr>
          <p:nvPr/>
        </p:nvSpPr>
        <p:spPr>
          <a:xfrm>
            <a:off x="8629650" y="2514600"/>
            <a:ext cx="1257300" cy="952500"/>
          </a:xfrm>
          <a:prstGeom prst="rect">
            <a:avLst/>
          </a:prstGeom>
          <a:noFill/>
          <a:ln w="0">
            <a:noFill/>
            <a:prstDash val="solid"/>
          </a:ln>
        </p:spPr>
        <p:txBody>
          <a:bodyPr wrap="square" lIns="0" tIns="0" rIns="0" bIns="0" anchor="ctr">
            <a:noAutofit/>
          </a:bodyPr>
          <a:lstStyle/>
          <a:p>
            <a:pPr algn="ctr">
              <a:defRPr sz="5400" b="1">
                <a:solidFill>
                  <a:srgbClr val="FFFFFF"/>
                </a:solidFill>
                <a:latin typeface="Arial"/>
                <a:ea typeface="Arial"/>
                <a:cs typeface="Arial"/>
              </a:defRPr>
            </a:pPr>
            <a:r>
              <a:rPr sz="5400" b="1">
                <a:solidFill>
                  <a:srgbClr val="FFFFFF"/>
                </a:solidFill>
                <a:latin typeface="Arial"/>
                <a:ea typeface="Arial"/>
                <a:cs typeface="Arial"/>
              </a:rPr>
              <a:t>?</a:t>
            </a:r>
          </a:p>
        </p:txBody>
      </p:sp>
      <p:sp>
        <p:nvSpPr>
          <p:cNvPr id="12" name="thanks-theme-line">
            <a:extLst>
              <a:ext uri="{FF2B5EF4-FFF2-40B4-BE49-F238E27FC236}">
                <a16:creationId xmlns:a16="http://schemas.microsoft.com/office/drawing/2014/main" id="{F46773B2-F44E-43BD-9020-98E1437BBFCB}"/>
              </a:ext>
            </a:extLst>
          </p:cNvPr>
          <p:cNvSpPr>
            <a:spLocks noGrp="1"/>
          </p:cNvSpPr>
          <p:nvPr/>
        </p:nvSpPr>
        <p:spPr>
          <a:xfrm>
            <a:off x="7924800" y="4057650"/>
            <a:ext cx="2667000" cy="228600"/>
          </a:xfrm>
          <a:prstGeom prst="rect">
            <a:avLst/>
          </a:prstGeom>
          <a:noFill/>
          <a:ln w="0">
            <a:noFill/>
            <a:prstDash val="solid"/>
          </a:ln>
        </p:spPr>
        <p:txBody>
          <a:bodyPr wrap="square" lIns="0" tIns="0" rIns="0" bIns="0" anchor="t">
            <a:noAutofit/>
          </a:bodyPr>
          <a:lstStyle/>
          <a:p>
            <a:pPr algn="ctr">
              <a:defRPr sz="1200" b="1">
                <a:solidFill>
                  <a:srgbClr val="279A73"/>
                </a:solidFill>
                <a:latin typeface="Arial"/>
                <a:ea typeface="Arial"/>
                <a:cs typeface="Arial"/>
              </a:defRPr>
            </a:pPr>
            <a:r>
              <a:rPr sz="1200" b="1">
                <a:solidFill>
                  <a:srgbClr val="279A73"/>
                </a:solidFill>
                <a:latin typeface="Arial"/>
                <a:ea typeface="Arial"/>
                <a:cs typeface="Arial"/>
              </a:rPr>
              <a:t>DETECT  •  EXPLAIN  •  REVIEW</a:t>
            </a:r>
          </a:p>
        </p:txBody>
      </p:sp>
      <p:sp>
        <p:nvSpPr>
          <p:cNvPr id="13" name="thanks-progress-1">
            <a:extLst>
              <a:ext uri="{FF2B5EF4-FFF2-40B4-BE49-F238E27FC236}">
                <a16:creationId xmlns:a16="http://schemas.microsoft.com/office/drawing/2014/main" id="{BEAD4886-3A85-4CA2-AFC0-70D18CA8C361}"/>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14" name="thanks-progress-2">
            <a:extLst>
              <a:ext uri="{FF2B5EF4-FFF2-40B4-BE49-F238E27FC236}">
                <a16:creationId xmlns:a16="http://schemas.microsoft.com/office/drawing/2014/main" id="{3372ABC5-4607-4754-898D-681E130E2DEF}"/>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15" name="thanks-progress-3">
            <a:extLst>
              <a:ext uri="{FF2B5EF4-FFF2-40B4-BE49-F238E27FC236}">
                <a16:creationId xmlns:a16="http://schemas.microsoft.com/office/drawing/2014/main" id="{EB23E0AF-10C0-4D3A-9C6E-632652755524}"/>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16" name="thanks-progress-4">
            <a:extLst>
              <a:ext uri="{FF2B5EF4-FFF2-40B4-BE49-F238E27FC236}">
                <a16:creationId xmlns:a16="http://schemas.microsoft.com/office/drawing/2014/main" id="{099ECAC7-5BA9-4391-B9D5-9B5D1A68256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17" name="thanks-progress-5">
            <a:extLst>
              <a:ext uri="{FF2B5EF4-FFF2-40B4-BE49-F238E27FC236}">
                <a16:creationId xmlns:a16="http://schemas.microsoft.com/office/drawing/2014/main" id="{58E6B9C3-F4B6-40F1-9396-31A6E9B3AAFF}"/>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18" name="thanks-progress-6">
            <a:extLst>
              <a:ext uri="{FF2B5EF4-FFF2-40B4-BE49-F238E27FC236}">
                <a16:creationId xmlns:a16="http://schemas.microsoft.com/office/drawing/2014/main" id="{B751078D-CA08-4EF8-BC12-B1E9B1D6341F}"/>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19" name="thanks-progress-7">
            <a:extLst>
              <a:ext uri="{FF2B5EF4-FFF2-40B4-BE49-F238E27FC236}">
                <a16:creationId xmlns:a16="http://schemas.microsoft.com/office/drawing/2014/main" id="{2A4A3D69-0310-46D9-90E6-50FE435C5A03}"/>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0" name="thanks-progress-8">
            <a:extLst>
              <a:ext uri="{FF2B5EF4-FFF2-40B4-BE49-F238E27FC236}">
                <a16:creationId xmlns:a16="http://schemas.microsoft.com/office/drawing/2014/main" id="{F7EFD2F7-D2D4-46F5-8729-48EEAA135092}"/>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21" name="thanks-progress-9">
            <a:extLst>
              <a:ext uri="{FF2B5EF4-FFF2-40B4-BE49-F238E27FC236}">
                <a16:creationId xmlns:a16="http://schemas.microsoft.com/office/drawing/2014/main" id="{180113A3-B341-4A97-AD3C-EE652EF8AC33}"/>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22" name="thanks-progress-10">
            <a:extLst>
              <a:ext uri="{FF2B5EF4-FFF2-40B4-BE49-F238E27FC236}">
                <a16:creationId xmlns:a16="http://schemas.microsoft.com/office/drawing/2014/main" id="{D22A7A80-4CAA-49F5-A199-26C28E7E9460}"/>
              </a:ext>
            </a:extLst>
          </p:cNvPr>
          <p:cNvSpPr>
            <a:spLocks noGrp="1"/>
          </p:cNvSpPr>
          <p:nvPr/>
        </p:nvSpPr>
        <p:spPr>
          <a:xfrm>
            <a:off x="6962775" y="6572250"/>
            <a:ext cx="152400" cy="28575"/>
          </a:xfrm>
          <a:prstGeom prst="roundRect">
            <a:avLst>
              <a:gd name="adj" fmla="val 50000"/>
            </a:avLst>
          </a:prstGeom>
          <a:solidFill>
            <a:srgbClr val="5D58E9"/>
          </a:solidFill>
          <a:ln w="0">
            <a:noFill/>
            <a:prstDash val="solid"/>
          </a:ln>
        </p:spPr>
      </p:sp>
      <p:sp>
        <p:nvSpPr>
          <p:cNvPr id="23" name="thanks-page-number">
            <a:extLst>
              <a:ext uri="{FF2B5EF4-FFF2-40B4-BE49-F238E27FC236}">
                <a16:creationId xmlns:a16="http://schemas.microsoft.com/office/drawing/2014/main" id="{4094EAE4-2381-459D-A527-84E8638C19D2}"/>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spcBef>
                <a:spcPts val="0"/>
              </a:spcBef>
              <a:spcAft>
                <a:spcPts val="200"/>
              </a:spcAft>
              <a:defRPr sz="975" b="0">
                <a:solidFill>
                  <a:srgbClr val="8190A0"/>
                </a:solidFill>
                <a:latin typeface="Arial"/>
                <a:ea typeface="Arial"/>
                <a:cs typeface="Arial"/>
              </a:defRPr>
            </a:pPr>
            <a:r>
              <a:rPr sz="1300" b="0" i="0">
                <a:solidFill>
                  <a:srgbClr val="8190A0"/>
                </a:solidFill>
                <a:latin typeface="Arial"/>
              </a:rPr>
              <a:t>14</a:t>
            </a:r>
          </a:p>
        </p:txBody>
      </p:sp>
    </p:spTree>
    <p:extLst>
      <p:ext uri="{BB962C8B-B14F-4D97-AF65-F5344CB8AC3E}">
        <p14:creationId xmlns:p14="http://schemas.microsoft.com/office/powerpoint/2010/main" val="1899344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0429" name="rule">
            <a:extLst>
              <a:ext uri="{FF2B5EF4-FFF2-40B4-BE49-F238E27FC236}">
                <a16:creationId xmlns:a16="http://schemas.microsoft.com/office/drawing/2014/main" id="{552B6C45-F959-4AB8-8118-62825D2157A0}"/>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10402" name="section-label">
            <a:extLst>
              <a:ext uri="{FF2B5EF4-FFF2-40B4-BE49-F238E27FC236}">
                <a16:creationId xmlns:a16="http://schemas.microsoft.com/office/drawing/2014/main" id="{4283E677-828F-4BD2-9BC1-CEECF3FA615B}"/>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spcBef>
                <a:spcPts val="0"/>
              </a:spcBef>
              <a:spcAft>
                <a:spcPts val="200"/>
              </a:spcAft>
              <a:buNone/>
              <a:defRPr sz="900" b="1" i="0">
                <a:solidFill>
                  <a:srgbClr val="8190A0"/>
                </a:solidFill>
                <a:latin typeface="Arial"/>
                <a:ea typeface="Arial"/>
                <a:cs typeface="Arial"/>
              </a:defRPr>
            </a:pPr>
            <a:r>
              <a:rPr sz="1200" b="1" i="0">
                <a:solidFill>
                  <a:srgbClr val="8190A0"/>
                </a:solidFill>
                <a:latin typeface="Arial"/>
              </a:rPr>
              <a:t>Q&amp;A</a:t>
            </a:r>
          </a:p>
        </p:txBody>
      </p:sp>
      <p:sp>
        <p:nvSpPr>
          <p:cNvPr id="10403" name="page-number">
            <a:extLst>
              <a:ext uri="{FF2B5EF4-FFF2-40B4-BE49-F238E27FC236}">
                <a16:creationId xmlns:a16="http://schemas.microsoft.com/office/drawing/2014/main" id="{6BBF6E91-0BA1-4C0E-B619-160916AA96D9}"/>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spcBef>
                <a:spcPts val="0"/>
              </a:spcBef>
              <a:spcAft>
                <a:spcPts val="200"/>
              </a:spcAft>
              <a:buNone/>
              <a:defRPr sz="975" b="0" i="0">
                <a:solidFill>
                  <a:srgbClr val="8190A0"/>
                </a:solidFill>
                <a:latin typeface="Arial"/>
                <a:ea typeface="Arial"/>
                <a:cs typeface="Arial"/>
              </a:defRPr>
            </a:pPr>
            <a:r>
              <a:rPr sz="1300" b="0" i="0">
                <a:solidFill>
                  <a:srgbClr val="8190A0"/>
                </a:solidFill>
                <a:latin typeface="Arial"/>
              </a:rPr>
              <a:t>11</a:t>
            </a:r>
          </a:p>
        </p:txBody>
      </p:sp>
      <p:sp>
        <p:nvSpPr>
          <p:cNvPr id="10404" name="slide-title">
            <a:extLst>
              <a:ext uri="{FF2B5EF4-FFF2-40B4-BE49-F238E27FC236}">
                <a16:creationId xmlns:a16="http://schemas.microsoft.com/office/drawing/2014/main" id="{75F2CBA6-E99F-4B98-A9B7-0E17EC7B6767}"/>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spcBef>
                <a:spcPts val="0"/>
              </a:spcBef>
              <a:spcAft>
                <a:spcPts val="200"/>
              </a:spcAft>
              <a:buNone/>
              <a:defRPr sz="2700" b="1" i="0">
                <a:solidFill>
                  <a:srgbClr val="111827"/>
                </a:solidFill>
                <a:latin typeface="Arial"/>
                <a:ea typeface="Arial"/>
                <a:cs typeface="Arial"/>
              </a:defRPr>
            </a:pPr>
            <a:r>
              <a:rPr sz="2600" b="1" i="0">
                <a:solidFill>
                  <a:srgbClr val="111827"/>
                </a:solidFill>
                <a:latin typeface="Arial"/>
              </a:rPr>
              <a:t>Why not one model?</a:t>
            </a:r>
          </a:p>
        </p:txBody>
      </p:sp>
      <p:sp>
        <p:nvSpPr>
          <p:cNvPr id="10405" name="slide-subtitle">
            <a:extLst>
              <a:ext uri="{FF2B5EF4-FFF2-40B4-BE49-F238E27FC236}">
                <a16:creationId xmlns:a16="http://schemas.microsoft.com/office/drawing/2014/main" id="{63E4E154-E1A2-4987-8B91-3EDD3ACD9C65}"/>
              </a:ext>
            </a:extLst>
          </p:cNvPr>
          <p:cNvSpPr>
            <a:spLocks noGrp="1"/>
          </p:cNvSpPr>
          <p:nvPr/>
        </p:nvSpPr>
        <p:spPr>
          <a:xfrm>
            <a:off x="533400" y="1295400"/>
            <a:ext cx="11049000" cy="457200"/>
          </a:xfrm>
          <a:prstGeom prst="rect">
            <a:avLst/>
          </a:prstGeom>
          <a:noFill/>
          <a:ln w="0">
            <a:noFill/>
            <a:prstDash val="solid"/>
          </a:ln>
        </p:spPr>
        <p:txBody>
          <a:bodyPr wrap="square" lIns="0" tIns="0" rIns="0" bIns="0" anchor="t">
            <a:noAutofit/>
          </a:bodyPr>
          <a:lstStyle/>
          <a:p>
            <a:pPr algn="l">
              <a:spcBef>
                <a:spcPts val="0"/>
              </a:spcBef>
              <a:spcAft>
                <a:spcPts val="200"/>
              </a:spcAft>
              <a:buNone/>
              <a:defRPr sz="1350" b="0" i="0">
                <a:solidFill>
                  <a:srgbClr val="536172"/>
                </a:solidFill>
                <a:latin typeface="Arial"/>
                <a:ea typeface="Arial"/>
                <a:cs typeface="Arial"/>
              </a:defRPr>
            </a:pPr>
            <a:r>
              <a:rPr sz="1400" b="0" i="0">
                <a:solidFill>
                  <a:srgbClr val="536172"/>
                </a:solidFill>
                <a:latin typeface="Arial"/>
              </a:rPr>
              <a:t>They miss different cases. We keep the strongest warning.</a:t>
            </a:r>
          </a:p>
        </p:txBody>
      </p:sp>
      <p:sp>
        <p:nvSpPr>
          <p:cNvPr id="10430" name="polish-title-rail-10">
            <a:extLst>
              <a:ext uri="{FF2B5EF4-FFF2-40B4-BE49-F238E27FC236}">
                <a16:creationId xmlns:a16="http://schemas.microsoft.com/office/drawing/2014/main" id="{5CFD2D6B-8973-4966-A3FD-0D1EC312F95A}"/>
              </a:ext>
            </a:extLst>
          </p:cNvPr>
          <p:cNvSpPr>
            <a:spLocks noGrp="1"/>
          </p:cNvSpPr>
          <p:nvPr/>
        </p:nvSpPr>
        <p:spPr>
          <a:xfrm>
            <a:off x="323850" y="762000"/>
            <a:ext cx="57150" cy="552450"/>
          </a:xfrm>
          <a:prstGeom prst="roundRect">
            <a:avLst>
              <a:gd name="adj" fmla="val 50000"/>
            </a:avLst>
          </a:prstGeom>
          <a:solidFill>
            <a:srgbClr val="E7864F"/>
          </a:solidFill>
          <a:ln w="0">
            <a:noFill/>
            <a:prstDash val="solid"/>
          </a:ln>
        </p:spPr>
        <p:txBody>
          <a:bodyPr/>
          <a:lstStyle/>
          <a:p>
            <a:endParaRPr/>
          </a:p>
        </p:txBody>
      </p:sp>
      <p:sp>
        <p:nvSpPr>
          <p:cNvPr id="10431" name="polish-title-underline-10">
            <a:extLst>
              <a:ext uri="{FF2B5EF4-FFF2-40B4-BE49-F238E27FC236}">
                <a16:creationId xmlns:a16="http://schemas.microsoft.com/office/drawing/2014/main" id="{1F95A3B8-1B5D-425D-BCF0-A8B5D94670E1}"/>
              </a:ext>
            </a:extLst>
          </p:cNvPr>
          <p:cNvSpPr>
            <a:spLocks noGrp="1"/>
          </p:cNvSpPr>
          <p:nvPr/>
        </p:nvSpPr>
        <p:spPr>
          <a:xfrm>
            <a:off x="533400" y="647700"/>
            <a:ext cx="876300" cy="28575"/>
          </a:xfrm>
          <a:prstGeom prst="roundRect">
            <a:avLst>
              <a:gd name="adj" fmla="val 50000"/>
            </a:avLst>
          </a:prstGeom>
          <a:solidFill>
            <a:srgbClr val="E7864F"/>
          </a:solidFill>
          <a:ln w="0">
            <a:noFill/>
            <a:prstDash val="solid"/>
          </a:ln>
        </p:spPr>
        <p:txBody>
          <a:bodyPr/>
          <a:lstStyle/>
          <a:p>
            <a:endParaRPr/>
          </a:p>
        </p:txBody>
      </p:sp>
      <p:sp>
        <p:nvSpPr>
          <p:cNvPr id="10432" name="polish-progress-10-1">
            <a:extLst>
              <a:ext uri="{FF2B5EF4-FFF2-40B4-BE49-F238E27FC236}">
                <a16:creationId xmlns:a16="http://schemas.microsoft.com/office/drawing/2014/main" id="{22E24E30-14AA-4AEE-BCA2-49FD074759CF}"/>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txBody>
          <a:bodyPr/>
          <a:lstStyle/>
          <a:p>
            <a:endParaRPr/>
          </a:p>
        </p:txBody>
      </p:sp>
      <p:sp>
        <p:nvSpPr>
          <p:cNvPr id="10433" name="polish-progress-10-2">
            <a:extLst>
              <a:ext uri="{FF2B5EF4-FFF2-40B4-BE49-F238E27FC236}">
                <a16:creationId xmlns:a16="http://schemas.microsoft.com/office/drawing/2014/main" id="{9F3773F4-A3F1-4C22-872A-0527895C037A}"/>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txBody>
          <a:bodyPr/>
          <a:lstStyle/>
          <a:p>
            <a:endParaRPr/>
          </a:p>
        </p:txBody>
      </p:sp>
      <p:sp>
        <p:nvSpPr>
          <p:cNvPr id="10434" name="polish-progress-10-3">
            <a:extLst>
              <a:ext uri="{FF2B5EF4-FFF2-40B4-BE49-F238E27FC236}">
                <a16:creationId xmlns:a16="http://schemas.microsoft.com/office/drawing/2014/main" id="{F916C23D-EAE5-482C-A9AA-CD35F224EDD7}"/>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txBody>
          <a:bodyPr/>
          <a:lstStyle/>
          <a:p>
            <a:endParaRPr/>
          </a:p>
        </p:txBody>
      </p:sp>
      <p:sp>
        <p:nvSpPr>
          <p:cNvPr id="10435" name="polish-progress-10-4">
            <a:extLst>
              <a:ext uri="{FF2B5EF4-FFF2-40B4-BE49-F238E27FC236}">
                <a16:creationId xmlns:a16="http://schemas.microsoft.com/office/drawing/2014/main" id="{052277DF-4A51-4C81-8CAA-F0CA6DBEC68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txBody>
          <a:bodyPr/>
          <a:lstStyle/>
          <a:p>
            <a:endParaRPr/>
          </a:p>
        </p:txBody>
      </p:sp>
      <p:sp>
        <p:nvSpPr>
          <p:cNvPr id="10436" name="polish-progress-10-5">
            <a:extLst>
              <a:ext uri="{FF2B5EF4-FFF2-40B4-BE49-F238E27FC236}">
                <a16:creationId xmlns:a16="http://schemas.microsoft.com/office/drawing/2014/main" id="{2CCD6794-7DC1-4FC2-99AE-48EB9DF3CC66}"/>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txBody>
          <a:bodyPr/>
          <a:lstStyle/>
          <a:p>
            <a:endParaRPr/>
          </a:p>
        </p:txBody>
      </p:sp>
      <p:sp>
        <p:nvSpPr>
          <p:cNvPr id="10437" name="polish-progress-10-6">
            <a:extLst>
              <a:ext uri="{FF2B5EF4-FFF2-40B4-BE49-F238E27FC236}">
                <a16:creationId xmlns:a16="http://schemas.microsoft.com/office/drawing/2014/main" id="{9FEEFDBC-9340-4117-88FA-18FAD9F57F8A}"/>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txBody>
          <a:bodyPr/>
          <a:lstStyle/>
          <a:p>
            <a:endParaRPr/>
          </a:p>
        </p:txBody>
      </p:sp>
      <p:sp>
        <p:nvSpPr>
          <p:cNvPr id="10438" name="polish-progress-10-7">
            <a:extLst>
              <a:ext uri="{FF2B5EF4-FFF2-40B4-BE49-F238E27FC236}">
                <a16:creationId xmlns:a16="http://schemas.microsoft.com/office/drawing/2014/main" id="{1FA15183-8BC8-46AB-A249-6C34AD5C662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txBody>
          <a:bodyPr/>
          <a:lstStyle/>
          <a:p>
            <a:endParaRPr/>
          </a:p>
        </p:txBody>
      </p:sp>
      <p:sp>
        <p:nvSpPr>
          <p:cNvPr id="10439" name="polish-progress-10-8">
            <a:extLst>
              <a:ext uri="{FF2B5EF4-FFF2-40B4-BE49-F238E27FC236}">
                <a16:creationId xmlns:a16="http://schemas.microsoft.com/office/drawing/2014/main" id="{E277C9FD-8AA4-4FD4-99E9-A89B9C67001A}"/>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txBody>
          <a:bodyPr/>
          <a:lstStyle/>
          <a:p>
            <a:endParaRPr/>
          </a:p>
        </p:txBody>
      </p:sp>
      <p:sp>
        <p:nvSpPr>
          <p:cNvPr id="10440" name="polish-progress-10-9">
            <a:extLst>
              <a:ext uri="{FF2B5EF4-FFF2-40B4-BE49-F238E27FC236}">
                <a16:creationId xmlns:a16="http://schemas.microsoft.com/office/drawing/2014/main" id="{85E5CC66-FEEA-4EB3-8D04-022D033189E5}"/>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txBody>
          <a:bodyPr/>
          <a:lstStyle/>
          <a:p>
            <a:endParaRPr/>
          </a:p>
        </p:txBody>
      </p:sp>
      <p:sp>
        <p:nvSpPr>
          <p:cNvPr id="10441" name="polish-progress-10-10">
            <a:extLst>
              <a:ext uri="{FF2B5EF4-FFF2-40B4-BE49-F238E27FC236}">
                <a16:creationId xmlns:a16="http://schemas.microsoft.com/office/drawing/2014/main" id="{C748F7BB-A9B3-4D7F-A077-E4ACB6C23DCF}"/>
              </a:ext>
            </a:extLst>
          </p:cNvPr>
          <p:cNvSpPr>
            <a:spLocks noGrp="1"/>
          </p:cNvSpPr>
          <p:nvPr/>
        </p:nvSpPr>
        <p:spPr>
          <a:xfrm>
            <a:off x="6962775" y="6572250"/>
            <a:ext cx="152400" cy="28575"/>
          </a:xfrm>
          <a:prstGeom prst="roundRect">
            <a:avLst>
              <a:gd name="adj" fmla="val 50000"/>
            </a:avLst>
          </a:prstGeom>
          <a:solidFill>
            <a:srgbClr val="E7864F"/>
          </a:solidFill>
          <a:ln w="0">
            <a:noFill/>
            <a:prstDash val="solid"/>
          </a:ln>
        </p:spPr>
        <p:txBody>
          <a:bodyPr/>
          <a:lstStyle/>
          <a:p>
            <a:endParaRPr/>
          </a:p>
        </p:txBody>
      </p:sp>
      <p:sp>
        <p:nvSpPr>
          <p:cNvPr id="10442" name="why-card-0"/>
          <p:cNvSpPr/>
          <p:nvPr/>
        </p:nvSpPr>
        <p:spPr>
          <a:xfrm>
            <a:off x="533400" y="1785000"/>
            <a:ext cx="3575050" cy="2857500"/>
          </a:xfrm>
          <a:prstGeom prst="roundRect">
            <a:avLst>
              <a:gd name="adj" fmla="val 6000"/>
            </a:avLst>
          </a:prstGeom>
          <a:solidFill>
            <a:srgbClr val="F7F9FB"/>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3" name="why-kicker-0"/>
          <p:cNvSpPr txBox="1"/>
          <p:nvPr/>
        </p:nvSpPr>
        <p:spPr>
          <a:xfrm>
            <a:off x="704850" y="1937400"/>
            <a:ext cx="3232150" cy="190500"/>
          </a:xfrm>
          <a:prstGeom prst="rect">
            <a:avLst/>
          </a:prstGeom>
          <a:noFill/>
        </p:spPr>
        <p:txBody>
          <a:bodyPr wrap="square" anchor="t"/>
          <a:lstStyle/>
          <a:p>
            <a:pPr algn="l">
              <a:spcBef>
                <a:spcPts val="0"/>
              </a:spcBef>
              <a:spcAft>
                <a:spcPts val="200"/>
              </a:spcAft>
            </a:pPr>
            <a:r>
              <a:rPr sz="1100" b="1" i="0">
                <a:solidFill>
                  <a:srgbClr val="5D58E9"/>
                </a:solidFill>
                <a:latin typeface="Arial"/>
              </a:rPr>
              <a:t>WHY THREE</a:t>
            </a:r>
          </a:p>
        </p:txBody>
      </p:sp>
      <p:sp>
        <p:nvSpPr>
          <p:cNvPr id="10444" name="why-head-0"/>
          <p:cNvSpPr txBox="1"/>
          <p:nvPr/>
        </p:nvSpPr>
        <p:spPr>
          <a:xfrm>
            <a:off x="704850" y="2166000"/>
            <a:ext cx="3232150" cy="571500"/>
          </a:xfrm>
          <a:prstGeom prst="rect">
            <a:avLst/>
          </a:prstGeom>
          <a:noFill/>
        </p:spPr>
        <p:txBody>
          <a:bodyPr wrap="square" anchor="t"/>
          <a:lstStyle/>
          <a:p>
            <a:pPr algn="l">
              <a:spcBef>
                <a:spcPts val="0"/>
              </a:spcBef>
              <a:spcAft>
                <a:spcPts val="200"/>
              </a:spcAft>
            </a:pPr>
            <a:r>
              <a:rPr sz="1800" b="1" i="0">
                <a:solidFill>
                  <a:srgbClr val="111827"/>
                </a:solidFill>
                <a:latin typeface="Arial"/>
              </a:rPr>
              <a:t>They miss different cases</a:t>
            </a:r>
          </a:p>
        </p:txBody>
      </p:sp>
      <p:sp>
        <p:nvSpPr>
          <p:cNvPr id="10445" name="why-body-0"/>
          <p:cNvSpPr txBox="1"/>
          <p:nvPr/>
        </p:nvSpPr>
        <p:spPr>
          <a:xfrm>
            <a:off x="704850" y="2775600"/>
            <a:ext cx="3232150" cy="1619250"/>
          </a:xfrm>
          <a:prstGeom prst="rect">
            <a:avLst/>
          </a:prstGeom>
          <a:noFill/>
        </p:spPr>
        <p:txBody>
          <a:bodyPr wrap="square" anchor="t"/>
          <a:lstStyle/>
          <a:p>
            <a:pPr algn="l">
              <a:spcBef>
                <a:spcPts val="0"/>
              </a:spcBef>
              <a:spcAft>
                <a:spcPts val="200"/>
              </a:spcAft>
            </a:pPr>
            <a:r>
              <a:rPr sz="1400" b="0" i="0">
                <a:solidFill>
                  <a:srgbClr val="536172"/>
                </a:solidFill>
                <a:latin typeface="Arial"/>
              </a:rPr>
              <a:t>One model can miss a new fraud pattern. Another can block too many genuine payments.</a:t>
            </a:r>
          </a:p>
        </p:txBody>
      </p:sp>
      <p:sp>
        <p:nvSpPr>
          <p:cNvPr id="10446" name="why-card-1"/>
          <p:cNvSpPr/>
          <p:nvPr/>
        </p:nvSpPr>
        <p:spPr>
          <a:xfrm>
            <a:off x="4308475" y="1785000"/>
            <a:ext cx="3575050" cy="2857500"/>
          </a:xfrm>
          <a:prstGeom prst="roundRect">
            <a:avLst>
              <a:gd name="adj" fmla="val 6000"/>
            </a:avLst>
          </a:prstGeom>
          <a:solidFill>
            <a:srgbClr val="FFFFFF"/>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7" name="why-kicker-1"/>
          <p:cNvSpPr txBox="1"/>
          <p:nvPr/>
        </p:nvSpPr>
        <p:spPr>
          <a:xfrm>
            <a:off x="4479925" y="1937400"/>
            <a:ext cx="3232150" cy="190500"/>
          </a:xfrm>
          <a:prstGeom prst="rect">
            <a:avLst/>
          </a:prstGeom>
          <a:noFill/>
        </p:spPr>
        <p:txBody>
          <a:bodyPr wrap="square" anchor="t"/>
          <a:lstStyle/>
          <a:p>
            <a:pPr algn="l">
              <a:spcBef>
                <a:spcPts val="0"/>
              </a:spcBef>
              <a:spcAft>
                <a:spcPts val="200"/>
              </a:spcAft>
            </a:pPr>
            <a:r>
              <a:rPr sz="1100" b="1" i="0">
                <a:solidFill>
                  <a:srgbClr val="5D58E9"/>
                </a:solidFill>
                <a:latin typeface="Arial"/>
              </a:rPr>
              <a:t>HOW WE COMBINE</a:t>
            </a:r>
          </a:p>
        </p:txBody>
      </p:sp>
      <p:sp>
        <p:nvSpPr>
          <p:cNvPr id="10448" name="why-head-1"/>
          <p:cNvSpPr txBox="1"/>
          <p:nvPr/>
        </p:nvSpPr>
        <p:spPr>
          <a:xfrm>
            <a:off x="4479925" y="2166000"/>
            <a:ext cx="3232150" cy="571500"/>
          </a:xfrm>
          <a:prstGeom prst="rect">
            <a:avLst/>
          </a:prstGeom>
          <a:noFill/>
        </p:spPr>
        <p:txBody>
          <a:bodyPr wrap="square" anchor="t"/>
          <a:lstStyle/>
          <a:p>
            <a:pPr algn="l">
              <a:spcBef>
                <a:spcPts val="0"/>
              </a:spcBef>
              <a:spcAft>
                <a:spcPts val="200"/>
              </a:spcAft>
            </a:pPr>
            <a:r>
              <a:rPr sz="1800" b="1" i="0">
                <a:solidFill>
                  <a:srgbClr val="111827"/>
                </a:solidFill>
                <a:latin typeface="Arial"/>
              </a:rPr>
              <a:t>We do not average</a:t>
            </a:r>
          </a:p>
        </p:txBody>
      </p:sp>
      <p:sp>
        <p:nvSpPr>
          <p:cNvPr id="10449" name="why-body-1"/>
          <p:cNvSpPr txBox="1"/>
          <p:nvPr/>
        </p:nvSpPr>
        <p:spPr>
          <a:xfrm>
            <a:off x="4479925" y="2775600"/>
            <a:ext cx="3232150" cy="1619250"/>
          </a:xfrm>
          <a:prstGeom prst="rect">
            <a:avLst/>
          </a:prstGeom>
          <a:noFill/>
        </p:spPr>
        <p:txBody>
          <a:bodyPr wrap="square" anchor="t"/>
          <a:lstStyle/>
          <a:p>
            <a:pPr algn="l">
              <a:spcBef>
                <a:spcPts val="0"/>
              </a:spcBef>
              <a:spcAft>
                <a:spcPts val="200"/>
              </a:spcAft>
            </a:pPr>
            <a:r>
              <a:rPr sz="1400" b="0" i="0">
                <a:solidFill>
                  <a:srgbClr val="536172"/>
                </a:solidFill>
                <a:latin typeface="Arial"/>
              </a:rPr>
              <a:t>If any model says BLOCK, the app blocks. Missing fraud costs more than an extra check.</a:t>
            </a:r>
          </a:p>
        </p:txBody>
      </p:sp>
      <p:sp>
        <p:nvSpPr>
          <p:cNvPr id="10450" name="why-card-2"/>
          <p:cNvSpPr/>
          <p:nvPr/>
        </p:nvSpPr>
        <p:spPr>
          <a:xfrm>
            <a:off x="8083550" y="1785000"/>
            <a:ext cx="3575050" cy="2857500"/>
          </a:xfrm>
          <a:prstGeom prst="roundRect">
            <a:avLst>
              <a:gd name="adj" fmla="val 6000"/>
            </a:avLst>
          </a:prstGeom>
          <a:solidFill>
            <a:srgbClr val="F7F9FB"/>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51" name="why-kicker-2"/>
          <p:cNvSpPr txBox="1"/>
          <p:nvPr/>
        </p:nvSpPr>
        <p:spPr>
          <a:xfrm>
            <a:off x="8255000" y="1937400"/>
            <a:ext cx="3232150" cy="190500"/>
          </a:xfrm>
          <a:prstGeom prst="rect">
            <a:avLst/>
          </a:prstGeom>
          <a:noFill/>
        </p:spPr>
        <p:txBody>
          <a:bodyPr wrap="square" anchor="t"/>
          <a:lstStyle/>
          <a:p>
            <a:pPr algn="l">
              <a:spcBef>
                <a:spcPts val="0"/>
              </a:spcBef>
              <a:spcAft>
                <a:spcPts val="200"/>
              </a:spcAft>
            </a:pPr>
            <a:r>
              <a:rPr sz="1100" b="1" i="0">
                <a:solidFill>
                  <a:srgbClr val="5D58E9"/>
                </a:solidFill>
                <a:latin typeface="Arial"/>
              </a:rPr>
              <a:t>LIVE DEMO</a:t>
            </a:r>
          </a:p>
        </p:txBody>
      </p:sp>
      <p:sp>
        <p:nvSpPr>
          <p:cNvPr id="10452" name="why-head-2"/>
          <p:cNvSpPr txBox="1"/>
          <p:nvPr/>
        </p:nvSpPr>
        <p:spPr>
          <a:xfrm>
            <a:off x="8255000" y="2166000"/>
            <a:ext cx="3232150" cy="571500"/>
          </a:xfrm>
          <a:prstGeom prst="rect">
            <a:avLst/>
          </a:prstGeom>
          <a:noFill/>
        </p:spPr>
        <p:txBody>
          <a:bodyPr wrap="square" anchor="t"/>
          <a:lstStyle/>
          <a:p>
            <a:pPr algn="l">
              <a:spcBef>
                <a:spcPts val="0"/>
              </a:spcBef>
              <a:spcAft>
                <a:spcPts val="200"/>
              </a:spcAft>
            </a:pPr>
            <a:r>
              <a:rPr sz="1800" b="1" i="0">
                <a:solidFill>
                  <a:srgbClr val="111827"/>
                </a:solidFill>
                <a:latin typeface="Arial"/>
              </a:rPr>
              <a:t>They disagreed. That helped.</a:t>
            </a:r>
          </a:p>
        </p:txBody>
      </p:sp>
      <p:sp>
        <p:nvSpPr>
          <p:cNvPr id="10453" name="why-body-2"/>
          <p:cNvSpPr txBox="1"/>
          <p:nvPr/>
        </p:nvSpPr>
        <p:spPr>
          <a:xfrm>
            <a:off x="8255000" y="2775600"/>
            <a:ext cx="3232150" cy="1619250"/>
          </a:xfrm>
          <a:prstGeom prst="rect">
            <a:avLst/>
          </a:prstGeom>
          <a:noFill/>
        </p:spPr>
        <p:txBody>
          <a:bodyPr wrap="square" anchor="t"/>
          <a:lstStyle/>
          <a:p>
            <a:pPr algn="l">
              <a:spcBef>
                <a:spcPts val="0"/>
              </a:spcBef>
              <a:spcAft>
                <a:spcPts val="200"/>
              </a:spcAft>
            </a:pPr>
            <a:r>
              <a:rPr sz="1400" b="0" i="0">
                <a:solidFill>
                  <a:srgbClr val="536172"/>
                </a:solidFill>
                <a:latin typeface="Arial"/>
              </a:rPr>
              <a:t>MUR 500,000: LR blocked at 100%. Trees approved. MUR 800 at 02:00 and 4000 miles: RF blocked at 43%.</a:t>
            </a:r>
          </a:p>
        </p:txBody>
      </p:sp>
      <p:sp>
        <p:nvSpPr>
          <p:cNvPr id="10454" name="why-callout"/>
          <p:cNvSpPr/>
          <p:nvPr/>
        </p:nvSpPr>
        <p:spPr>
          <a:xfrm>
            <a:off x="533400" y="4781550"/>
            <a:ext cx="11125200" cy="1143000"/>
          </a:xfrm>
          <a:prstGeom prst="roundRect">
            <a:avLst>
              <a:gd name="adj" fmla="val 6000"/>
            </a:avLst>
          </a:prstGeom>
          <a:solidFill>
            <a:srgbClr val="EAF5FB"/>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55" name="why-callout-label"/>
          <p:cNvSpPr txBox="1"/>
          <p:nvPr/>
        </p:nvSpPr>
        <p:spPr>
          <a:xfrm>
            <a:off x="742950" y="4933950"/>
            <a:ext cx="1905000" cy="228600"/>
          </a:xfrm>
          <a:prstGeom prst="rect">
            <a:avLst/>
          </a:prstGeom>
          <a:noFill/>
        </p:spPr>
        <p:txBody>
          <a:bodyPr wrap="square" anchor="t"/>
          <a:lstStyle/>
          <a:p>
            <a:pPr algn="l">
              <a:spcBef>
                <a:spcPts val="0"/>
              </a:spcBef>
              <a:spcAft>
                <a:spcPts val="200"/>
              </a:spcAft>
            </a:pPr>
            <a:r>
              <a:rPr sz="1100" b="1" i="0">
                <a:solidFill>
                  <a:srgbClr val="5D58E9"/>
                </a:solidFill>
                <a:latin typeface="Arial"/>
              </a:rPr>
              <a:t>SIMPLE RULE</a:t>
            </a:r>
          </a:p>
        </p:txBody>
      </p:sp>
      <p:sp>
        <p:nvSpPr>
          <p:cNvPr id="10456" name="why-callout-text"/>
          <p:cNvSpPr txBox="1"/>
          <p:nvPr/>
        </p:nvSpPr>
        <p:spPr>
          <a:xfrm>
            <a:off x="2743200" y="4902200"/>
            <a:ext cx="8572500" cy="857250"/>
          </a:xfrm>
          <a:prstGeom prst="rect">
            <a:avLst/>
          </a:prstGeom>
          <a:noFill/>
        </p:spPr>
        <p:txBody>
          <a:bodyPr wrap="square" anchor="t"/>
          <a:lstStyle/>
          <a:p>
            <a:pPr algn="l">
              <a:spcBef>
                <a:spcPts val="0"/>
              </a:spcBef>
              <a:spcAft>
                <a:spcPts val="200"/>
              </a:spcAft>
            </a:pPr>
            <a:r>
              <a:rPr sz="1400" b="0" i="0">
                <a:solidFill>
                  <a:srgbClr val="111827"/>
                </a:solidFill>
                <a:latin typeface="Arial"/>
              </a:rPr>
              <a:t>If any model blocks, we block.</a:t>
            </a:r>
          </a:p>
          <a:p>
            <a:pPr algn="l">
              <a:spcBef>
                <a:spcPts val="0"/>
              </a:spcBef>
              <a:spcAft>
                <a:spcPts val="200"/>
              </a:spcAft>
            </a:pPr>
            <a:r>
              <a:rPr sz="1400" b="0" i="0">
                <a:solidFill>
                  <a:srgbClr val="111827"/>
                </a:solidFill>
                <a:latin typeface="Arial"/>
              </a:rPr>
              <a:t>If one says review, we review.</a:t>
            </a:r>
          </a:p>
          <a:p>
            <a:pPr algn="l"/>
            <a:r>
              <a:rPr sz="1400" b="0" i="0">
                <a:solidFill>
                  <a:srgbClr val="111827"/>
                </a:solidFill>
                <a:latin typeface="Arial"/>
              </a:rPr>
              <a:t>If all approve, we approve.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0629" name="rule">
            <a:extLst>
              <a:ext uri="{FF2B5EF4-FFF2-40B4-BE49-F238E27FC236}">
                <a16:creationId xmlns:a16="http://schemas.microsoft.com/office/drawing/2014/main" id="{552B6C45-F959-4AB8-8118-62825D2157A0}"/>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10602" name="section-label">
            <a:extLst>
              <a:ext uri="{FF2B5EF4-FFF2-40B4-BE49-F238E27FC236}">
                <a16:creationId xmlns:a16="http://schemas.microsoft.com/office/drawing/2014/main" id="{4283E677-828F-4BD2-9BC1-CEECF3FA615B}"/>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spcBef>
                <a:spcPts val="0"/>
              </a:spcBef>
              <a:spcAft>
                <a:spcPts val="200"/>
              </a:spcAft>
              <a:buNone/>
              <a:defRPr sz="900" b="1" i="0">
                <a:solidFill>
                  <a:srgbClr val="8190A0"/>
                </a:solidFill>
                <a:latin typeface="Arial"/>
                <a:ea typeface="Arial"/>
                <a:cs typeface="Arial"/>
              </a:defRPr>
            </a:pPr>
            <a:r>
              <a:rPr sz="1200" b="1" i="0">
                <a:solidFill>
                  <a:srgbClr val="8190A0"/>
                </a:solidFill>
                <a:latin typeface="Arial"/>
              </a:rPr>
              <a:t>Q&amp;A</a:t>
            </a:r>
          </a:p>
        </p:txBody>
      </p:sp>
      <p:sp>
        <p:nvSpPr>
          <p:cNvPr id="10603" name="page-number">
            <a:extLst>
              <a:ext uri="{FF2B5EF4-FFF2-40B4-BE49-F238E27FC236}">
                <a16:creationId xmlns:a16="http://schemas.microsoft.com/office/drawing/2014/main" id="{6BBF6E91-0BA1-4C0E-B619-160916AA96D9}"/>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spcBef>
                <a:spcPts val="0"/>
              </a:spcBef>
              <a:spcAft>
                <a:spcPts val="200"/>
              </a:spcAft>
              <a:buNone/>
              <a:defRPr sz="975" b="0" i="0">
                <a:solidFill>
                  <a:srgbClr val="8190A0"/>
                </a:solidFill>
                <a:latin typeface="Arial"/>
                <a:ea typeface="Arial"/>
                <a:cs typeface="Arial"/>
              </a:defRPr>
            </a:pPr>
            <a:r>
              <a:rPr sz="1300" b="0" i="0">
                <a:solidFill>
                  <a:srgbClr val="8190A0"/>
                </a:solidFill>
                <a:latin typeface="Arial"/>
              </a:rPr>
              <a:t>12</a:t>
            </a:r>
          </a:p>
        </p:txBody>
      </p:sp>
      <p:sp>
        <p:nvSpPr>
          <p:cNvPr id="10604" name="slide-title">
            <a:extLst>
              <a:ext uri="{FF2B5EF4-FFF2-40B4-BE49-F238E27FC236}">
                <a16:creationId xmlns:a16="http://schemas.microsoft.com/office/drawing/2014/main" id="{75F2CBA6-E99F-4B98-A9B7-0E17EC7B6767}"/>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spcBef>
                <a:spcPts val="0"/>
              </a:spcBef>
              <a:spcAft>
                <a:spcPts val="200"/>
              </a:spcAft>
              <a:buNone/>
              <a:defRPr sz="2700" b="1" i="0">
                <a:solidFill>
                  <a:srgbClr val="111827"/>
                </a:solidFill>
                <a:latin typeface="Arial"/>
                <a:ea typeface="Arial"/>
                <a:cs typeface="Arial"/>
              </a:defRPr>
            </a:pPr>
            <a:r>
              <a:rPr sz="2600" b="1" i="0">
                <a:solidFill>
                  <a:srgbClr val="111827"/>
                </a:solidFill>
                <a:latin typeface="Arial"/>
              </a:rPr>
              <a:t>What each model is for</a:t>
            </a:r>
          </a:p>
        </p:txBody>
      </p:sp>
      <p:sp>
        <p:nvSpPr>
          <p:cNvPr id="10605" name="slide-subtitle">
            <a:extLst>
              <a:ext uri="{FF2B5EF4-FFF2-40B4-BE49-F238E27FC236}">
                <a16:creationId xmlns:a16="http://schemas.microsoft.com/office/drawing/2014/main" id="{63E4E154-E1A2-4987-8B91-3EDD3ACD9C65}"/>
              </a:ext>
            </a:extLst>
          </p:cNvPr>
          <p:cNvSpPr>
            <a:spLocks noGrp="1"/>
          </p:cNvSpPr>
          <p:nvPr/>
        </p:nvSpPr>
        <p:spPr>
          <a:xfrm>
            <a:off x="533400" y="1295400"/>
            <a:ext cx="11049000" cy="457200"/>
          </a:xfrm>
          <a:prstGeom prst="rect">
            <a:avLst/>
          </a:prstGeom>
          <a:noFill/>
          <a:ln w="0">
            <a:noFill/>
            <a:prstDash val="solid"/>
          </a:ln>
        </p:spPr>
        <p:txBody>
          <a:bodyPr wrap="square" lIns="0" tIns="0" rIns="0" bIns="0" anchor="t">
            <a:noAutofit/>
          </a:bodyPr>
          <a:lstStyle/>
          <a:p>
            <a:pPr algn="l">
              <a:spcBef>
                <a:spcPts val="0"/>
              </a:spcBef>
              <a:spcAft>
                <a:spcPts val="200"/>
              </a:spcAft>
              <a:buNone/>
              <a:defRPr sz="1350" b="0" i="0">
                <a:solidFill>
                  <a:srgbClr val="536172"/>
                </a:solidFill>
                <a:latin typeface="Arial"/>
                <a:ea typeface="Arial"/>
                <a:cs typeface="Arial"/>
              </a:defRPr>
            </a:pPr>
            <a:r>
              <a:rPr sz="1400" b="0" i="0">
                <a:solidFill>
                  <a:srgbClr val="536172"/>
                </a:solidFill>
                <a:latin typeface="Arial"/>
              </a:rPr>
              <a:t>Three jobs. One careful final decision.</a:t>
            </a:r>
          </a:p>
        </p:txBody>
      </p:sp>
      <p:sp>
        <p:nvSpPr>
          <p:cNvPr id="10630" name="polish-title-rail-10">
            <a:extLst>
              <a:ext uri="{FF2B5EF4-FFF2-40B4-BE49-F238E27FC236}">
                <a16:creationId xmlns:a16="http://schemas.microsoft.com/office/drawing/2014/main" id="{5CFD2D6B-8973-4966-A3FD-0D1EC312F95A}"/>
              </a:ext>
            </a:extLst>
          </p:cNvPr>
          <p:cNvSpPr>
            <a:spLocks noGrp="1"/>
          </p:cNvSpPr>
          <p:nvPr/>
        </p:nvSpPr>
        <p:spPr>
          <a:xfrm>
            <a:off x="323850" y="762000"/>
            <a:ext cx="57150" cy="552450"/>
          </a:xfrm>
          <a:prstGeom prst="roundRect">
            <a:avLst>
              <a:gd name="adj" fmla="val 50000"/>
            </a:avLst>
          </a:prstGeom>
          <a:solidFill>
            <a:srgbClr val="E7864F"/>
          </a:solidFill>
          <a:ln w="0">
            <a:noFill/>
            <a:prstDash val="solid"/>
          </a:ln>
        </p:spPr>
        <p:txBody>
          <a:bodyPr/>
          <a:lstStyle/>
          <a:p>
            <a:endParaRPr/>
          </a:p>
        </p:txBody>
      </p:sp>
      <p:sp>
        <p:nvSpPr>
          <p:cNvPr id="10631" name="polish-title-underline-10">
            <a:extLst>
              <a:ext uri="{FF2B5EF4-FFF2-40B4-BE49-F238E27FC236}">
                <a16:creationId xmlns:a16="http://schemas.microsoft.com/office/drawing/2014/main" id="{1F95A3B8-1B5D-425D-BCF0-A8B5D94670E1}"/>
              </a:ext>
            </a:extLst>
          </p:cNvPr>
          <p:cNvSpPr>
            <a:spLocks noGrp="1"/>
          </p:cNvSpPr>
          <p:nvPr/>
        </p:nvSpPr>
        <p:spPr>
          <a:xfrm>
            <a:off x="533400" y="647700"/>
            <a:ext cx="876300" cy="28575"/>
          </a:xfrm>
          <a:prstGeom prst="roundRect">
            <a:avLst>
              <a:gd name="adj" fmla="val 50000"/>
            </a:avLst>
          </a:prstGeom>
          <a:solidFill>
            <a:srgbClr val="E7864F"/>
          </a:solidFill>
          <a:ln w="0">
            <a:noFill/>
            <a:prstDash val="solid"/>
          </a:ln>
        </p:spPr>
        <p:txBody>
          <a:bodyPr/>
          <a:lstStyle/>
          <a:p>
            <a:endParaRPr/>
          </a:p>
        </p:txBody>
      </p:sp>
      <p:sp>
        <p:nvSpPr>
          <p:cNvPr id="10632" name="polish-progress-10-1">
            <a:extLst>
              <a:ext uri="{FF2B5EF4-FFF2-40B4-BE49-F238E27FC236}">
                <a16:creationId xmlns:a16="http://schemas.microsoft.com/office/drawing/2014/main" id="{22E24E30-14AA-4AEE-BCA2-49FD074759CF}"/>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txBody>
          <a:bodyPr/>
          <a:lstStyle/>
          <a:p>
            <a:endParaRPr/>
          </a:p>
        </p:txBody>
      </p:sp>
      <p:sp>
        <p:nvSpPr>
          <p:cNvPr id="10633" name="polish-progress-10-2">
            <a:extLst>
              <a:ext uri="{FF2B5EF4-FFF2-40B4-BE49-F238E27FC236}">
                <a16:creationId xmlns:a16="http://schemas.microsoft.com/office/drawing/2014/main" id="{9F3773F4-A3F1-4C22-872A-0527895C037A}"/>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txBody>
          <a:bodyPr/>
          <a:lstStyle/>
          <a:p>
            <a:endParaRPr/>
          </a:p>
        </p:txBody>
      </p:sp>
      <p:sp>
        <p:nvSpPr>
          <p:cNvPr id="10634" name="polish-progress-10-3">
            <a:extLst>
              <a:ext uri="{FF2B5EF4-FFF2-40B4-BE49-F238E27FC236}">
                <a16:creationId xmlns:a16="http://schemas.microsoft.com/office/drawing/2014/main" id="{F916C23D-EAE5-482C-A9AA-CD35F224EDD7}"/>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txBody>
          <a:bodyPr/>
          <a:lstStyle/>
          <a:p>
            <a:endParaRPr/>
          </a:p>
        </p:txBody>
      </p:sp>
      <p:sp>
        <p:nvSpPr>
          <p:cNvPr id="10635" name="polish-progress-10-4">
            <a:extLst>
              <a:ext uri="{FF2B5EF4-FFF2-40B4-BE49-F238E27FC236}">
                <a16:creationId xmlns:a16="http://schemas.microsoft.com/office/drawing/2014/main" id="{052277DF-4A51-4C81-8CAA-F0CA6DBEC68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txBody>
          <a:bodyPr/>
          <a:lstStyle/>
          <a:p>
            <a:endParaRPr/>
          </a:p>
        </p:txBody>
      </p:sp>
      <p:sp>
        <p:nvSpPr>
          <p:cNvPr id="10636" name="polish-progress-10-5">
            <a:extLst>
              <a:ext uri="{FF2B5EF4-FFF2-40B4-BE49-F238E27FC236}">
                <a16:creationId xmlns:a16="http://schemas.microsoft.com/office/drawing/2014/main" id="{2CCD6794-7DC1-4FC2-99AE-48EB9DF3CC66}"/>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txBody>
          <a:bodyPr/>
          <a:lstStyle/>
          <a:p>
            <a:endParaRPr/>
          </a:p>
        </p:txBody>
      </p:sp>
      <p:sp>
        <p:nvSpPr>
          <p:cNvPr id="10637" name="polish-progress-10-6">
            <a:extLst>
              <a:ext uri="{FF2B5EF4-FFF2-40B4-BE49-F238E27FC236}">
                <a16:creationId xmlns:a16="http://schemas.microsoft.com/office/drawing/2014/main" id="{9FEEFDBC-9340-4117-88FA-18FAD9F57F8A}"/>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txBody>
          <a:bodyPr/>
          <a:lstStyle/>
          <a:p>
            <a:endParaRPr/>
          </a:p>
        </p:txBody>
      </p:sp>
      <p:sp>
        <p:nvSpPr>
          <p:cNvPr id="10638" name="polish-progress-10-7">
            <a:extLst>
              <a:ext uri="{FF2B5EF4-FFF2-40B4-BE49-F238E27FC236}">
                <a16:creationId xmlns:a16="http://schemas.microsoft.com/office/drawing/2014/main" id="{1FA15183-8BC8-46AB-A249-6C34AD5C662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txBody>
          <a:bodyPr/>
          <a:lstStyle/>
          <a:p>
            <a:endParaRPr/>
          </a:p>
        </p:txBody>
      </p:sp>
      <p:sp>
        <p:nvSpPr>
          <p:cNvPr id="10639" name="polish-progress-10-8">
            <a:extLst>
              <a:ext uri="{FF2B5EF4-FFF2-40B4-BE49-F238E27FC236}">
                <a16:creationId xmlns:a16="http://schemas.microsoft.com/office/drawing/2014/main" id="{E277C9FD-8AA4-4FD4-99E9-A89B9C67001A}"/>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txBody>
          <a:bodyPr/>
          <a:lstStyle/>
          <a:p>
            <a:endParaRPr/>
          </a:p>
        </p:txBody>
      </p:sp>
      <p:sp>
        <p:nvSpPr>
          <p:cNvPr id="10640" name="polish-progress-10-9">
            <a:extLst>
              <a:ext uri="{FF2B5EF4-FFF2-40B4-BE49-F238E27FC236}">
                <a16:creationId xmlns:a16="http://schemas.microsoft.com/office/drawing/2014/main" id="{85E5CC66-FEEA-4EB3-8D04-022D033189E5}"/>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txBody>
          <a:bodyPr/>
          <a:lstStyle/>
          <a:p>
            <a:endParaRPr/>
          </a:p>
        </p:txBody>
      </p:sp>
      <p:sp>
        <p:nvSpPr>
          <p:cNvPr id="10641" name="polish-progress-10-10">
            <a:extLst>
              <a:ext uri="{FF2B5EF4-FFF2-40B4-BE49-F238E27FC236}">
                <a16:creationId xmlns:a16="http://schemas.microsoft.com/office/drawing/2014/main" id="{C748F7BB-A9B3-4D7F-A077-E4ACB6C23DCF}"/>
              </a:ext>
            </a:extLst>
          </p:cNvPr>
          <p:cNvSpPr>
            <a:spLocks noGrp="1"/>
          </p:cNvSpPr>
          <p:nvPr/>
        </p:nvSpPr>
        <p:spPr>
          <a:xfrm>
            <a:off x="6962775" y="6572250"/>
            <a:ext cx="152400" cy="28575"/>
          </a:xfrm>
          <a:prstGeom prst="roundRect">
            <a:avLst>
              <a:gd name="adj" fmla="val 50000"/>
            </a:avLst>
          </a:prstGeom>
          <a:solidFill>
            <a:srgbClr val="E7864F"/>
          </a:solidFill>
          <a:ln w="0">
            <a:noFill/>
            <a:prstDash val="solid"/>
          </a:ln>
        </p:spPr>
        <p:txBody>
          <a:bodyPr/>
          <a:lstStyle/>
          <a:p>
            <a:endParaRPr/>
          </a:p>
        </p:txBody>
      </p:sp>
      <p:sp>
        <p:nvSpPr>
          <p:cNvPr id="10642" name="model-card-0"/>
          <p:cNvSpPr/>
          <p:nvPr/>
        </p:nvSpPr>
        <p:spPr>
          <a:xfrm>
            <a:off x="533400" y="1752600"/>
            <a:ext cx="3575050" cy="4183380"/>
          </a:xfrm>
          <a:prstGeom prst="roundRect">
            <a:avLst>
              <a:gd name="adj" fmla="val 6000"/>
            </a:avLst>
          </a:prstGeom>
          <a:solidFill>
            <a:srgbClr val="EAF5FB"/>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43" name="model-rail-0"/>
          <p:cNvSpPr/>
          <p:nvPr/>
        </p:nvSpPr>
        <p:spPr>
          <a:xfrm>
            <a:off x="533400" y="1752600"/>
            <a:ext cx="57150" cy="4183380"/>
          </a:xfrm>
          <a:prstGeom prst="roundRect">
            <a:avLst>
              <a:gd name="adj" fmla="val 6000"/>
            </a:avLst>
          </a:prstGeom>
          <a:solidFill>
            <a:srgbClr val="6DC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44" name="model-tier-0"/>
          <p:cNvSpPr txBox="1"/>
          <p:nvPr/>
        </p:nvSpPr>
        <p:spPr>
          <a:xfrm>
            <a:off x="723900" y="1905000"/>
            <a:ext cx="3232150" cy="190500"/>
          </a:xfrm>
          <a:prstGeom prst="rect">
            <a:avLst/>
          </a:prstGeom>
          <a:noFill/>
        </p:spPr>
        <p:txBody>
          <a:bodyPr wrap="square" anchor="t"/>
          <a:lstStyle/>
          <a:p>
            <a:pPr algn="l">
              <a:spcBef>
                <a:spcPts val="0"/>
              </a:spcBef>
              <a:spcAft>
                <a:spcPts val="200"/>
              </a:spcAft>
            </a:pPr>
            <a:r>
              <a:rPr sz="1100" b="1" i="0">
                <a:solidFill>
                  <a:srgbClr val="5D58E9"/>
                </a:solidFill>
                <a:latin typeface="Arial"/>
              </a:rPr>
              <a:t>BASELINE</a:t>
            </a:r>
          </a:p>
        </p:txBody>
      </p:sp>
      <p:sp>
        <p:nvSpPr>
          <p:cNvPr id="10645" name="model-name-0"/>
          <p:cNvSpPr txBox="1"/>
          <p:nvPr/>
        </p:nvSpPr>
        <p:spPr>
          <a:xfrm>
            <a:off x="723900" y="2133600"/>
            <a:ext cx="3232150" cy="495300"/>
          </a:xfrm>
          <a:prstGeom prst="rect">
            <a:avLst/>
          </a:prstGeom>
          <a:noFill/>
        </p:spPr>
        <p:txBody>
          <a:bodyPr wrap="square" anchor="t"/>
          <a:lstStyle/>
          <a:p>
            <a:pPr algn="l">
              <a:spcBef>
                <a:spcPts val="0"/>
              </a:spcBef>
              <a:spcAft>
                <a:spcPts val="200"/>
              </a:spcAft>
            </a:pPr>
            <a:r>
              <a:rPr sz="1800" b="1" i="0">
                <a:solidFill>
                  <a:srgbClr val="111827"/>
                </a:solidFill>
                <a:latin typeface="Arial"/>
              </a:rPr>
              <a:t>Logistic Regression</a:t>
            </a:r>
          </a:p>
        </p:txBody>
      </p:sp>
      <p:sp>
        <p:nvSpPr>
          <p:cNvPr id="10646" name="model-how-0"/>
          <p:cNvSpPr txBox="1"/>
          <p:nvPr/>
        </p:nvSpPr>
        <p:spPr>
          <a:xfrm>
            <a:off x="723900" y="2667000"/>
            <a:ext cx="3232150" cy="857250"/>
          </a:xfrm>
          <a:prstGeom prst="rect">
            <a:avLst/>
          </a:prstGeom>
          <a:noFill/>
        </p:spPr>
        <p:txBody>
          <a:bodyPr wrap="square" anchor="t"/>
          <a:lstStyle/>
          <a:p>
            <a:pPr algn="l">
              <a:spcBef>
                <a:spcPts val="0"/>
              </a:spcBef>
              <a:spcAft>
                <a:spcPts val="200"/>
              </a:spcAft>
            </a:pPr>
            <a:r>
              <a:rPr sz="1300" b="0" i="0">
                <a:solidFill>
                  <a:srgbClr val="536172"/>
                </a:solidFill>
                <a:latin typeface="Arial"/>
              </a:rPr>
              <a:t>A simple straight-line model. A huge amount can push the score to 100%.</a:t>
            </a:r>
          </a:p>
        </p:txBody>
      </p:sp>
      <p:sp>
        <p:nvSpPr>
          <p:cNvPr id="10647" name="model-role-0"/>
          <p:cNvSpPr txBox="1"/>
          <p:nvPr/>
        </p:nvSpPr>
        <p:spPr>
          <a:xfrm>
            <a:off x="723900" y="3581400"/>
            <a:ext cx="3232150" cy="266700"/>
          </a:xfrm>
          <a:prstGeom prst="rect">
            <a:avLst/>
          </a:prstGeom>
          <a:noFill/>
        </p:spPr>
        <p:txBody>
          <a:bodyPr wrap="square" anchor="t"/>
          <a:lstStyle/>
          <a:p>
            <a:pPr algn="l">
              <a:spcBef>
                <a:spcPts val="0"/>
              </a:spcBef>
              <a:spcAft>
                <a:spcPts val="200"/>
              </a:spcAft>
            </a:pPr>
            <a:r>
              <a:rPr sz="1300" b="1" i="0">
                <a:solidFill>
                  <a:srgbClr val="111827"/>
                </a:solidFill>
                <a:latin typeface="Arial"/>
              </a:rPr>
              <a:t>Safety net</a:t>
            </a:r>
          </a:p>
        </p:txBody>
      </p:sp>
      <p:sp>
        <p:nvSpPr>
          <p:cNvPr id="10648" name="model-metrics-0"/>
          <p:cNvSpPr txBox="1"/>
          <p:nvPr/>
        </p:nvSpPr>
        <p:spPr>
          <a:xfrm>
            <a:off x="723900" y="3886200"/>
            <a:ext cx="3232150" cy="266700"/>
          </a:xfrm>
          <a:prstGeom prst="rect">
            <a:avLst/>
          </a:prstGeom>
          <a:noFill/>
        </p:spPr>
        <p:txBody>
          <a:bodyPr wrap="square" anchor="t"/>
          <a:lstStyle/>
          <a:p>
            <a:pPr algn="l">
              <a:spcBef>
                <a:spcPts val="0"/>
              </a:spcBef>
              <a:spcAft>
                <a:spcPts val="200"/>
              </a:spcAft>
            </a:pPr>
            <a:r>
              <a:rPr sz="1200" b="1" i="0">
                <a:solidFill>
                  <a:srgbClr val="8190A0"/>
                </a:solidFill>
                <a:latin typeface="Arial"/>
              </a:rPr>
              <a:t>Precision about 48%  |  Recall about 90%</a:t>
            </a:r>
          </a:p>
        </p:txBody>
      </p:sp>
      <p:sp>
        <p:nvSpPr>
          <p:cNvPr id="10649" name="model-adv-0"/>
          <p:cNvSpPr txBox="1"/>
          <p:nvPr/>
        </p:nvSpPr>
        <p:spPr>
          <a:xfrm>
            <a:off x="723900" y="4229100"/>
            <a:ext cx="3232150" cy="1428750"/>
          </a:xfrm>
          <a:prstGeom prst="rect">
            <a:avLst/>
          </a:prstGeom>
          <a:noFill/>
        </p:spPr>
        <p:txBody>
          <a:bodyPr wrap="square" anchor="t"/>
          <a:lstStyle/>
          <a:p>
            <a:pPr algn="l">
              <a:spcBef>
                <a:spcPts val="0"/>
              </a:spcBef>
              <a:spcAft>
                <a:spcPts val="200"/>
              </a:spcAft>
            </a:pPr>
            <a:r>
              <a:rPr sz="1300" b="0" i="0">
                <a:solidFill>
                  <a:srgbClr val="536172"/>
                </a:solidFill>
                <a:latin typeface="Arial"/>
              </a:rPr>
              <a:t>Good at extreme amounts. More false alarms.</a:t>
            </a:r>
          </a:p>
        </p:txBody>
      </p:sp>
      <p:sp>
        <p:nvSpPr>
          <p:cNvPr id="10650" name="model-card-1"/>
          <p:cNvSpPr/>
          <p:nvPr/>
        </p:nvSpPr>
        <p:spPr>
          <a:xfrm>
            <a:off x="4308475" y="1752600"/>
            <a:ext cx="3575050" cy="4183380"/>
          </a:xfrm>
          <a:prstGeom prst="roundRect">
            <a:avLst>
              <a:gd name="adj" fmla="val 6000"/>
            </a:avLst>
          </a:prstGeom>
          <a:solidFill>
            <a:srgbClr val="F4F1FF"/>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1" name="model-rail-1"/>
          <p:cNvSpPr/>
          <p:nvPr/>
        </p:nvSpPr>
        <p:spPr>
          <a:xfrm>
            <a:off x="4308475" y="1752600"/>
            <a:ext cx="57150" cy="4183380"/>
          </a:xfrm>
          <a:prstGeom prst="roundRect">
            <a:avLst>
              <a:gd name="adj" fmla="val 6000"/>
            </a:avLst>
          </a:prstGeom>
          <a:solidFill>
            <a:srgbClr val="5D5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2" name="model-tier-1"/>
          <p:cNvSpPr txBox="1"/>
          <p:nvPr/>
        </p:nvSpPr>
        <p:spPr>
          <a:xfrm>
            <a:off x="4498975" y="1905000"/>
            <a:ext cx="3232150" cy="190500"/>
          </a:xfrm>
          <a:prstGeom prst="rect">
            <a:avLst/>
          </a:prstGeom>
          <a:noFill/>
        </p:spPr>
        <p:txBody>
          <a:bodyPr wrap="square" anchor="t"/>
          <a:lstStyle/>
          <a:p>
            <a:pPr algn="l">
              <a:spcBef>
                <a:spcPts val="0"/>
              </a:spcBef>
              <a:spcAft>
                <a:spcPts val="200"/>
              </a:spcAft>
            </a:pPr>
            <a:r>
              <a:rPr sz="1100" b="1" i="0">
                <a:solidFill>
                  <a:srgbClr val="5D58E9"/>
                </a:solidFill>
                <a:latin typeface="Arial"/>
              </a:rPr>
              <a:t>MAIN</a:t>
            </a:r>
          </a:p>
        </p:txBody>
      </p:sp>
      <p:sp>
        <p:nvSpPr>
          <p:cNvPr id="10653" name="model-name-1"/>
          <p:cNvSpPr txBox="1"/>
          <p:nvPr/>
        </p:nvSpPr>
        <p:spPr>
          <a:xfrm>
            <a:off x="4498975" y="2133600"/>
            <a:ext cx="3232150" cy="495300"/>
          </a:xfrm>
          <a:prstGeom prst="rect">
            <a:avLst/>
          </a:prstGeom>
          <a:noFill/>
        </p:spPr>
        <p:txBody>
          <a:bodyPr wrap="square" anchor="t"/>
          <a:lstStyle/>
          <a:p>
            <a:pPr algn="l">
              <a:spcBef>
                <a:spcPts val="0"/>
              </a:spcBef>
              <a:spcAft>
                <a:spcPts val="200"/>
              </a:spcAft>
            </a:pPr>
            <a:r>
              <a:rPr sz="1800" b="1" i="0">
                <a:solidFill>
                  <a:srgbClr val="111827"/>
                </a:solidFill>
                <a:latin typeface="Arial"/>
              </a:rPr>
              <a:t>Random Forest</a:t>
            </a:r>
          </a:p>
        </p:txBody>
      </p:sp>
      <p:sp>
        <p:nvSpPr>
          <p:cNvPr id="10654" name="model-how-1"/>
          <p:cNvSpPr txBox="1"/>
          <p:nvPr/>
        </p:nvSpPr>
        <p:spPr>
          <a:xfrm>
            <a:off x="4498975" y="2667000"/>
            <a:ext cx="3232150" cy="857250"/>
          </a:xfrm>
          <a:prstGeom prst="rect">
            <a:avLst/>
          </a:prstGeom>
          <a:noFill/>
        </p:spPr>
        <p:txBody>
          <a:bodyPr wrap="square" anchor="t"/>
          <a:lstStyle/>
          <a:p>
            <a:pPr algn="l">
              <a:spcBef>
                <a:spcPts val="0"/>
              </a:spcBef>
              <a:spcAft>
                <a:spcPts val="200"/>
              </a:spcAft>
            </a:pPr>
            <a:r>
              <a:rPr sz="1300" b="0" i="0">
                <a:solidFill>
                  <a:srgbClr val="536172"/>
                </a:solidFill>
                <a:latin typeface="Arial"/>
              </a:rPr>
              <a:t>Many small rules. It looks at clues together, such as time and distance.</a:t>
            </a:r>
          </a:p>
        </p:txBody>
      </p:sp>
      <p:sp>
        <p:nvSpPr>
          <p:cNvPr id="10655" name="model-role-1"/>
          <p:cNvSpPr txBox="1"/>
          <p:nvPr/>
        </p:nvSpPr>
        <p:spPr>
          <a:xfrm>
            <a:off x="4498975" y="3581400"/>
            <a:ext cx="3232150" cy="266700"/>
          </a:xfrm>
          <a:prstGeom prst="rect">
            <a:avLst/>
          </a:prstGeom>
          <a:noFill/>
        </p:spPr>
        <p:txBody>
          <a:bodyPr wrap="square" anchor="t"/>
          <a:lstStyle/>
          <a:p>
            <a:pPr algn="l">
              <a:spcBef>
                <a:spcPts val="0"/>
              </a:spcBef>
              <a:spcAft>
                <a:spcPts val="200"/>
              </a:spcAft>
            </a:pPr>
            <a:r>
              <a:rPr sz="1300" b="1" i="0">
                <a:solidFill>
                  <a:srgbClr val="111827"/>
                </a:solidFill>
                <a:latin typeface="Arial"/>
              </a:rPr>
              <a:t>Everyday detector</a:t>
            </a:r>
          </a:p>
        </p:txBody>
      </p:sp>
      <p:sp>
        <p:nvSpPr>
          <p:cNvPr id="10656" name="model-metrics-1"/>
          <p:cNvSpPr txBox="1"/>
          <p:nvPr/>
        </p:nvSpPr>
        <p:spPr>
          <a:xfrm>
            <a:off x="4498975" y="3886200"/>
            <a:ext cx="3232150" cy="266700"/>
          </a:xfrm>
          <a:prstGeom prst="rect">
            <a:avLst/>
          </a:prstGeom>
          <a:noFill/>
        </p:spPr>
        <p:txBody>
          <a:bodyPr wrap="square" anchor="t"/>
          <a:lstStyle/>
          <a:p>
            <a:pPr algn="l">
              <a:spcBef>
                <a:spcPts val="0"/>
              </a:spcBef>
              <a:spcAft>
                <a:spcPts val="200"/>
              </a:spcAft>
            </a:pPr>
            <a:r>
              <a:rPr sz="1200" b="1" i="0">
                <a:solidFill>
                  <a:srgbClr val="8190A0"/>
                </a:solidFill>
                <a:latin typeface="Arial"/>
              </a:rPr>
              <a:t>Precision about 90%  |  Recall about 92%</a:t>
            </a:r>
          </a:p>
        </p:txBody>
      </p:sp>
      <p:sp>
        <p:nvSpPr>
          <p:cNvPr id="10657" name="model-adv-1"/>
          <p:cNvSpPr txBox="1"/>
          <p:nvPr/>
        </p:nvSpPr>
        <p:spPr>
          <a:xfrm>
            <a:off x="4498975" y="4229100"/>
            <a:ext cx="3232150" cy="1428750"/>
          </a:xfrm>
          <a:prstGeom prst="rect">
            <a:avLst/>
          </a:prstGeom>
          <a:noFill/>
        </p:spPr>
        <p:txBody>
          <a:bodyPr wrap="square" anchor="t"/>
          <a:lstStyle/>
          <a:p>
            <a:pPr algn="l">
              <a:spcBef>
                <a:spcPts val="0"/>
              </a:spcBef>
              <a:spcAft>
                <a:spcPts val="200"/>
              </a:spcAft>
            </a:pPr>
            <a:r>
              <a:rPr sz="1300" b="0" i="0">
                <a:solidFill>
                  <a:srgbClr val="536172"/>
                </a:solidFill>
                <a:latin typeface="Arial"/>
              </a:rPr>
              <a:t>Good when several clues appear together. Weak on brand-new extremes.</a:t>
            </a:r>
          </a:p>
        </p:txBody>
      </p:sp>
      <p:sp>
        <p:nvSpPr>
          <p:cNvPr id="10658" name="model-card-2"/>
          <p:cNvSpPr/>
          <p:nvPr/>
        </p:nvSpPr>
        <p:spPr>
          <a:xfrm>
            <a:off x="8083550" y="1752600"/>
            <a:ext cx="3575050" cy="4183380"/>
          </a:xfrm>
          <a:prstGeom prst="roundRect">
            <a:avLst>
              <a:gd name="adj" fmla="val 6000"/>
            </a:avLst>
          </a:prstGeom>
          <a:solidFill>
            <a:srgbClr val="F7F9FB"/>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9" name="model-rail-2"/>
          <p:cNvSpPr/>
          <p:nvPr/>
        </p:nvSpPr>
        <p:spPr>
          <a:xfrm>
            <a:off x="8083550" y="1752600"/>
            <a:ext cx="57150" cy="4183380"/>
          </a:xfrm>
          <a:prstGeom prst="roundRect">
            <a:avLst>
              <a:gd name="adj" fmla="val 6000"/>
            </a:avLst>
          </a:prstGeom>
          <a:solidFill>
            <a:srgbClr val="279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0" name="model-tier-2"/>
          <p:cNvSpPr txBox="1"/>
          <p:nvPr/>
        </p:nvSpPr>
        <p:spPr>
          <a:xfrm>
            <a:off x="8274050" y="1905000"/>
            <a:ext cx="3232150" cy="190500"/>
          </a:xfrm>
          <a:prstGeom prst="rect">
            <a:avLst/>
          </a:prstGeom>
          <a:noFill/>
        </p:spPr>
        <p:txBody>
          <a:bodyPr wrap="square" anchor="t"/>
          <a:lstStyle/>
          <a:p>
            <a:pPr algn="l">
              <a:spcBef>
                <a:spcPts val="0"/>
              </a:spcBef>
              <a:spcAft>
                <a:spcPts val="200"/>
              </a:spcAft>
            </a:pPr>
            <a:r>
              <a:rPr sz="1100" b="1" i="0">
                <a:solidFill>
                  <a:srgbClr val="279A73"/>
                </a:solidFill>
                <a:latin typeface="Arial"/>
              </a:rPr>
              <a:t>ADVANCED</a:t>
            </a:r>
          </a:p>
        </p:txBody>
      </p:sp>
      <p:sp>
        <p:nvSpPr>
          <p:cNvPr id="10661" name="model-name-2"/>
          <p:cNvSpPr txBox="1"/>
          <p:nvPr/>
        </p:nvSpPr>
        <p:spPr>
          <a:xfrm>
            <a:off x="8274050" y="2133600"/>
            <a:ext cx="3232150" cy="495300"/>
          </a:xfrm>
          <a:prstGeom prst="rect">
            <a:avLst/>
          </a:prstGeom>
          <a:noFill/>
        </p:spPr>
        <p:txBody>
          <a:bodyPr wrap="square" anchor="t"/>
          <a:lstStyle/>
          <a:p>
            <a:pPr algn="l">
              <a:spcBef>
                <a:spcPts val="0"/>
              </a:spcBef>
              <a:spcAft>
                <a:spcPts val="200"/>
              </a:spcAft>
            </a:pPr>
            <a:r>
              <a:rPr sz="1800" b="1" i="0">
                <a:solidFill>
                  <a:srgbClr val="111827"/>
                </a:solidFill>
                <a:latin typeface="Arial"/>
              </a:rPr>
              <a:t>XGBoost</a:t>
            </a:r>
          </a:p>
        </p:txBody>
      </p:sp>
      <p:sp>
        <p:nvSpPr>
          <p:cNvPr id="10662" name="model-how-2"/>
          <p:cNvSpPr txBox="1"/>
          <p:nvPr/>
        </p:nvSpPr>
        <p:spPr>
          <a:xfrm>
            <a:off x="8274050" y="2667000"/>
            <a:ext cx="3232150" cy="857250"/>
          </a:xfrm>
          <a:prstGeom prst="rect">
            <a:avLst/>
          </a:prstGeom>
          <a:noFill/>
        </p:spPr>
        <p:txBody>
          <a:bodyPr wrap="square" anchor="t"/>
          <a:lstStyle/>
          <a:p>
            <a:pPr algn="l">
              <a:spcBef>
                <a:spcPts val="0"/>
              </a:spcBef>
              <a:spcAft>
                <a:spcPts val="200"/>
              </a:spcAft>
            </a:pPr>
            <a:r>
              <a:rPr sz="1300" b="0" i="0">
                <a:solidFill>
                  <a:srgbClr val="536172"/>
                </a:solidFill>
                <a:latin typeface="Arial"/>
              </a:rPr>
              <a:t>Trees that learn from earlier mistakes. Best scores on the test set.</a:t>
            </a:r>
          </a:p>
        </p:txBody>
      </p:sp>
      <p:sp>
        <p:nvSpPr>
          <p:cNvPr id="10663" name="model-role-2"/>
          <p:cNvSpPr txBox="1"/>
          <p:nvPr/>
        </p:nvSpPr>
        <p:spPr>
          <a:xfrm>
            <a:off x="8274050" y="3581400"/>
            <a:ext cx="3232150" cy="266700"/>
          </a:xfrm>
          <a:prstGeom prst="rect">
            <a:avLst/>
          </a:prstGeom>
          <a:noFill/>
        </p:spPr>
        <p:txBody>
          <a:bodyPr wrap="square" anchor="t"/>
          <a:lstStyle/>
          <a:p>
            <a:pPr algn="l">
              <a:spcBef>
                <a:spcPts val="0"/>
              </a:spcBef>
              <a:spcAft>
                <a:spcPts val="200"/>
              </a:spcAft>
            </a:pPr>
            <a:r>
              <a:rPr sz="1300" b="1" i="0">
                <a:solidFill>
                  <a:srgbClr val="111827"/>
                </a:solidFill>
                <a:latin typeface="Arial"/>
              </a:rPr>
              <a:t>Best single model</a:t>
            </a:r>
          </a:p>
        </p:txBody>
      </p:sp>
      <p:sp>
        <p:nvSpPr>
          <p:cNvPr id="10664" name="model-metrics-2"/>
          <p:cNvSpPr txBox="1"/>
          <p:nvPr/>
        </p:nvSpPr>
        <p:spPr>
          <a:xfrm>
            <a:off x="8274050" y="3886200"/>
            <a:ext cx="3232150" cy="266700"/>
          </a:xfrm>
          <a:prstGeom prst="rect">
            <a:avLst/>
          </a:prstGeom>
          <a:noFill/>
        </p:spPr>
        <p:txBody>
          <a:bodyPr wrap="square" anchor="t"/>
          <a:lstStyle/>
          <a:p>
            <a:pPr algn="l">
              <a:spcBef>
                <a:spcPts val="0"/>
              </a:spcBef>
              <a:spcAft>
                <a:spcPts val="200"/>
              </a:spcAft>
            </a:pPr>
            <a:r>
              <a:rPr sz="1200" b="1" i="0">
                <a:solidFill>
                  <a:srgbClr val="8190A0"/>
                </a:solidFill>
                <a:latin typeface="Arial"/>
              </a:rPr>
              <a:t>Precision about 92%  |  PR-AUC about 98%</a:t>
            </a:r>
          </a:p>
        </p:txBody>
      </p:sp>
      <p:sp>
        <p:nvSpPr>
          <p:cNvPr id="10665" name="model-adv-2"/>
          <p:cNvSpPr txBox="1"/>
          <p:nvPr/>
        </p:nvSpPr>
        <p:spPr>
          <a:xfrm>
            <a:off x="8274050" y="4229100"/>
            <a:ext cx="3232150" cy="1428750"/>
          </a:xfrm>
          <a:prstGeom prst="rect">
            <a:avLst/>
          </a:prstGeom>
          <a:noFill/>
        </p:spPr>
        <p:txBody>
          <a:bodyPr wrap="square" anchor="t"/>
          <a:lstStyle/>
          <a:p>
            <a:pPr algn="l">
              <a:spcBef>
                <a:spcPts val="0"/>
              </a:spcBef>
              <a:spcAft>
                <a:spcPts val="200"/>
              </a:spcAft>
            </a:pPr>
            <a:r>
              <a:rPr sz="1300" b="0" i="0">
                <a:solidFill>
                  <a:srgbClr val="536172"/>
                </a:solidFill>
                <a:latin typeface="Arial"/>
              </a:rPr>
              <a:t>Best ranking of rare fraud. Same weak spot as Random Forest on brand-new extremes.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0829" name="rule">
            <a:extLst>
              <a:ext uri="{FF2B5EF4-FFF2-40B4-BE49-F238E27FC236}">
                <a16:creationId xmlns:a16="http://schemas.microsoft.com/office/drawing/2014/main" id="{552B6C45-F959-4AB8-8118-62825D2157A0}"/>
              </a:ext>
            </a:extLst>
          </p:cNvPr>
          <p:cNvSpPr>
            <a:spLocks noGrp="1"/>
          </p:cNvSpPr>
          <p:nvPr/>
        </p:nvSpPr>
        <p:spPr>
          <a:xfrm>
            <a:off x="533400" y="266700"/>
            <a:ext cx="11125200" cy="19050"/>
          </a:xfrm>
          <a:prstGeom prst="rect">
            <a:avLst/>
          </a:prstGeom>
          <a:solidFill>
            <a:srgbClr val="3D8DFF"/>
          </a:solidFill>
          <a:ln w="0">
            <a:noFill/>
            <a:prstDash val="solid"/>
          </a:ln>
        </p:spPr>
        <p:txBody>
          <a:bodyPr/>
          <a:lstStyle/>
          <a:p>
            <a:endParaRPr/>
          </a:p>
        </p:txBody>
      </p:sp>
      <p:sp>
        <p:nvSpPr>
          <p:cNvPr id="10802" name="section-label">
            <a:extLst>
              <a:ext uri="{FF2B5EF4-FFF2-40B4-BE49-F238E27FC236}">
                <a16:creationId xmlns:a16="http://schemas.microsoft.com/office/drawing/2014/main" id="{4283E677-828F-4BD2-9BC1-CEECF3FA615B}"/>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spcBef>
                <a:spcPts val="0"/>
              </a:spcBef>
              <a:spcAft>
                <a:spcPts val="200"/>
              </a:spcAft>
              <a:buNone/>
              <a:defRPr sz="900" b="1" i="0">
                <a:solidFill>
                  <a:srgbClr val="8190A0"/>
                </a:solidFill>
                <a:latin typeface="Arial"/>
                <a:ea typeface="Arial"/>
                <a:cs typeface="Arial"/>
              </a:defRPr>
            </a:pPr>
            <a:r>
              <a:rPr sz="1200" b="1" i="0">
                <a:solidFill>
                  <a:srgbClr val="8190A0"/>
                </a:solidFill>
                <a:latin typeface="Arial"/>
              </a:rPr>
              <a:t>Q&amp;A</a:t>
            </a:r>
          </a:p>
        </p:txBody>
      </p:sp>
      <p:sp>
        <p:nvSpPr>
          <p:cNvPr id="10803" name="page-number">
            <a:extLst>
              <a:ext uri="{FF2B5EF4-FFF2-40B4-BE49-F238E27FC236}">
                <a16:creationId xmlns:a16="http://schemas.microsoft.com/office/drawing/2014/main" id="{6BBF6E91-0BA1-4C0E-B619-160916AA96D9}"/>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spcBef>
                <a:spcPts val="0"/>
              </a:spcBef>
              <a:spcAft>
                <a:spcPts val="200"/>
              </a:spcAft>
              <a:buNone/>
              <a:defRPr sz="975" b="0" i="0">
                <a:solidFill>
                  <a:srgbClr val="8190A0"/>
                </a:solidFill>
                <a:latin typeface="Arial"/>
                <a:ea typeface="Arial"/>
                <a:cs typeface="Arial"/>
              </a:defRPr>
            </a:pPr>
            <a:r>
              <a:rPr sz="1300" b="0" i="0">
                <a:solidFill>
                  <a:srgbClr val="8190A0"/>
                </a:solidFill>
                <a:latin typeface="Arial"/>
              </a:rPr>
              <a:t>13</a:t>
            </a:r>
          </a:p>
        </p:txBody>
      </p:sp>
      <p:sp>
        <p:nvSpPr>
          <p:cNvPr id="10804" name="slide-title">
            <a:extLst>
              <a:ext uri="{FF2B5EF4-FFF2-40B4-BE49-F238E27FC236}">
                <a16:creationId xmlns:a16="http://schemas.microsoft.com/office/drawing/2014/main" id="{75F2CBA6-E99F-4B98-A9B7-0E17EC7B6767}"/>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spcBef>
                <a:spcPts val="0"/>
              </a:spcBef>
              <a:spcAft>
                <a:spcPts val="200"/>
              </a:spcAft>
              <a:buNone/>
              <a:defRPr sz="2700" b="1" i="0">
                <a:solidFill>
                  <a:srgbClr val="111827"/>
                </a:solidFill>
                <a:latin typeface="Arial"/>
                <a:ea typeface="Arial"/>
                <a:cs typeface="Arial"/>
              </a:defRPr>
            </a:pPr>
            <a:r>
              <a:rPr sz="2600" b="1" i="0">
                <a:solidFill>
                  <a:srgbClr val="111827"/>
                </a:solidFill>
                <a:latin typeface="Arial"/>
              </a:rPr>
              <a:t>Trust the score. Check the red text.</a:t>
            </a:r>
          </a:p>
        </p:txBody>
      </p:sp>
      <p:sp>
        <p:nvSpPr>
          <p:cNvPr id="10805" name="slide-subtitle">
            <a:extLst>
              <a:ext uri="{FF2B5EF4-FFF2-40B4-BE49-F238E27FC236}">
                <a16:creationId xmlns:a16="http://schemas.microsoft.com/office/drawing/2014/main" id="{63E4E154-E1A2-4987-8B91-3EDD3ACD9C65}"/>
              </a:ext>
            </a:extLst>
          </p:cNvPr>
          <p:cNvSpPr>
            <a:spLocks noGrp="1"/>
          </p:cNvSpPr>
          <p:nvPr/>
        </p:nvSpPr>
        <p:spPr>
          <a:xfrm>
            <a:off x="533400" y="1295400"/>
            <a:ext cx="11049000" cy="457200"/>
          </a:xfrm>
          <a:prstGeom prst="rect">
            <a:avLst/>
          </a:prstGeom>
          <a:noFill/>
          <a:ln w="0">
            <a:noFill/>
            <a:prstDash val="solid"/>
          </a:ln>
        </p:spPr>
        <p:txBody>
          <a:bodyPr wrap="square" lIns="0" tIns="0" rIns="0" bIns="0" anchor="t">
            <a:noAutofit/>
          </a:bodyPr>
          <a:lstStyle/>
          <a:p>
            <a:pPr algn="l">
              <a:spcBef>
                <a:spcPts val="0"/>
              </a:spcBef>
              <a:spcAft>
                <a:spcPts val="200"/>
              </a:spcAft>
              <a:buNone/>
              <a:defRPr sz="1350" b="0" i="0">
                <a:solidFill>
                  <a:srgbClr val="536172"/>
                </a:solidFill>
                <a:latin typeface="Arial"/>
                <a:ea typeface="Arial"/>
                <a:cs typeface="Arial"/>
              </a:defRPr>
            </a:pPr>
            <a:r>
              <a:rPr sz="1400" b="0" i="0">
                <a:solidFill>
                  <a:srgbClr val="536172"/>
                </a:solidFill>
                <a:latin typeface="Arial"/>
              </a:rPr>
              <a:t>The % was right. Some warning words were extra rules, not the model.</a:t>
            </a:r>
          </a:p>
        </p:txBody>
      </p:sp>
      <p:sp>
        <p:nvSpPr>
          <p:cNvPr id="10830" name="polish-title-rail-10">
            <a:extLst>
              <a:ext uri="{FF2B5EF4-FFF2-40B4-BE49-F238E27FC236}">
                <a16:creationId xmlns:a16="http://schemas.microsoft.com/office/drawing/2014/main" id="{5CFD2D6B-8973-4966-A3FD-0D1EC312F95A}"/>
              </a:ext>
            </a:extLst>
          </p:cNvPr>
          <p:cNvSpPr>
            <a:spLocks noGrp="1"/>
          </p:cNvSpPr>
          <p:nvPr/>
        </p:nvSpPr>
        <p:spPr>
          <a:xfrm>
            <a:off x="323850" y="762000"/>
            <a:ext cx="57150" cy="552450"/>
          </a:xfrm>
          <a:prstGeom prst="roundRect">
            <a:avLst>
              <a:gd name="adj" fmla="val 50000"/>
            </a:avLst>
          </a:prstGeom>
          <a:solidFill>
            <a:srgbClr val="E7864F"/>
          </a:solidFill>
          <a:ln w="0">
            <a:noFill/>
            <a:prstDash val="solid"/>
          </a:ln>
        </p:spPr>
        <p:txBody>
          <a:bodyPr/>
          <a:lstStyle/>
          <a:p>
            <a:endParaRPr/>
          </a:p>
        </p:txBody>
      </p:sp>
      <p:sp>
        <p:nvSpPr>
          <p:cNvPr id="10831" name="polish-title-underline-10">
            <a:extLst>
              <a:ext uri="{FF2B5EF4-FFF2-40B4-BE49-F238E27FC236}">
                <a16:creationId xmlns:a16="http://schemas.microsoft.com/office/drawing/2014/main" id="{1F95A3B8-1B5D-425D-BCF0-A8B5D94670E1}"/>
              </a:ext>
            </a:extLst>
          </p:cNvPr>
          <p:cNvSpPr>
            <a:spLocks noGrp="1"/>
          </p:cNvSpPr>
          <p:nvPr/>
        </p:nvSpPr>
        <p:spPr>
          <a:xfrm>
            <a:off x="533400" y="647700"/>
            <a:ext cx="876300" cy="28575"/>
          </a:xfrm>
          <a:prstGeom prst="roundRect">
            <a:avLst>
              <a:gd name="adj" fmla="val 50000"/>
            </a:avLst>
          </a:prstGeom>
          <a:solidFill>
            <a:srgbClr val="E7864F"/>
          </a:solidFill>
          <a:ln w="0">
            <a:noFill/>
            <a:prstDash val="solid"/>
          </a:ln>
        </p:spPr>
        <p:txBody>
          <a:bodyPr/>
          <a:lstStyle/>
          <a:p>
            <a:endParaRPr/>
          </a:p>
        </p:txBody>
      </p:sp>
      <p:sp>
        <p:nvSpPr>
          <p:cNvPr id="10832" name="polish-progress-10-1">
            <a:extLst>
              <a:ext uri="{FF2B5EF4-FFF2-40B4-BE49-F238E27FC236}">
                <a16:creationId xmlns:a16="http://schemas.microsoft.com/office/drawing/2014/main" id="{22E24E30-14AA-4AEE-BCA2-49FD074759CF}"/>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txBody>
          <a:bodyPr/>
          <a:lstStyle/>
          <a:p>
            <a:endParaRPr/>
          </a:p>
        </p:txBody>
      </p:sp>
      <p:sp>
        <p:nvSpPr>
          <p:cNvPr id="10833" name="polish-progress-10-2">
            <a:extLst>
              <a:ext uri="{FF2B5EF4-FFF2-40B4-BE49-F238E27FC236}">
                <a16:creationId xmlns:a16="http://schemas.microsoft.com/office/drawing/2014/main" id="{9F3773F4-A3F1-4C22-872A-0527895C037A}"/>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txBody>
          <a:bodyPr/>
          <a:lstStyle/>
          <a:p>
            <a:endParaRPr/>
          </a:p>
        </p:txBody>
      </p:sp>
      <p:sp>
        <p:nvSpPr>
          <p:cNvPr id="10834" name="polish-progress-10-3">
            <a:extLst>
              <a:ext uri="{FF2B5EF4-FFF2-40B4-BE49-F238E27FC236}">
                <a16:creationId xmlns:a16="http://schemas.microsoft.com/office/drawing/2014/main" id="{F916C23D-EAE5-482C-A9AA-CD35F224EDD7}"/>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txBody>
          <a:bodyPr/>
          <a:lstStyle/>
          <a:p>
            <a:endParaRPr/>
          </a:p>
        </p:txBody>
      </p:sp>
      <p:sp>
        <p:nvSpPr>
          <p:cNvPr id="10835" name="polish-progress-10-4">
            <a:extLst>
              <a:ext uri="{FF2B5EF4-FFF2-40B4-BE49-F238E27FC236}">
                <a16:creationId xmlns:a16="http://schemas.microsoft.com/office/drawing/2014/main" id="{052277DF-4A51-4C81-8CAA-F0CA6DBEC68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txBody>
          <a:bodyPr/>
          <a:lstStyle/>
          <a:p>
            <a:endParaRPr/>
          </a:p>
        </p:txBody>
      </p:sp>
      <p:sp>
        <p:nvSpPr>
          <p:cNvPr id="10836" name="polish-progress-10-5">
            <a:extLst>
              <a:ext uri="{FF2B5EF4-FFF2-40B4-BE49-F238E27FC236}">
                <a16:creationId xmlns:a16="http://schemas.microsoft.com/office/drawing/2014/main" id="{2CCD6794-7DC1-4FC2-99AE-48EB9DF3CC66}"/>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txBody>
          <a:bodyPr/>
          <a:lstStyle/>
          <a:p>
            <a:endParaRPr/>
          </a:p>
        </p:txBody>
      </p:sp>
      <p:sp>
        <p:nvSpPr>
          <p:cNvPr id="10837" name="polish-progress-10-6">
            <a:extLst>
              <a:ext uri="{FF2B5EF4-FFF2-40B4-BE49-F238E27FC236}">
                <a16:creationId xmlns:a16="http://schemas.microsoft.com/office/drawing/2014/main" id="{9FEEFDBC-9340-4117-88FA-18FAD9F57F8A}"/>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txBody>
          <a:bodyPr/>
          <a:lstStyle/>
          <a:p>
            <a:endParaRPr/>
          </a:p>
        </p:txBody>
      </p:sp>
      <p:sp>
        <p:nvSpPr>
          <p:cNvPr id="10838" name="polish-progress-10-7">
            <a:extLst>
              <a:ext uri="{FF2B5EF4-FFF2-40B4-BE49-F238E27FC236}">
                <a16:creationId xmlns:a16="http://schemas.microsoft.com/office/drawing/2014/main" id="{1FA15183-8BC8-46AB-A249-6C34AD5C662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txBody>
          <a:bodyPr/>
          <a:lstStyle/>
          <a:p>
            <a:endParaRPr/>
          </a:p>
        </p:txBody>
      </p:sp>
      <p:sp>
        <p:nvSpPr>
          <p:cNvPr id="10839" name="polish-progress-10-8">
            <a:extLst>
              <a:ext uri="{FF2B5EF4-FFF2-40B4-BE49-F238E27FC236}">
                <a16:creationId xmlns:a16="http://schemas.microsoft.com/office/drawing/2014/main" id="{E277C9FD-8AA4-4FD4-99E9-A89B9C67001A}"/>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txBody>
          <a:bodyPr/>
          <a:lstStyle/>
          <a:p>
            <a:endParaRPr/>
          </a:p>
        </p:txBody>
      </p:sp>
      <p:sp>
        <p:nvSpPr>
          <p:cNvPr id="10840" name="polish-progress-10-9">
            <a:extLst>
              <a:ext uri="{FF2B5EF4-FFF2-40B4-BE49-F238E27FC236}">
                <a16:creationId xmlns:a16="http://schemas.microsoft.com/office/drawing/2014/main" id="{85E5CC66-FEEA-4EB3-8D04-022D033189E5}"/>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txBody>
          <a:bodyPr/>
          <a:lstStyle/>
          <a:p>
            <a:endParaRPr/>
          </a:p>
        </p:txBody>
      </p:sp>
      <p:sp>
        <p:nvSpPr>
          <p:cNvPr id="10841" name="polish-progress-10-10">
            <a:extLst>
              <a:ext uri="{FF2B5EF4-FFF2-40B4-BE49-F238E27FC236}">
                <a16:creationId xmlns:a16="http://schemas.microsoft.com/office/drawing/2014/main" id="{C748F7BB-A9B3-4D7F-A077-E4ACB6C23DCF}"/>
              </a:ext>
            </a:extLst>
          </p:cNvPr>
          <p:cNvSpPr>
            <a:spLocks noGrp="1"/>
          </p:cNvSpPr>
          <p:nvPr/>
        </p:nvSpPr>
        <p:spPr>
          <a:xfrm>
            <a:off x="6962775" y="6572250"/>
            <a:ext cx="152400" cy="28575"/>
          </a:xfrm>
          <a:prstGeom prst="roundRect">
            <a:avLst>
              <a:gd name="adj" fmla="val 50000"/>
            </a:avLst>
          </a:prstGeom>
          <a:solidFill>
            <a:srgbClr val="E7864F"/>
          </a:solidFill>
          <a:ln w="0">
            <a:noFill/>
            <a:prstDash val="solid"/>
          </a:ln>
        </p:spPr>
        <p:txBody>
          <a:bodyPr/>
          <a:lstStyle/>
          <a:p>
            <a:endParaRPr/>
          </a:p>
        </p:txBody>
      </p:sp>
      <p:sp>
        <p:nvSpPr>
          <p:cNvPr id="10842" name="pred-card"/>
          <p:cNvSpPr/>
          <p:nvPr/>
        </p:nvSpPr>
        <p:spPr>
          <a:xfrm>
            <a:off x="533400" y="1752600"/>
            <a:ext cx="5334000" cy="2857500"/>
          </a:xfrm>
          <a:prstGeom prst="roundRect">
            <a:avLst>
              <a:gd name="adj" fmla="val 6000"/>
            </a:avLst>
          </a:prstGeom>
          <a:solidFill>
            <a:srgbClr val="F7F9FB"/>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3" name="pred-kicker"/>
          <p:cNvSpPr txBox="1"/>
          <p:nvPr/>
        </p:nvSpPr>
        <p:spPr>
          <a:xfrm>
            <a:off x="742950" y="1879600"/>
            <a:ext cx="4953000" cy="228600"/>
          </a:xfrm>
          <a:prstGeom prst="rect">
            <a:avLst/>
          </a:prstGeom>
          <a:noFill/>
        </p:spPr>
        <p:txBody>
          <a:bodyPr wrap="square" anchor="t"/>
          <a:lstStyle/>
          <a:p>
            <a:pPr algn="l">
              <a:spcBef>
                <a:spcPts val="0"/>
              </a:spcBef>
              <a:spcAft>
                <a:spcPts val="200"/>
              </a:spcAft>
            </a:pPr>
            <a:r>
              <a:rPr sz="1200" b="1" i="0">
                <a:solidFill>
                  <a:srgbClr val="279A73"/>
                </a:solidFill>
                <a:latin typeface="Arial"/>
              </a:rPr>
              <a:t>THE SCORE WORKED</a:t>
            </a:r>
          </a:p>
        </p:txBody>
      </p:sp>
      <p:sp>
        <p:nvSpPr>
          <p:cNvPr id="10844" name="pred-title"/>
          <p:cNvSpPr txBox="1"/>
          <p:nvPr/>
        </p:nvSpPr>
        <p:spPr>
          <a:xfrm>
            <a:off x="742950" y="2171700"/>
            <a:ext cx="4953000" cy="495300"/>
          </a:xfrm>
          <a:prstGeom prst="rect">
            <a:avLst/>
          </a:prstGeom>
          <a:noFill/>
        </p:spPr>
        <p:txBody>
          <a:bodyPr wrap="square" anchor="t"/>
          <a:lstStyle/>
          <a:p>
            <a:pPr algn="l">
              <a:spcBef>
                <a:spcPts val="0"/>
              </a:spcBef>
              <a:spcAft>
                <a:spcPts val="200"/>
              </a:spcAft>
            </a:pPr>
            <a:r>
              <a:rPr sz="1800" b="1" i="0">
                <a:solidFill>
                  <a:srgbClr val="111827"/>
                </a:solidFill>
                <a:latin typeface="Arial"/>
              </a:rPr>
              <a:t>The % comes from the model.</a:t>
            </a:r>
          </a:p>
        </p:txBody>
      </p:sp>
      <p:sp>
        <p:nvSpPr>
          <p:cNvPr id="10845" name="pred-body"/>
          <p:cNvSpPr txBox="1"/>
          <p:nvPr/>
        </p:nvSpPr>
        <p:spPr>
          <a:xfrm>
            <a:off x="742950" y="2762250"/>
            <a:ext cx="4953000" cy="1524000"/>
          </a:xfrm>
          <a:prstGeom prst="rect">
            <a:avLst/>
          </a:prstGeom>
          <a:noFill/>
        </p:spPr>
        <p:txBody>
          <a:bodyPr wrap="square" anchor="t"/>
          <a:lstStyle/>
          <a:p>
            <a:pPr algn="l">
              <a:spcBef>
                <a:spcPts val="0"/>
              </a:spcBef>
              <a:spcAft>
                <a:spcPts val="200"/>
              </a:spcAft>
            </a:pPr>
            <a:r>
              <a:rPr sz="1400" b="0" i="0">
                <a:solidFill>
                  <a:srgbClr val="536172"/>
                </a:solidFill>
                <a:latin typeface="Arial"/>
              </a:rPr>
              <a:t>MUR 500,000 at 02:00, 4000 miles</a:t>
            </a:r>
          </a:p>
          <a:p>
            <a:pPr algn="l">
              <a:spcBef>
                <a:spcPts val="0"/>
              </a:spcBef>
              <a:spcAft>
                <a:spcPts val="200"/>
              </a:spcAft>
            </a:pPr>
            <a:r>
              <a:rPr sz="1400" b="0" i="0">
                <a:solidFill>
                  <a:srgbClr val="536172"/>
                </a:solidFill>
                <a:latin typeface="Arial"/>
              </a:rPr>
              <a:t>LR 100%  BLOCKED</a:t>
            </a:r>
          </a:p>
          <a:p>
            <a:pPr algn="l">
              <a:spcBef>
                <a:spcPts val="0"/>
              </a:spcBef>
              <a:spcAft>
                <a:spcPts val="200"/>
              </a:spcAft>
            </a:pPr>
            <a:r>
              <a:rPr sz="1400" b="0" i="0">
                <a:solidFill>
                  <a:srgbClr val="536172"/>
                </a:solidFill>
                <a:latin typeface="Arial"/>
              </a:rPr>
              <a:t>RF 9%  APPROVED</a:t>
            </a:r>
          </a:p>
          <a:p>
            <a:pPr algn="l">
              <a:spcBef>
                <a:spcPts val="0"/>
              </a:spcBef>
              <a:spcAft>
                <a:spcPts val="200"/>
              </a:spcAft>
            </a:pPr>
            <a:r>
              <a:rPr sz="1400" b="0" i="0">
                <a:solidFill>
                  <a:srgbClr val="536172"/>
                </a:solidFill>
                <a:latin typeface="Arial"/>
              </a:rPr>
              <a:t>XGB 0%  APPROVED</a:t>
            </a:r>
          </a:p>
          <a:p>
            <a:pPr algn="l">
              <a:spcBef>
                <a:spcPts val="0"/>
              </a:spcBef>
              <a:spcAft>
                <a:spcPts val="200"/>
              </a:spcAft>
            </a:pPr>
            <a:r>
              <a:rPr sz="1400" b="0" i="0">
                <a:solidFill>
                  <a:srgbClr val="536172"/>
                </a:solidFill>
                <a:latin typeface="Arial"/>
              </a:rPr>
              <a:t>Combined  BLOCKED</a:t>
            </a:r>
          </a:p>
        </p:txBody>
      </p:sp>
      <p:sp>
        <p:nvSpPr>
          <p:cNvPr id="10846" name="exp-card"/>
          <p:cNvSpPr/>
          <p:nvPr/>
        </p:nvSpPr>
        <p:spPr>
          <a:xfrm>
            <a:off x="6115050" y="1752600"/>
            <a:ext cx="5539725" cy="2857500"/>
          </a:xfrm>
          <a:prstGeom prst="roundRect">
            <a:avLst>
              <a:gd name="adj" fmla="val 6000"/>
            </a:avLst>
          </a:prstGeom>
          <a:solidFill>
            <a:srgbClr val="FFFFFF"/>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7" name="exp-kicker"/>
          <p:cNvSpPr txBox="1"/>
          <p:nvPr/>
        </p:nvSpPr>
        <p:spPr>
          <a:xfrm>
            <a:off x="6324600" y="1879600"/>
            <a:ext cx="5143500" cy="228600"/>
          </a:xfrm>
          <a:prstGeom prst="rect">
            <a:avLst/>
          </a:prstGeom>
          <a:noFill/>
        </p:spPr>
        <p:txBody>
          <a:bodyPr wrap="square" anchor="t"/>
          <a:lstStyle/>
          <a:p>
            <a:pPr algn="l">
              <a:spcBef>
                <a:spcPts val="0"/>
              </a:spcBef>
              <a:spcAft>
                <a:spcPts val="200"/>
              </a:spcAft>
            </a:pPr>
            <a:r>
              <a:rPr sz="1200" b="1" i="0">
                <a:solidFill>
                  <a:srgbClr val="C44536"/>
                </a:solidFill>
                <a:latin typeface="Arial"/>
              </a:rPr>
              <a:t>THE TEXT CAN OVERSTATE</a:t>
            </a:r>
          </a:p>
        </p:txBody>
      </p:sp>
      <p:sp>
        <p:nvSpPr>
          <p:cNvPr id="10848" name="exp-title"/>
          <p:cNvSpPr txBox="1"/>
          <p:nvPr/>
        </p:nvSpPr>
        <p:spPr>
          <a:xfrm>
            <a:off x="6324600" y="2171700"/>
            <a:ext cx="5143500" cy="495300"/>
          </a:xfrm>
          <a:prstGeom prst="rect">
            <a:avLst/>
          </a:prstGeom>
          <a:noFill/>
        </p:spPr>
        <p:txBody>
          <a:bodyPr wrap="square" anchor="t"/>
          <a:lstStyle/>
          <a:p>
            <a:pPr algn="l">
              <a:spcBef>
                <a:spcPts val="0"/>
              </a:spcBef>
              <a:spcAft>
                <a:spcPts val="200"/>
              </a:spcAft>
            </a:pPr>
            <a:r>
              <a:rPr sz="1800" b="1" i="0">
                <a:solidFill>
                  <a:srgbClr val="111827"/>
                </a:solidFill>
                <a:latin typeface="Arial"/>
              </a:rPr>
              <a:t>Red bullets are extra rules.</a:t>
            </a:r>
          </a:p>
        </p:txBody>
      </p:sp>
      <p:sp>
        <p:nvSpPr>
          <p:cNvPr id="10849" name="exp-body"/>
          <p:cNvSpPr txBox="1"/>
          <p:nvPr/>
        </p:nvSpPr>
        <p:spPr>
          <a:xfrm>
            <a:off x="6324600" y="2762250"/>
            <a:ext cx="5143500" cy="1619250"/>
          </a:xfrm>
          <a:prstGeom prst="rect">
            <a:avLst/>
          </a:prstGeom>
          <a:noFill/>
        </p:spPr>
        <p:txBody>
          <a:bodyPr wrap="square" anchor="t"/>
          <a:lstStyle/>
          <a:p>
            <a:pPr algn="l">
              <a:spcBef>
                <a:spcPts val="0"/>
              </a:spcBef>
              <a:spcAft>
                <a:spcPts val="200"/>
              </a:spcAft>
            </a:pPr>
            <a:r>
              <a:rPr sz="1400" b="0" i="0">
                <a:solidFill>
                  <a:srgbClr val="536172"/>
                </a:solidFill>
                <a:latin typeface="Arial"/>
              </a:rPr>
              <a:t>Big amount always looks like risk.</a:t>
            </a:r>
          </a:p>
          <a:p>
            <a:pPr algn="l">
              <a:spcBef>
                <a:spcPts val="0"/>
              </a:spcBef>
              <a:spcAft>
                <a:spcPts val="200"/>
              </a:spcAft>
            </a:pPr>
            <a:r>
              <a:rPr sz="1400" b="0" i="0">
                <a:solidFill>
                  <a:srgbClr val="536172"/>
                </a:solidFill>
                <a:latin typeface="Arial"/>
              </a:rPr>
              <a:t>Late night always looks like risk.</a:t>
            </a:r>
          </a:p>
          <a:p>
            <a:pPr algn="l">
              <a:spcBef>
                <a:spcPts val="0"/>
              </a:spcBef>
              <a:spcAft>
                <a:spcPts val="200"/>
              </a:spcAft>
            </a:pPr>
            <a:r>
              <a:rPr sz="1400" b="0" i="0">
                <a:solidFill>
                  <a:srgbClr val="536172"/>
                </a:solidFill>
                <a:latin typeface="Arial"/>
              </a:rPr>
              <a:t>Far from home always looks like risk.</a:t>
            </a:r>
          </a:p>
          <a:p>
            <a:pPr algn="l">
              <a:spcBef>
                <a:spcPts val="0"/>
              </a:spcBef>
              <a:spcAft>
                <a:spcPts val="200"/>
              </a:spcAft>
            </a:pPr>
            <a:r>
              <a:rPr sz="1400" b="0" i="0">
                <a:solidFill>
                  <a:srgbClr val="536172"/>
                </a:solidFill>
                <a:latin typeface="Arial"/>
              </a:rPr>
              <a:t>Even if this model did not use it as fraud.</a:t>
            </a:r>
          </a:p>
        </p:txBody>
      </p:sp>
      <p:sp>
        <p:nvSpPr>
          <p:cNvPr id="10850" name="exp-callout"/>
          <p:cNvSpPr/>
          <p:nvPr/>
        </p:nvSpPr>
        <p:spPr>
          <a:xfrm>
            <a:off x="533400" y="4781550"/>
            <a:ext cx="11125200" cy="1143000"/>
          </a:xfrm>
          <a:prstGeom prst="roundRect">
            <a:avLst>
              <a:gd name="adj" fmla="val 6000"/>
            </a:avLst>
          </a:prstGeom>
          <a:solidFill>
            <a:srgbClr val="EAF5FB"/>
          </a:solidFill>
          <a:ln w="9525">
            <a:solidFill>
              <a:srgbClr val="D6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51" name="exp-callout-label"/>
          <p:cNvSpPr txBox="1"/>
          <p:nvPr/>
        </p:nvSpPr>
        <p:spPr>
          <a:xfrm>
            <a:off x="742950" y="4933950"/>
            <a:ext cx="2286000" cy="228600"/>
          </a:xfrm>
          <a:prstGeom prst="rect">
            <a:avLst/>
          </a:prstGeom>
          <a:noFill/>
        </p:spPr>
        <p:txBody>
          <a:bodyPr wrap="square" anchor="t"/>
          <a:lstStyle/>
          <a:p>
            <a:pPr algn="l">
              <a:spcBef>
                <a:spcPts val="0"/>
              </a:spcBef>
              <a:spcAft>
                <a:spcPts val="200"/>
              </a:spcAft>
            </a:pPr>
            <a:r>
              <a:rPr sz="1100" b="1" i="0">
                <a:solidFill>
                  <a:srgbClr val="5D58E9"/>
                </a:solidFill>
                <a:latin typeface="Arial"/>
              </a:rPr>
              <a:t>IF ASKED</a:t>
            </a:r>
          </a:p>
        </p:txBody>
      </p:sp>
      <p:sp>
        <p:nvSpPr>
          <p:cNvPr id="10852" name="exp-callout-text"/>
          <p:cNvSpPr txBox="1"/>
          <p:nvPr/>
        </p:nvSpPr>
        <p:spPr>
          <a:xfrm>
            <a:off x="3124200" y="4876800"/>
            <a:ext cx="8191500" cy="914400"/>
          </a:xfrm>
          <a:prstGeom prst="rect">
            <a:avLst/>
          </a:prstGeom>
          <a:noFill/>
        </p:spPr>
        <p:txBody>
          <a:bodyPr wrap="square" anchor="t"/>
          <a:lstStyle/>
          <a:p>
            <a:pPr algn="l">
              <a:spcBef>
                <a:spcPts val="0"/>
              </a:spcBef>
              <a:spcAft>
                <a:spcPts val="200"/>
              </a:spcAft>
            </a:pPr>
            <a:r>
              <a:rPr sz="1300" b="0" i="0">
                <a:solidFill>
                  <a:srgbClr val="111827"/>
                </a:solidFill>
                <a:latin typeface="Arial"/>
              </a:rPr>
              <a:t>Trust the % and APPROVED or BLOCKED.</a:t>
            </a:r>
          </a:p>
          <a:p>
            <a:pPr algn="l">
              <a:spcBef>
                <a:spcPts val="0"/>
              </a:spcBef>
              <a:spcAft>
                <a:spcPts val="200"/>
              </a:spcAft>
            </a:pPr>
            <a:r>
              <a:rPr sz="1300" b="0" i="0">
                <a:solidFill>
                  <a:srgbClr val="111827"/>
                </a:solidFill>
                <a:latin typeface="Arial"/>
              </a:rPr>
              <a:t>Do not treat HIGH FRAUD as the model's real reason.</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1785</Words>
  <Application>Microsoft Office PowerPoint</Application>
  <DocSecurity>0</DocSecurity>
  <PresentationFormat>Widescreen</PresentationFormat>
  <Paragraphs>274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ismael Ally hossen</cp:lastModifiedBy>
  <cp:revision>7</cp:revision>
  <dcterms:created xsi:type="dcterms:W3CDTF">2026-08-31T17:31:21Z</dcterms:created>
  <dcterms:modified xsi:type="dcterms:W3CDTF">2026-09-01T19:08:44Z</dcterms:modified>
</cp:coreProperties>
</file>